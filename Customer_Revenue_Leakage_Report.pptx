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7.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8.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9.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0.xml" ContentType="application/vnd.openxmlformats-officedocument.drawingml.chart+xml"/>
  <Override PartName="/ppt/charts/chart1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8921ec8-7a8d-9367-5e28-e91d1d855200}">
          <p14:sldIdLst>
            <p14:sldId id="256"/>
            <p14:sldId id="257"/>
            <p14:sldId id="258"/>
            <p14:sldId id="259"/>
          </p14:sldIdLst>
        </p14:section>
        <p14:section name="Page 1: Executive Summary" id="{5fc596ef-57e2-79a3-a41f-1086549b5ea9}">
          <p14:sldIdLst>
            <p14:sldId id="260"/>
            <p14:sldId id="261"/>
            <p14:sldId id="262"/>
          </p14:sldIdLst>
        </p14:section>
        <p14:section name="Page 2: Leakage Drivers" id="{4a1f637c-0520-4d5f-33a4-dea476ccd929}">
          <p14:sldIdLst>
            <p14:sldId id="263"/>
            <p14:sldId id="264"/>
            <p14:sldId id="265"/>
          </p14:sldIdLst>
        </p14:section>
        <p14:section name="Page 3: Segment Deep Dive" id="{d64e6d5e-cb00-0ad8-103a-25f9890a9a39}">
          <p14:sldIdLst>
            <p14:sldId id="266"/>
            <p14:sldId id="267"/>
            <p14:sldId id="268"/>
          </p14:sldIdLst>
        </p14:section>
        <p14:section name="Page 4: High-Value Customers" id="{4c7a53db-7211-c01d-8720-5fe1463fb781}">
          <p14:sldIdLst>
            <p14:sldId id="269"/>
            <p14:sldId id="270"/>
            <p14:sldId id="271"/>
          </p14:sldIdLst>
        </p14:section>
        <p14:section name="Page 5: Recommendations" id="{3c90d6ae-17cb-3267-0a58-18fb4acee4e3}">
          <p14:sldIdLst>
            <p14:sldId id="272"/>
            <p14:sldId id="273"/>
          </p14:sldIdLst>
        </p14:section>
        <p14:section name="Wrap-up" id="{c1c59f22-4c88-472a-f699-86cad668f897}">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Monthly revenue ($K)</c:v>
                </c:pt>
              </c:strCache>
            </c:strRef>
          </c:tx>
          <c:spPr>
            <a:solidFill>
              <a:schemeClr val="accent1"/>
            </a:solidFill>
            <a:ln w="9525" cap="flat">
              <a:solidFill>
                <a:srgbClr val="F9F9F9"/>
              </a:solidFill>
              <a:prstDash val="solid"/>
              <a:round/>
            </a:ln>
            <a:effectLst/>
          </c:spPr>
          <c:dPt>
            <c:idx val="0"/>
            <c:bubble3D val="0"/>
            <c:spPr>
              <a:solidFill>
                <a:srgbClr val="9AA3AF"/>
              </a:solidFill>
              <a:ln w="12700" cap="flat">
                <a:solidFill>
                  <a:srgbClr val="FFFFFF"/>
                </a:solidFill>
                <a:prstDash val="solid"/>
                <a:round/>
              </a:ln>
              <a:effectLst/>
            </c:spPr>
          </c:dPt>
          <c:dPt>
            <c:idx val="1"/>
            <c:bubble3D val="0"/>
            <c:spPr>
              <a:solidFill>
                <a:srgbClr val="C8463F"/>
              </a:solidFill>
              <a:ln w="12700" cap="flat">
                <a:solidFill>
                  <a:srgbClr val="FFFFFF"/>
                </a:solidFill>
                <a:prstDash val="solid"/>
                <a:round/>
              </a:ln>
              <a:effectLst/>
            </c:spPr>
          </c:dPt>
          <c:dLbls>
            <c:dLbl>
              <c:idx val="0"/>
              <c:numFmt formatCode="$#,##0.0&quot;K&quot;"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dLbl>
              <c:idx val="1"/>
              <c:numFmt formatCode="$#,##0.0&quot;K&quot;"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numFmt formatCode="$#,##0.0&quot;K&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Retained</c:v>
                </c:pt>
                <c:pt idx="1">
                  <c:v>Lost to churn</c:v>
                </c:pt>
              </c:strCache>
            </c:strRef>
          </c:cat>
          <c:val>
            <c:numRef>
              <c:f>Sheet1!$B$2:$B$3</c:f>
              <c:numCache>
                <c:ptCount val="2"/>
                <c:pt idx="0">
                  <c:v>317</c:v>
                </c:pt>
                <c:pt idx="1">
                  <c:v>139.1</c:v>
                </c:pt>
              </c:numCache>
            </c:numRef>
          </c:val>
        </c:ser>
        <c:firstSliceAng val="0"/>
        <c:holeSize val="60"/>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Series</c:v>
                </c:pt>
              </c:strCache>
            </c:strRef>
          </c:tx>
          <c:spPr>
            <a:solidFill>
              <a:srgbClr val="C8463F"/>
            </a:solidFill>
            <a:effectLst/>
          </c:spPr>
          <c:invertIfNegative val="0"/>
          <c:dLbls>
            <c:numFmt formatCode="0.0&quot;%&quot;"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dPt>
            <c:idx val="0"/>
            <c:invertIfNegative val="0"/>
            <c:bubble3D val="0"/>
            <c:spPr>
              <a:solidFill>
                <a:srgbClr val="C8463F"/>
              </a:solidFill>
              <a:effectLst/>
            </c:spPr>
          </c:dPt>
          <c:dPt>
            <c:idx val="1"/>
            <c:invertIfNegative val="0"/>
            <c:bubble3D val="0"/>
            <c:spPr>
              <a:solidFill>
                <a:srgbClr val="9AA3AF"/>
              </a:solidFill>
              <a:effectLst/>
            </c:spPr>
          </c:dPt>
          <c:dPt>
            <c:idx val="2"/>
            <c:invertIfNegative val="0"/>
            <c:bubble3D val="0"/>
            <c:spPr>
              <a:solidFill>
                <a:srgbClr val="9AA3AF"/>
              </a:solidFill>
              <a:effectLst/>
            </c:spPr>
          </c:dPt>
          <c:cat>
            <c:multiLvlStrRef>
              <c:f>Sheet1!$A$2:$A$4</c:f>
              <c:multiLvlStrCache>
                <c:ptCount val="3"/>
                <c:lvl>
                  <c:pt idx="0">
                    <c:v>Month-to-month</c:v>
                  </c:pt>
                  <c:pt idx="1">
                    <c:v>One year</c:v>
                  </c:pt>
                  <c:pt idx="2">
                    <c:v>Two year</c:v>
                  </c:pt>
                </c:lvl>
              </c:multiLvlStrCache>
            </c:multiLvlStrRef>
          </c:cat>
          <c:val>
            <c:numRef>
              <c:f>Sheet1!$B$2:$B$4</c:f>
              <c:numCache>
                <c:formatCode>General</c:formatCode>
                <c:ptCount val="3"/>
                <c:pt idx="0">
                  <c:v>42.7</c:v>
                </c:pt>
                <c:pt idx="1">
                  <c:v>11.3</c:v>
                </c:pt>
                <c:pt idx="2">
                  <c:v>2.8</c:v>
                </c:pt>
              </c:numCache>
            </c:numRef>
          </c:val>
        </c:ser>
        <c:dLbls>
          <c:numFmt formatCode="0.0&quot;%&quot;"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A3F47"/>
                </a:solidFill>
                <a:latin typeface="+mn-lt"/>
              </a:defRPr>
            </a:pPr>
            <a:endParaRPr lang="en-US"/>
          </a:p>
        </c:txPr>
        <c:crossAx val="2094734552"/>
        <c:crosses val="autoZero"/>
        <c:auto val="1"/>
        <c:lblAlgn val="ctr"/>
        <c:noMultiLvlLbl val="1"/>
      </c:catAx>
      <c:valAx>
        <c:axId val="2094734552"/>
        <c:scaling>
          <c:orientation val="minMax"/>
          <c:max val="5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3A3F4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Series</c:v>
                </c:pt>
              </c:strCache>
            </c:strRef>
          </c:tx>
          <c:spPr>
            <a:solidFill>
              <a:srgbClr val="C8463F"/>
            </a:solidFill>
            <a:effectLst/>
          </c:spPr>
          <c:invertIfNegative val="0"/>
          <c:dLbls>
            <c:numFmt formatCode="$#,##0&quot;K&quot;"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dPt>
            <c:idx val="0"/>
            <c:invertIfNegative val="0"/>
            <c:bubble3D val="0"/>
            <c:spPr>
              <a:solidFill>
                <a:srgbClr val="C8463F"/>
              </a:solidFill>
              <a:effectLst/>
            </c:spPr>
          </c:dPt>
          <c:dPt>
            <c:idx val="1"/>
            <c:invertIfNegative val="0"/>
            <c:bubble3D val="0"/>
            <c:spPr>
              <a:solidFill>
                <a:srgbClr val="9AA3AF"/>
              </a:solidFill>
              <a:effectLst/>
            </c:spPr>
          </c:dPt>
          <c:dPt>
            <c:idx val="2"/>
            <c:invertIfNegative val="0"/>
            <c:bubble3D val="0"/>
            <c:spPr>
              <a:solidFill>
                <a:srgbClr val="9AA3AF"/>
              </a:solidFill>
              <a:effectLst/>
            </c:spPr>
          </c:dPt>
          <c:cat>
            <c:multiLvlStrRef>
              <c:f>Sheet1!$A$2:$A$4</c:f>
              <c:multiLvlStrCache>
                <c:ptCount val="3"/>
                <c:lvl>
                  <c:pt idx="0">
                    <c:v>Month-to-month</c:v>
                  </c:pt>
                  <c:pt idx="1">
                    <c:v>One year</c:v>
                  </c:pt>
                  <c:pt idx="2">
                    <c:v>Two year</c:v>
                  </c:pt>
                </c:lvl>
              </c:multiLvlStrCache>
            </c:multiLvlStrRef>
          </c:cat>
          <c:val>
            <c:numRef>
              <c:f>Sheet1!$B$2:$B$4</c:f>
              <c:numCache>
                <c:formatCode>General</c:formatCode>
                <c:ptCount val="3"/>
                <c:pt idx="0">
                  <c:v>120.8</c:v>
                </c:pt>
                <c:pt idx="1">
                  <c:v>14</c:v>
                </c:pt>
                <c:pt idx="2">
                  <c:v>4</c:v>
                </c:pt>
              </c:numCache>
            </c:numRef>
          </c:val>
        </c:ser>
        <c:dLbls>
          <c:numFmt formatCode="$#,##0&quot;K&quot;"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A3F47"/>
                </a:solidFill>
                <a:latin typeface="+mn-lt"/>
              </a:defRPr>
            </a:pPr>
            <a:endParaRPr lang="en-US"/>
          </a:p>
        </c:txPr>
        <c:crossAx val="2094734552"/>
        <c:crosses val="autoZero"/>
        <c:auto val="1"/>
        <c:lblAlgn val="ctr"/>
        <c:noMultiLvlLbl val="1"/>
      </c:catAx>
      <c:valAx>
        <c:axId val="2094734552"/>
        <c:scaling>
          <c:orientation val="minMax"/>
          <c:max val="17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3A3F4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Series</c:v>
                </c:pt>
              </c:strCache>
            </c:strRef>
          </c:tx>
          <c:spPr>
            <a:solidFill>
              <a:srgbClr val="C8463F"/>
            </a:solidFill>
            <a:effectLst/>
          </c:spPr>
          <c:invertIfNegative val="0"/>
          <c:dLbls>
            <c:numFmt formatCode="$#,##0&quot;K&quot;"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dPt>
            <c:idx val="0"/>
            <c:invertIfNegative val="0"/>
            <c:bubble3D val="0"/>
            <c:spPr>
              <a:solidFill>
                <a:srgbClr val="C8463F"/>
              </a:solidFill>
              <a:effectLst/>
            </c:spPr>
          </c:dPt>
          <c:dPt>
            <c:idx val="1"/>
            <c:invertIfNegative val="0"/>
            <c:bubble3D val="0"/>
            <c:spPr>
              <a:solidFill>
                <a:srgbClr val="9AA3AF"/>
              </a:solidFill>
              <a:effectLst/>
            </c:spPr>
          </c:dPt>
          <c:dPt>
            <c:idx val="2"/>
            <c:invertIfNegative val="0"/>
            <c:bubble3D val="0"/>
            <c:spPr>
              <a:solidFill>
                <a:srgbClr val="9AA3AF"/>
              </a:solidFill>
              <a:effectLst/>
            </c:spPr>
          </c:dPt>
          <c:cat>
            <c:multiLvlStrRef>
              <c:f>Sheet1!$A$2:$A$4</c:f>
              <c:multiLvlStrCache>
                <c:ptCount val="3"/>
                <c:lvl>
                  <c:pt idx="0">
                    <c:v>Fiber optic</c:v>
                  </c:pt>
                  <c:pt idx="1">
                    <c:v>DSL</c:v>
                  </c:pt>
                  <c:pt idx="2">
                    <c:v>No internet</c:v>
                  </c:pt>
                </c:lvl>
              </c:multiLvlStrCache>
            </c:multiLvlStrRef>
          </c:cat>
          <c:val>
            <c:numRef>
              <c:f>Sheet1!$B$2:$B$4</c:f>
              <c:numCache>
                <c:formatCode>General</c:formatCode>
                <c:ptCount val="3"/>
                <c:pt idx="0">
                  <c:v>114.3</c:v>
                </c:pt>
                <c:pt idx="1">
                  <c:v>23</c:v>
                </c:pt>
                <c:pt idx="2">
                  <c:v>2</c:v>
                </c:pt>
              </c:numCache>
            </c:numRef>
          </c:val>
        </c:ser>
        <c:dLbls>
          <c:numFmt formatCode="$#,##0&quot;K&quot;"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A3F47"/>
                </a:solidFill>
                <a:latin typeface="+mn-lt"/>
              </a:defRPr>
            </a:pPr>
            <a:endParaRPr lang="en-US"/>
          </a:p>
        </c:txPr>
        <c:crossAx val="2094734552"/>
        <c:crosses val="autoZero"/>
        <c:auto val="1"/>
        <c:lblAlgn val="ctr"/>
        <c:noMultiLvlLbl val="1"/>
      </c:catAx>
      <c:valAx>
        <c:axId val="2094734552"/>
        <c:scaling>
          <c:orientation val="minMax"/>
          <c:max val="16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3A3F4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Series</c:v>
                </c:pt>
              </c:strCache>
            </c:strRef>
          </c:tx>
          <c:spPr>
            <a:solidFill>
              <a:srgbClr val="C8463F"/>
            </a:solidFill>
            <a:effectLst/>
          </c:spPr>
          <c:invertIfNegative val="0"/>
          <c:dLbls>
            <c:numFmt formatCode="$#,##0&quot;K&quot;"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dPt>
            <c:idx val="0"/>
            <c:invertIfNegative val="0"/>
            <c:bubble3D val="0"/>
            <c:spPr>
              <a:solidFill>
                <a:srgbClr val="C8463F"/>
              </a:solidFill>
              <a:effectLst/>
            </c:spPr>
          </c:dPt>
          <c:dPt>
            <c:idx val="1"/>
            <c:invertIfNegative val="0"/>
            <c:bubble3D val="0"/>
            <c:spPr>
              <a:solidFill>
                <a:srgbClr val="9AA3AF"/>
              </a:solidFill>
              <a:effectLst/>
            </c:spPr>
          </c:dPt>
          <c:dPt>
            <c:idx val="2"/>
            <c:invertIfNegative val="0"/>
            <c:bubble3D val="0"/>
            <c:spPr>
              <a:solidFill>
                <a:srgbClr val="9AA3AF"/>
              </a:solidFill>
              <a:effectLst/>
            </c:spPr>
          </c:dPt>
          <c:dPt>
            <c:idx val="3"/>
            <c:invertIfNegative val="0"/>
            <c:bubble3D val="0"/>
            <c:spPr>
              <a:solidFill>
                <a:srgbClr val="9AA3AF"/>
              </a:solidFill>
              <a:effectLst/>
            </c:spPr>
          </c:dPt>
          <c:cat>
            <c:multiLvlStrRef>
              <c:f>Sheet1!$A$2:$A$5</c:f>
              <c:multiLvlStrCache>
                <c:ptCount val="4"/>
                <c:lvl>
                  <c:pt idx="0">
                    <c:v>Electronic check</c:v>
                  </c:pt>
                  <c:pt idx="1">
                    <c:v>Bank transfer</c:v>
                  </c:pt>
                  <c:pt idx="2">
                    <c:v>Credit card</c:v>
                  </c:pt>
                  <c:pt idx="3">
                    <c:v>Mailed check</c:v>
                  </c:pt>
                </c:lvl>
              </c:multiLvlStrCache>
            </c:multiLvlStrRef>
          </c:cat>
          <c:val>
            <c:numRef>
              <c:f>Sheet1!$B$2:$B$5</c:f>
              <c:numCache>
                <c:formatCode>General</c:formatCode>
                <c:ptCount val="4"/>
                <c:pt idx="0">
                  <c:v>84.3</c:v>
                </c:pt>
                <c:pt idx="1">
                  <c:v>20</c:v>
                </c:pt>
                <c:pt idx="2">
                  <c:v>18</c:v>
                </c:pt>
                <c:pt idx="3">
                  <c:v>17</c:v>
                </c:pt>
              </c:numCache>
            </c:numRef>
          </c:val>
        </c:ser>
        <c:dLbls>
          <c:numFmt formatCode="$#,##0&quot;K&quot;"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A3F47"/>
                </a:solidFill>
                <a:latin typeface="+mn-lt"/>
              </a:defRPr>
            </a:pPr>
            <a:endParaRPr lang="en-US"/>
          </a:p>
        </c:txPr>
        <c:crossAx val="2094734552"/>
        <c:crosses val="autoZero"/>
        <c:auto val="1"/>
        <c:lblAlgn val="ctr"/>
        <c:noMultiLvlLbl val="1"/>
      </c:catAx>
      <c:valAx>
        <c:axId val="2094734552"/>
        <c:scaling>
          <c:orientation val="minMax"/>
          <c:max val="12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3A3F4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Series</c:v>
                </c:pt>
              </c:strCache>
            </c:strRef>
          </c:tx>
          <c:spPr>
            <a:solidFill>
              <a:srgbClr val="C8463F"/>
            </a:solidFill>
            <a:effectLst/>
          </c:spPr>
          <c:invertIfNegative val="0"/>
          <c:dLbls>
            <c:numFmt formatCode="$#,##0&quot;K&quot;"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dPt>
            <c:idx val="0"/>
            <c:invertIfNegative val="0"/>
            <c:bubble3D val="0"/>
            <c:spPr>
              <a:solidFill>
                <a:srgbClr val="C8463F"/>
              </a:solidFill>
              <a:effectLst/>
            </c:spPr>
          </c:dPt>
          <c:dPt>
            <c:idx val="1"/>
            <c:invertIfNegative val="0"/>
            <c:bubble3D val="0"/>
            <c:spPr>
              <a:solidFill>
                <a:srgbClr val="9AA3AF"/>
              </a:solidFill>
              <a:effectLst/>
            </c:spPr>
          </c:dPt>
          <c:dPt>
            <c:idx val="2"/>
            <c:invertIfNegative val="0"/>
            <c:bubble3D val="0"/>
            <c:spPr>
              <a:solidFill>
                <a:srgbClr val="9AA3AF"/>
              </a:solidFill>
              <a:effectLst/>
            </c:spPr>
          </c:dPt>
          <c:dPt>
            <c:idx val="3"/>
            <c:invertIfNegative val="0"/>
            <c:bubble3D val="0"/>
            <c:spPr>
              <a:solidFill>
                <a:srgbClr val="9AA3AF"/>
              </a:solidFill>
              <a:effectLst/>
            </c:spPr>
          </c:dPt>
          <c:cat>
            <c:multiLvlStrRef>
              <c:f>Sheet1!$A$2:$A$5</c:f>
              <c:multiLvlStrCache>
                <c:ptCount val="4"/>
                <c:lvl>
                  <c:pt idx="0">
                    <c:v>0-1 year</c:v>
                  </c:pt>
                  <c:pt idx="1">
                    <c:v>1-2 years</c:v>
                  </c:pt>
                  <c:pt idx="2">
                    <c:v>2-4 years</c:v>
                  </c:pt>
                  <c:pt idx="3">
                    <c:v>4-6 years</c:v>
                  </c:pt>
                </c:lvl>
              </c:multiLvlStrCache>
            </c:multiLvlStrRef>
          </c:cat>
          <c:val>
            <c:numRef>
              <c:f>Sheet1!$B$2:$B$5</c:f>
              <c:numCache>
                <c:formatCode>General</c:formatCode>
                <c:ptCount val="4"/>
                <c:pt idx="0">
                  <c:v>69</c:v>
                </c:pt>
                <c:pt idx="1">
                  <c:v>23</c:v>
                </c:pt>
                <c:pt idx="2">
                  <c:v>27</c:v>
                </c:pt>
                <c:pt idx="3">
                  <c:v>20</c:v>
                </c:pt>
              </c:numCache>
            </c:numRef>
          </c:val>
        </c:ser>
        <c:dLbls>
          <c:numFmt formatCode="$#,##0&quot;K&quot;"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A3F47"/>
                </a:solidFill>
                <a:latin typeface="+mn-lt"/>
              </a:defRPr>
            </a:pPr>
            <a:endParaRPr lang="en-US"/>
          </a:p>
        </c:txPr>
        <c:crossAx val="2094734552"/>
        <c:crosses val="autoZero"/>
        <c:auto val="1"/>
        <c:lblAlgn val="ctr"/>
        <c:noMultiLvlLbl val="1"/>
      </c:catAx>
      <c:valAx>
        <c:axId val="2094734552"/>
        <c:scaling>
          <c:orientation val="minMax"/>
          <c:max val="9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3A3F4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Highest-risk group</c:v>
                </c:pt>
              </c:strCache>
            </c:strRef>
          </c:tx>
          <c:spPr>
            <a:solidFill>
              <a:srgbClr val="C8463F"/>
            </a:solidFill>
            <a:effectLst/>
          </c:spPr>
          <c:invertIfNegative val="0"/>
          <c:dLbls>
            <c:numFmt formatCode="0.0&quot;%&quot;"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cat>
            <c:multiLvlStrRef>
              <c:f>Sheet1!$A$2:$A$5</c:f>
              <c:multiLvlStrCache>
                <c:ptCount val="4"/>
                <c:lvl>
                  <c:pt idx="0">
                    <c:v>Contract</c:v>
                  </c:pt>
                  <c:pt idx="1">
                    <c:v>Internet service</c:v>
                  </c:pt>
                  <c:pt idx="2">
                    <c:v>Payment method</c:v>
                  </c:pt>
                  <c:pt idx="3">
                    <c:v>Tenure</c:v>
                  </c:pt>
                </c:lvl>
              </c:multiLvlStrCache>
            </c:multiLvlStrRef>
          </c:cat>
          <c:val>
            <c:numRef>
              <c:f>Sheet1!$B$2:$B$5</c:f>
              <c:numCache>
                <c:formatCode>General</c:formatCode>
                <c:ptCount val="4"/>
                <c:pt idx="0">
                  <c:v>42.7</c:v>
                </c:pt>
                <c:pt idx="1">
                  <c:v>41.9</c:v>
                </c:pt>
                <c:pt idx="2">
                  <c:v>45.3</c:v>
                </c:pt>
                <c:pt idx="3">
                  <c:v>47.4</c:v>
                </c:pt>
              </c:numCache>
            </c:numRef>
          </c:val>
        </c:ser>
        <c:ser>
          <c:idx val="1"/>
          <c:order val="1"/>
          <c:tx>
            <c:strRef>
              <c:f>Sheet1!$C$1</c:f>
              <c:strCache>
                <c:ptCount val="1"/>
                <c:pt idx="0">
                  <c:v>Lowest-risk comparison</c:v>
                </c:pt>
              </c:strCache>
            </c:strRef>
          </c:tx>
          <c:spPr>
            <a:solidFill>
              <a:srgbClr val="9AA3AF"/>
            </a:solidFill>
            <a:effectLst/>
          </c:spPr>
          <c:invertIfNegative val="0"/>
          <c:dLbls>
            <c:numFmt formatCode="0.0&quot;%&quot;"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cat>
            <c:multiLvlStrRef>
              <c:f>Sheet1!$A$2:$A$5</c:f>
              <c:multiLvlStrCache>
                <c:ptCount val="4"/>
                <c:lvl>
                  <c:pt idx="0">
                    <c:v>Contract</c:v>
                  </c:pt>
                  <c:pt idx="1">
                    <c:v>Internet service</c:v>
                  </c:pt>
                  <c:pt idx="2">
                    <c:v>Payment method</c:v>
                  </c:pt>
                  <c:pt idx="3">
                    <c:v>Tenure</c:v>
                  </c:pt>
                </c:lvl>
              </c:multiLvlStrCache>
            </c:multiLvlStrRef>
          </c:cat>
          <c:val>
            <c:numRef>
              <c:f>Sheet1!$C$2:$C$5</c:f>
              <c:numCache>
                <c:formatCode>General</c:formatCode>
                <c:ptCount val="4"/>
                <c:pt idx="0">
                  <c:v>2.8</c:v>
                </c:pt>
                <c:pt idx="1">
                  <c:v>19</c:v>
                </c:pt>
                <c:pt idx="2">
                  <c:v>15.2</c:v>
                </c:pt>
                <c:pt idx="3">
                  <c:v>9.5</c:v>
                </c:pt>
              </c:numCache>
            </c:numRef>
          </c:val>
        </c:ser>
        <c:dLbls>
          <c:numFmt formatCode="0.0&quot;%&quot;"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3F47"/>
                </a:solidFill>
                <a:latin typeface="+mn-lt"/>
              </a:defRPr>
            </a:pPr>
            <a:endParaRPr lang="en-US"/>
          </a:p>
        </c:txPr>
        <c:crossAx val="2094734552"/>
        <c:crosses val="autoZero"/>
        <c:auto val="1"/>
        <c:lblAlgn val="ctr"/>
        <c:noMultiLvlLbl val="1"/>
      </c:catAx>
      <c:valAx>
        <c:axId val="2094734552"/>
        <c:scaling>
          <c:orientation val="minMax"/>
          <c:max val="5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A3F4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3A3F4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Without add-on</c:v>
                </c:pt>
              </c:strCache>
            </c:strRef>
          </c:tx>
          <c:spPr>
            <a:solidFill>
              <a:srgbClr val="C8463F"/>
            </a:solidFill>
            <a:effectLst/>
          </c:spPr>
          <c:invertIfNegative val="0"/>
          <c:dLbls>
            <c:numFmt formatCode="0.0&quot;%&quot;"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cat>
            <c:multiLvlStrRef>
              <c:f>Sheet1!$A$2:$A$4</c:f>
              <c:multiLvlStrCache>
                <c:ptCount val="3"/>
                <c:lvl>
                  <c:pt idx="0">
                    <c:v>Tech support</c:v>
                  </c:pt>
                  <c:pt idx="1">
                    <c:v>Online security</c:v>
                  </c:pt>
                  <c:pt idx="2">
                    <c:v>Streaming</c:v>
                  </c:pt>
                </c:lvl>
              </c:multiLvlStrCache>
            </c:multiLvlStrRef>
          </c:cat>
          <c:val>
            <c:numRef>
              <c:f>Sheet1!$B$2:$B$4</c:f>
              <c:numCache>
                <c:formatCode>General</c:formatCode>
                <c:ptCount val="3"/>
                <c:pt idx="0">
                  <c:v>41.6</c:v>
                </c:pt>
                <c:pt idx="1">
                  <c:v>41.8</c:v>
                </c:pt>
                <c:pt idx="2">
                  <c:v>30.1</c:v>
                </c:pt>
              </c:numCache>
            </c:numRef>
          </c:val>
        </c:ser>
        <c:ser>
          <c:idx val="1"/>
          <c:order val="1"/>
          <c:tx>
            <c:strRef>
              <c:f>Sheet1!$C$1</c:f>
              <c:strCache>
                <c:ptCount val="1"/>
                <c:pt idx="0">
                  <c:v>With add-on</c:v>
                </c:pt>
              </c:strCache>
            </c:strRef>
          </c:tx>
          <c:spPr>
            <a:solidFill>
              <a:srgbClr val="2F6F73"/>
            </a:solidFill>
            <a:effectLst/>
          </c:spPr>
          <c:invertIfNegative val="0"/>
          <c:dLbls>
            <c:numFmt formatCode="0.0&quot;%&quot;"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cat>
            <c:multiLvlStrRef>
              <c:f>Sheet1!$A$2:$A$4</c:f>
              <c:multiLvlStrCache>
                <c:ptCount val="3"/>
                <c:lvl>
                  <c:pt idx="0">
                    <c:v>Tech support</c:v>
                  </c:pt>
                  <c:pt idx="1">
                    <c:v>Online security</c:v>
                  </c:pt>
                  <c:pt idx="2">
                    <c:v>Streaming</c:v>
                  </c:pt>
                </c:lvl>
              </c:multiLvlStrCache>
            </c:multiLvlStrRef>
          </c:cat>
          <c:val>
            <c:numRef>
              <c:f>Sheet1!$C$2:$C$4</c:f>
              <c:numCache>
                <c:formatCode>General</c:formatCode>
                <c:ptCount val="3"/>
                <c:pt idx="0">
                  <c:v>15.2</c:v>
                </c:pt>
                <c:pt idx="1">
                  <c:v>14.6</c:v>
                </c:pt>
                <c:pt idx="2">
                  <c:v>33.5</c:v>
                </c:pt>
              </c:numCache>
            </c:numRef>
          </c:val>
        </c:ser>
        <c:dLbls>
          <c:numFmt formatCode="0.0&quot;%&quot;"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3F47"/>
                </a:solidFill>
                <a:latin typeface="+mn-lt"/>
              </a:defRPr>
            </a:pPr>
            <a:endParaRPr lang="en-US"/>
          </a:p>
        </c:txPr>
        <c:crossAx val="2094734552"/>
        <c:crosses val="autoZero"/>
        <c:auto val="1"/>
        <c:lblAlgn val="ctr"/>
        <c:noMultiLvlLbl val="1"/>
      </c:catAx>
      <c:valAx>
        <c:axId val="2094734552"/>
        <c:scaling>
          <c:orientation val="minMax"/>
          <c:max val="5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A3F4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3A3F4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Churn rate</c:v>
                </c:pt>
              </c:strCache>
            </c:strRef>
          </c:tx>
          <c:spPr>
            <a:solidFill>
              <a:srgbClr val="C8463F"/>
            </a:solidFill>
            <a:effectLst/>
          </c:spPr>
          <c:invertIfNegative val="0"/>
          <c:dLbls>
            <c:numFmt formatCode="0.0&quot;%&quot;"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dPt>
            <c:idx val="0"/>
            <c:invertIfNegative val="0"/>
            <c:bubble3D val="0"/>
            <c:spPr>
              <a:solidFill>
                <a:srgbClr val="C8463F"/>
              </a:solidFill>
              <a:effectLst/>
            </c:spPr>
          </c:dPt>
          <c:dPt>
            <c:idx val="1"/>
            <c:invertIfNegative val="0"/>
            <c:bubble3D val="0"/>
            <c:spPr>
              <a:solidFill>
                <a:srgbClr val="9AA3AF"/>
              </a:solidFill>
              <a:effectLst/>
            </c:spPr>
          </c:dPt>
          <c:dPt>
            <c:idx val="2"/>
            <c:invertIfNegative val="0"/>
            <c:bubble3D val="0"/>
            <c:spPr>
              <a:solidFill>
                <a:srgbClr val="9AA3AF"/>
              </a:solidFill>
              <a:effectLst/>
            </c:spPr>
          </c:dPt>
          <c:cat>
            <c:multiLvlStrRef>
              <c:f>Sheet1!$A$2:$A$4</c:f>
              <c:multiLvlStrCache>
                <c:ptCount val="3"/>
                <c:lvl>
                  <c:pt idx="0">
                    <c:v>High Spend ($76.7K lost)</c:v>
                  </c:pt>
                  <c:pt idx="1">
                    <c:v>Medium Spend ($49.7K lost)</c:v>
                  </c:pt>
                  <c:pt idx="2">
                    <c:v>Low Spend ($12.7K lost)</c:v>
                  </c:pt>
                </c:lvl>
              </c:multiLvlStrCache>
            </c:multiLvlStrRef>
          </c:cat>
          <c:val>
            <c:numRef>
              <c:f>Sheet1!$B$2:$B$4</c:f>
              <c:numCache>
                <c:formatCode>General</c:formatCode>
                <c:ptCount val="3"/>
                <c:pt idx="0">
                  <c:v>34.1</c:v>
                </c:pt>
                <c:pt idx="1">
                  <c:v>29.7</c:v>
                </c:pt>
                <c:pt idx="2">
                  <c:v>15.9</c:v>
                </c:pt>
              </c:numCache>
            </c:numRef>
          </c:val>
        </c:ser>
        <c:dLbls>
          <c:numFmt formatCode="0.0&quot;%&quot;"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3F47"/>
                </a:solidFill>
                <a:latin typeface="+mn-lt"/>
              </a:defRPr>
            </a:pPr>
            <a:endParaRPr lang="en-US"/>
          </a:p>
        </c:txPr>
        <c:crossAx val="2094734552"/>
        <c:crosses val="autoZero"/>
        <c:auto val="1"/>
        <c:lblAlgn val="ctr"/>
        <c:noMultiLvlLbl val="1"/>
      </c:catAx>
      <c:valAx>
        <c:axId val="2094734552"/>
        <c:scaling>
          <c:orientation val="minMax"/>
          <c:max val="4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A3F4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Series</c:v>
                </c:pt>
              </c:strCache>
            </c:strRef>
          </c:tx>
          <c:spPr>
            <a:solidFill>
              <a:srgbClr val="9AA3AF"/>
            </a:solidFill>
            <a:effectLst/>
          </c:spPr>
          <c:invertIfNegative val="0"/>
          <c:dLbls>
            <c:numFmt formatCode="0&quot; customers&quot;"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dPt>
            <c:idx val="0"/>
            <c:invertIfNegative val="0"/>
            <c:bubble3D val="0"/>
            <c:spPr>
              <a:solidFill>
                <a:srgbClr val="9AA3AF"/>
              </a:solidFill>
              <a:effectLst/>
            </c:spPr>
          </c:dPt>
          <c:dPt>
            <c:idx val="1"/>
            <c:invertIfNegative val="0"/>
            <c:bubble3D val="0"/>
            <c:spPr>
              <a:solidFill>
                <a:srgbClr val="C8463F"/>
              </a:solidFill>
              <a:effectLst/>
            </c:spPr>
          </c:dPt>
          <c:dPt>
            <c:idx val="2"/>
            <c:invertIfNegative val="0"/>
            <c:bubble3D val="0"/>
            <c:spPr>
              <a:solidFill>
                <a:srgbClr val="C8463F"/>
              </a:solidFill>
              <a:effectLst/>
            </c:spPr>
          </c:dPt>
          <c:cat>
            <c:multiLvlStrRef>
              <c:f>Sheet1!$A$2:$A$4</c:f>
              <c:multiLvlStrCache>
                <c:ptCount val="3"/>
                <c:lvl>
                  <c:pt idx="0">
                    <c:v>Month-to-month</c:v>
                  </c:pt>
                  <c:pt idx="1">
                    <c:v>One year</c:v>
                  </c:pt>
                  <c:pt idx="2">
                    <c:v>Two year</c:v>
                  </c:pt>
                </c:lvl>
              </c:multiLvlStrCache>
            </c:multiLvlStrRef>
          </c:cat>
          <c:val>
            <c:numRef>
              <c:f>Sheet1!$B$2:$B$4</c:f>
              <c:numCache>
                <c:formatCode>General</c:formatCode>
                <c:ptCount val="3"/>
                <c:pt idx="0">
                  <c:v>7</c:v>
                </c:pt>
                <c:pt idx="1">
                  <c:v>8</c:v>
                </c:pt>
                <c:pt idx="2">
                  <c:v>5</c:v>
                </c:pt>
              </c:numCache>
            </c:numRef>
          </c:val>
        </c:ser>
        <c:dLbls>
          <c:numFmt formatCode="0&quot; customers&quot;"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A3F47"/>
                </a:solidFill>
                <a:latin typeface="+mn-lt"/>
              </a:defRPr>
            </a:pPr>
            <a:endParaRPr lang="en-US"/>
          </a:p>
        </c:txPr>
        <c:crossAx val="2094734552"/>
        <c:crosses val="autoZero"/>
        <c:auto val="1"/>
        <c:lblAlgn val="ctr"/>
        <c:noMultiLvlLbl val="1"/>
      </c:catAx>
      <c:valAx>
        <c:axId val="2094734552"/>
        <c:scaling>
          <c:orientation val="minMax"/>
          <c:max val="1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3A3F4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Series</c:v>
                </c:pt>
              </c:strCache>
            </c:strRef>
          </c:tx>
          <c:spPr>
            <a:solidFill>
              <a:srgbClr val="9AA3AF"/>
            </a:solidFill>
            <a:effectLst/>
          </c:spPr>
          <c:invertIfNegative val="0"/>
          <c:dLbls>
            <c:numFmt formatCode="0&quot; customers&quot;"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dPt>
            <c:idx val="0"/>
            <c:invertIfNegative val="0"/>
            <c:bubble3D val="0"/>
            <c:spPr>
              <a:solidFill>
                <a:srgbClr val="9AA3AF"/>
              </a:solidFill>
              <a:effectLst/>
            </c:spPr>
          </c:dPt>
          <c:dPt>
            <c:idx val="1"/>
            <c:invertIfNegative val="0"/>
            <c:bubble3D val="0"/>
            <c:spPr>
              <a:solidFill>
                <a:srgbClr val="9AA3AF"/>
              </a:solidFill>
              <a:effectLst/>
            </c:spPr>
          </c:dPt>
          <c:dPt>
            <c:idx val="2"/>
            <c:invertIfNegative val="0"/>
            <c:bubble3D val="0"/>
            <c:spPr>
              <a:solidFill>
                <a:srgbClr val="9AA3AF"/>
              </a:solidFill>
              <a:effectLst/>
            </c:spPr>
          </c:dPt>
          <c:dPt>
            <c:idx val="3"/>
            <c:invertIfNegative val="0"/>
            <c:bubble3D val="0"/>
            <c:spPr>
              <a:solidFill>
                <a:srgbClr val="9AA3AF"/>
              </a:solidFill>
              <a:effectLst/>
            </c:spPr>
          </c:dPt>
          <c:cat>
            <c:multiLvlStrRef>
              <c:f>Sheet1!$A$2:$A$5</c:f>
              <c:multiLvlStrCache>
                <c:ptCount val="4"/>
                <c:lvl>
                  <c:pt idx="0">
                    <c:v>Electronic check</c:v>
                  </c:pt>
                  <c:pt idx="1">
                    <c:v>Bank transfer</c:v>
                  </c:pt>
                  <c:pt idx="2">
                    <c:v>Credit card</c:v>
                  </c:pt>
                  <c:pt idx="3">
                    <c:v>Mailed check</c:v>
                  </c:pt>
                </c:lvl>
              </c:multiLvlStrCache>
            </c:multiLvlStrRef>
          </c:cat>
          <c:val>
            <c:numRef>
              <c:f>Sheet1!$B$2:$B$5</c:f>
              <c:numCache>
                <c:formatCode>General</c:formatCode>
                <c:ptCount val="4"/>
                <c:pt idx="0">
                  <c:v>8</c:v>
                </c:pt>
                <c:pt idx="1">
                  <c:v>6</c:v>
                </c:pt>
                <c:pt idx="2">
                  <c:v>5</c:v>
                </c:pt>
                <c:pt idx="3">
                  <c:v>1</c:v>
                </c:pt>
              </c:numCache>
            </c:numRef>
          </c:val>
        </c:ser>
        <c:dLbls>
          <c:numFmt formatCode="0&quot; customers&quot;"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A3F47"/>
                </a:solidFill>
                <a:latin typeface="+mn-lt"/>
              </a:defRPr>
            </a:pPr>
            <a:endParaRPr lang="en-US"/>
          </a:p>
        </c:txPr>
        <c:crossAx val="2094734552"/>
        <c:crosses val="autoZero"/>
        <c:auto val="1"/>
        <c:lblAlgn val="ctr"/>
        <c:noMultiLvlLbl val="1"/>
      </c:catAx>
      <c:valAx>
        <c:axId val="2094734552"/>
        <c:scaling>
          <c:orientation val="minMax"/>
          <c:max val="1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3A3F4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report walks through the five pages of the Power BI dashboard. For each page it states the business question every chart answers, what the data shows, and which stakeholder acts on it. Source data: IBM Telco Customer Churn, 7,043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data prep (Python), the analysis layer (MySQL) and the presentation layer (Power BI). Leakage is defined as the monthly charges of customers flagged Churn =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money: $139.1K of $456.1K monthly billing belongs to churned customers, about $1.67M annualised. Then walk the five findings, each of which is expanded on its own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navigation slide: each page has a primary audience, a core question and a decision it unlocks.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pairs a KPI with the question it answers. The key insight: revenue loss (30.5%) is worse than the churn rate (26.5%) because churners pay more per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Donut: answers how much billing is retained versus lost. Bar: answers whether churn is evenly spread. It is not: month-to-month is the outlier. Takeaways come straight from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is a realistic decision moment for that stakeholder. Walk through one or two depending on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quadrant is one chart and one question. Values are monthly revenue lost in $K. Note the shares overlap because the same customer sits in one group per lens; do not add them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built from the churn rates quoted on the Leakage Drivers page. It puts the highest-risk group next to the lowest-risk comparison for each lens. DSL is used as the internet comparison, as in the dashboard takeaway.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drivers page tells each team which lever belongs to them: payment method to Billing, service line to Product, contract and tenure to Retention and Marketing.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Priority Segment is month-to-month, fiber, electronic check. Roughly 19% of customers (1,307 of 7,043) generate 49.1% of lost revenue. The table lists month-to-month combinations of 30+ customers; it scrolls in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Contract x Tenure heatmap. Middle: churn with and without each add-on (internet customers only). Right: churn by number of protective add-ons. Streaming services do not show the protective pattern. Support and security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segment page converts "who leaks" into a contactable list. Note the add-on evidence is an association, which is why the recommendation is a controlled trial.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churn rate by spend segment, with lost revenue in the labels. Right: profile of the 20 highest-paying churned customers. The top-20 by monthly charge pay $111 to $118 a month and every one is on fiber optic.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Charts are counts from the top-20 churned list (contract: 7 month-to-month, 8 one-year, 5 two-year; payment: 8, 6, 5, 1). The lifetime revenue chart shows the largest long-term accounts are mostly still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changes the lens from customer count to customer value. The surprising result is that contract length did not protect the highest payers.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action names its target group, the evidence on the dashboard and the monthly revenue at stake. The revenue-at-stake figures overlap across actions, so they should not be summed.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 and test designs are suggested. The point is that every action is a controlled pilot with a measurable churn outcome, because the dashboard shows association rather than proof of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headline messages, then the caveats. The caveats protect credibility: revenue lost is a run-rate based on churned customers' monthly charges, and the add-on evidence is association.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1"/>
          </a:solidFill>
          <a:ln/>
        </p:spPr>
      </p:sp>
      <p:sp>
        <p:nvSpPr>
          <p:cNvPr id="3" name="Text 1"/>
          <p:cNvSpPr/>
          <p:nvPr>
            <p:ph idx="101" type="title" hasCustomPrompt="1"/>
          </p:nvPr>
        </p:nvSpPr>
        <p:spPr>
          <a:xfrm>
            <a:off x="731520" y="2011680"/>
            <a:ext cx="694944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1"/>
          <p:cNvSpPr/>
          <p:nvPr>
            <p:ph idx="102" type="body" hasCustomPrompt="1"/>
          </p:nvPr>
        </p:nvSpPr>
        <p:spPr>
          <a:xfrm>
            <a:off x="731520" y="3931920"/>
            <a:ext cx="6583680" cy="1097280"/>
          </a:xfrm>
          <a:prstGeom prst="rect">
            <a:avLst/>
          </a:prstGeom>
          <a:noFill/>
          <a:ln/>
        </p:spPr>
        <p:txBody>
          <a:bodyPr wrap="square" rtlCol="0"/>
          <a:lstStyle>
            <a:lvl1pPr algn="l" indent="0" marL="0">
              <a:buNone/>
              <a:defRPr lang="en-US" sz="2000" dirty="0">
                <a:solidFill>
                  <a:schemeClr val="accent3"/>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64240"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2"/>
                </a:solidFill>
              </a:rPr>
              <a:t>Customer Revenue Leakage Analysis</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1"/>
          </a:solidFill>
          <a:ln/>
        </p:spPr>
      </p:sp>
      <p:sp>
        <p:nvSpPr>
          <p:cNvPr id="3" name="Text 1"/>
          <p:cNvSpPr/>
          <p:nvPr>
            <p:ph idx="101" type="title" hasCustomPrompt="1"/>
          </p:nvPr>
        </p:nvSpPr>
        <p:spPr>
          <a:xfrm>
            <a:off x="548640" y="621792"/>
            <a:ext cx="11064240" cy="6400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1"/>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Customer Revenue Leakage Analysis</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3AF"/>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chart" Target="/ppt/charts/chart5.xml"/><Relationship Id="rId4" Type="http://schemas.openxmlformats.org/officeDocument/2006/relationships/chart" Target="/ppt/charts/chart6.xml"/><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chart" Target="/ppt/charts/chart11.xml"/><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731520" y="2011680"/>
            <a:ext cx="6949440" cy="1737360"/>
          </a:xfrm>
          <a:prstGeom prst="rect">
            <a:avLst/>
          </a:prstGeom>
          <a:noFill/>
          <a:ln/>
        </p:spPr>
        <p:txBody>
          <a:bodyPr wrap="square" lIns="0" tIns="0" rIns="0" bIns="0" rtlCol="0" anchor="b"/>
          <a:lstStyle/>
          <a:p>
            <a:pPr algn="l" indent="0" marL="0">
              <a:buNone/>
            </a:pPr>
            <a:r>
              <a:rPr lang="en-US" sz="4400" b="1" dirty="0">
                <a:solidFill>
                  <a:schemeClr val="bg1"/>
                </a:solidFill>
              </a:rPr>
              <a:t>Customer Revenue Leakage Analysis</a:t>
            </a:r>
            <a:endParaRPr lang="en-US" sz="4400" dirty="0"/>
          </a:p>
        </p:txBody>
      </p:sp>
      <p:sp>
        <p:nvSpPr>
          <p:cNvPr id="3" name="Text 1"/>
          <p:cNvSpPr/>
          <p:nvPr>
            <p:ph idx="102" type="body" hasCustomPrompt="1"/>
          </p:nvPr>
        </p:nvSpPr>
        <p:spPr>
          <a:xfrm>
            <a:off x="731520" y="3931920"/>
            <a:ext cx="6583680" cy="1097280"/>
          </a:xfrm>
          <a:prstGeom prst="rect">
            <a:avLst/>
          </a:prstGeom>
          <a:noFill/>
          <a:ln/>
        </p:spPr>
        <p:txBody>
          <a:bodyPr wrap="square" lIns="0" tIns="0" rIns="0" bIns="0" rtlCol="0" anchor="t"/>
          <a:lstStyle/>
          <a:p>
            <a:pPr algn="l" indent="0" marL="0">
              <a:buNone/>
            </a:pPr>
            <a:r>
              <a:rPr lang="en-US" sz="2000" dirty="0">
                <a:solidFill>
                  <a:schemeClr val="accent3"/>
                </a:solidFill>
              </a:rPr>
              <a:t>Where the revenue goes, who it leaves from, and what to do about it. A page-by-page report on the Power BI dashboard.</a:t>
            </a:r>
            <a:endParaRPr lang="en-US" sz="2000" dirty="0"/>
          </a:p>
        </p:txBody>
      </p:sp>
      <p:sp>
        <p:nvSpPr>
          <p:cNvPr id="4" name="Text 2"/>
          <p:cNvSpPr txBox="1"/>
          <p:nvPr/>
        </p:nvSpPr>
        <p:spPr>
          <a:xfrm>
            <a:off x="731520" y="5760720"/>
            <a:ext cx="6858000" cy="320040"/>
          </a:xfrm>
          <a:prstGeom prst="rect">
            <a:avLst/>
          </a:prstGeom>
          <a:noFill/>
          <a:ln/>
        </p:spPr>
        <p:txBody>
          <a:bodyPr wrap="square" lIns="0" tIns="0" rIns="0" bIns="0" rtlCol="0" anchor="t"/>
          <a:lstStyle/>
          <a:p>
            <a:pPr indent="0" marL="0">
              <a:buNone/>
            </a:pPr>
            <a:r>
              <a:rPr lang="en-US" sz="1400" dirty="0">
                <a:solidFill>
                  <a:schemeClr val="accent3"/>
                </a:solidFill>
              </a:rPr>
              <a:t>Samuel Sholademi  |  Data Analyst  |  October 2026</a:t>
            </a:r>
            <a:endParaRPr lang="en-US" sz="1400" dirty="0"/>
          </a:p>
        </p:txBody>
      </p:sp>
      <p:sp>
        <p:nvSpPr>
          <p:cNvPr id="5" name="Hero stat circle"/>
          <p:cNvSpPr/>
          <p:nvPr/>
        </p:nvSpPr>
        <p:spPr>
          <a:xfrm>
            <a:off x="8138160" y="1554480"/>
            <a:ext cx="3566160" cy="3566160"/>
          </a:xfrm>
          <a:prstGeom prst="ellipse">
            <a:avLst/>
          </a:prstGeom>
          <a:solidFill>
            <a:schemeClr val="accent1"/>
          </a:solidFill>
          <a:ln/>
        </p:spPr>
      </p:sp>
      <p:sp>
        <p:nvSpPr>
          <p:cNvPr id="6" name="Text 4"/>
          <p:cNvSpPr txBox="1"/>
          <p:nvPr/>
        </p:nvSpPr>
        <p:spPr>
          <a:xfrm>
            <a:off x="8138160" y="2468880"/>
            <a:ext cx="3566160" cy="1097280"/>
          </a:xfrm>
          <a:prstGeom prst="rect">
            <a:avLst/>
          </a:prstGeom>
          <a:noFill/>
          <a:ln/>
        </p:spPr>
        <p:txBody>
          <a:bodyPr wrap="square" lIns="0" tIns="0" rIns="0" bIns="0" rtlCol="0" anchor="ctr"/>
          <a:lstStyle/>
          <a:p>
            <a:pPr algn="ctr" indent="0" marL="0">
              <a:buNone/>
            </a:pPr>
            <a:r>
              <a:rPr lang="en-US" sz="6600" b="1" dirty="0">
                <a:solidFill>
                  <a:schemeClr val="bg1"/>
                </a:solidFill>
              </a:rPr>
              <a:t>30.5%</a:t>
            </a:r>
            <a:endParaRPr lang="en-US" sz="6600" dirty="0"/>
          </a:p>
        </p:txBody>
      </p:sp>
      <p:sp>
        <p:nvSpPr>
          <p:cNvPr id="7" name="Text 5"/>
          <p:cNvSpPr txBox="1"/>
          <p:nvPr/>
        </p:nvSpPr>
        <p:spPr>
          <a:xfrm>
            <a:off x="8686800" y="3611880"/>
            <a:ext cx="2468880" cy="914400"/>
          </a:xfrm>
          <a:prstGeom prst="rect">
            <a:avLst/>
          </a:prstGeom>
          <a:noFill/>
          <a:ln/>
        </p:spPr>
        <p:txBody>
          <a:bodyPr wrap="square" lIns="0" tIns="0" rIns="0" bIns="0" rtlCol="0" anchor="t"/>
          <a:lstStyle/>
          <a:p>
            <a:pPr algn="ctr" indent="0" marL="0">
              <a:buNone/>
            </a:pPr>
            <a:r>
              <a:rPr lang="en-US" sz="1400" dirty="0">
                <a:solidFill>
                  <a:schemeClr val="bg1"/>
                </a:solidFill>
              </a:rPr>
              <a:t>of monthly revenue belongs to customers who have already left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CONTEXT AND METHOD</a:t>
            </a:r>
            <a:endParaRPr lang="en-US" sz="1200" dirty="0"/>
          </a:p>
        </p:txBody>
      </p:sp>
      <p:sp>
        <p:nvSpPr>
          <p:cNvPr id="3" name="Text 0"/>
          <p:cNvSpPr/>
          <p:nvPr>
            <p:ph idx="100"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A five-page dashboard from "how bad" to "what now"</a:t>
            </a:r>
            <a:endParaRPr lang="en-US" sz="3000" dirty="0"/>
          </a:p>
        </p:txBody>
      </p:sp>
      <p:sp>
        <p:nvSpPr>
          <p:cNvPr id="5" name="Stat tile"/>
          <p:cNvSpPr/>
          <p:nvPr/>
        </p:nvSpPr>
        <p:spPr>
          <a:xfrm>
            <a:off x="548640" y="1417320"/>
            <a:ext cx="3566160" cy="1097280"/>
          </a:xfrm>
          <a:prstGeom prst="roundRect">
            <a:avLst>
              <a:gd name="adj" fmla="val 8333"/>
            </a:avLst>
          </a:prstGeom>
          <a:solidFill>
            <a:schemeClr val="bg2"/>
          </a:solidFill>
          <a:ln/>
        </p:spPr>
      </p:sp>
      <p:sp>
        <p:nvSpPr>
          <p:cNvPr id="6" name="Text 3"/>
          <p:cNvSpPr txBox="1"/>
          <p:nvPr/>
        </p:nvSpPr>
        <p:spPr>
          <a:xfrm>
            <a:off x="822960" y="1508760"/>
            <a:ext cx="1463040" cy="914400"/>
          </a:xfrm>
          <a:prstGeom prst="rect">
            <a:avLst/>
          </a:prstGeom>
          <a:noFill/>
          <a:ln/>
        </p:spPr>
        <p:txBody>
          <a:bodyPr wrap="square" lIns="0" tIns="0" rIns="0" bIns="0" rtlCol="0" anchor="ctr"/>
          <a:lstStyle/>
          <a:p>
            <a:pPr indent="0" marL="0">
              <a:buNone/>
            </a:pPr>
            <a:r>
              <a:rPr lang="en-US" sz="4000" b="1" dirty="0">
                <a:solidFill>
                  <a:schemeClr val="accent1"/>
                </a:solidFill>
              </a:rPr>
              <a:t>7,043</a:t>
            </a:r>
            <a:endParaRPr lang="en-US" sz="4000" dirty="0"/>
          </a:p>
        </p:txBody>
      </p:sp>
      <p:sp>
        <p:nvSpPr>
          <p:cNvPr id="7" name="Text 4"/>
          <p:cNvSpPr txBox="1"/>
          <p:nvPr/>
        </p:nvSpPr>
        <p:spPr>
          <a:xfrm>
            <a:off x="2286000" y="1508760"/>
            <a:ext cx="1737360" cy="914400"/>
          </a:xfrm>
          <a:prstGeom prst="rect">
            <a:avLst/>
          </a:prstGeom>
          <a:noFill/>
          <a:ln/>
        </p:spPr>
        <p:txBody>
          <a:bodyPr wrap="square" lIns="0" tIns="0" rIns="0" bIns="0" rtlCol="0" anchor="ctr"/>
          <a:lstStyle/>
          <a:p>
            <a:pPr indent="0" marL="0">
              <a:buNone/>
            </a:pPr>
            <a:r>
              <a:rPr lang="en-US" sz="1400" dirty="0">
                <a:solidFill>
                  <a:schemeClr val="tx2"/>
                </a:solidFill>
              </a:rPr>
              <a:t>customers analysed</a:t>
            </a:r>
            <a:endParaRPr lang="en-US" sz="1400" dirty="0"/>
          </a:p>
        </p:txBody>
      </p:sp>
      <p:sp>
        <p:nvSpPr>
          <p:cNvPr id="8" name="Stat tile"/>
          <p:cNvSpPr/>
          <p:nvPr/>
        </p:nvSpPr>
        <p:spPr>
          <a:xfrm>
            <a:off x="4297680" y="1417320"/>
            <a:ext cx="3566160" cy="1097280"/>
          </a:xfrm>
          <a:prstGeom prst="roundRect">
            <a:avLst>
              <a:gd name="adj" fmla="val 8333"/>
            </a:avLst>
          </a:prstGeom>
          <a:solidFill>
            <a:schemeClr val="bg2"/>
          </a:solidFill>
          <a:ln/>
        </p:spPr>
      </p:sp>
      <p:sp>
        <p:nvSpPr>
          <p:cNvPr id="9" name="Text 6"/>
          <p:cNvSpPr txBox="1"/>
          <p:nvPr/>
        </p:nvSpPr>
        <p:spPr>
          <a:xfrm>
            <a:off x="4572000" y="1508760"/>
            <a:ext cx="1463040" cy="914400"/>
          </a:xfrm>
          <a:prstGeom prst="rect">
            <a:avLst/>
          </a:prstGeom>
          <a:noFill/>
          <a:ln/>
        </p:spPr>
        <p:txBody>
          <a:bodyPr wrap="square" lIns="0" tIns="0" rIns="0" bIns="0" rtlCol="0" anchor="ctr"/>
          <a:lstStyle/>
          <a:p>
            <a:pPr indent="0" marL="0">
              <a:buNone/>
            </a:pPr>
            <a:r>
              <a:rPr lang="en-US" sz="4000" b="1" dirty="0">
                <a:solidFill>
                  <a:schemeClr val="accent1"/>
                </a:solidFill>
              </a:rPr>
              <a:t>21</a:t>
            </a:r>
            <a:endParaRPr lang="en-US" sz="4000" dirty="0"/>
          </a:p>
        </p:txBody>
      </p:sp>
      <p:sp>
        <p:nvSpPr>
          <p:cNvPr id="10" name="Text 7"/>
          <p:cNvSpPr txBox="1"/>
          <p:nvPr/>
        </p:nvSpPr>
        <p:spPr>
          <a:xfrm>
            <a:off x="6035040" y="1508760"/>
            <a:ext cx="1737360" cy="914400"/>
          </a:xfrm>
          <a:prstGeom prst="rect">
            <a:avLst/>
          </a:prstGeom>
          <a:noFill/>
          <a:ln/>
        </p:spPr>
        <p:txBody>
          <a:bodyPr wrap="square" lIns="0" tIns="0" rIns="0" bIns="0" rtlCol="0" anchor="ctr"/>
          <a:lstStyle/>
          <a:p>
            <a:pPr indent="0" marL="0">
              <a:buNone/>
            </a:pPr>
            <a:r>
              <a:rPr lang="en-US" sz="1400" dirty="0">
                <a:solidFill>
                  <a:schemeClr val="tx2"/>
                </a:solidFill>
              </a:rPr>
              <a:t>attributes per customer</a:t>
            </a:r>
            <a:endParaRPr lang="en-US" sz="1400" dirty="0"/>
          </a:p>
        </p:txBody>
      </p:sp>
      <p:sp>
        <p:nvSpPr>
          <p:cNvPr id="11" name="Stat tile"/>
          <p:cNvSpPr/>
          <p:nvPr/>
        </p:nvSpPr>
        <p:spPr>
          <a:xfrm>
            <a:off x="8046720" y="1417320"/>
            <a:ext cx="3566160" cy="1097280"/>
          </a:xfrm>
          <a:prstGeom prst="roundRect">
            <a:avLst>
              <a:gd name="adj" fmla="val 8333"/>
            </a:avLst>
          </a:prstGeom>
          <a:solidFill>
            <a:schemeClr val="bg2"/>
          </a:solidFill>
          <a:ln/>
        </p:spPr>
      </p:sp>
      <p:sp>
        <p:nvSpPr>
          <p:cNvPr id="12" name="Text 9"/>
          <p:cNvSpPr txBox="1"/>
          <p:nvPr/>
        </p:nvSpPr>
        <p:spPr>
          <a:xfrm>
            <a:off x="8321040" y="1508760"/>
            <a:ext cx="1463040" cy="914400"/>
          </a:xfrm>
          <a:prstGeom prst="rect">
            <a:avLst/>
          </a:prstGeom>
          <a:noFill/>
          <a:ln/>
        </p:spPr>
        <p:txBody>
          <a:bodyPr wrap="square" lIns="0" tIns="0" rIns="0" bIns="0" rtlCol="0" anchor="ctr"/>
          <a:lstStyle/>
          <a:p>
            <a:pPr indent="0" marL="0">
              <a:buNone/>
            </a:pPr>
            <a:r>
              <a:rPr lang="en-US" sz="4000" b="1" dirty="0">
                <a:solidFill>
                  <a:schemeClr val="accent1"/>
                </a:solidFill>
              </a:rPr>
              <a:t>3</a:t>
            </a:r>
            <a:endParaRPr lang="en-US" sz="4000" dirty="0"/>
          </a:p>
        </p:txBody>
      </p:sp>
      <p:sp>
        <p:nvSpPr>
          <p:cNvPr id="13" name="Text 10"/>
          <p:cNvSpPr txBox="1"/>
          <p:nvPr/>
        </p:nvSpPr>
        <p:spPr>
          <a:xfrm>
            <a:off x="9784080" y="1508760"/>
            <a:ext cx="1737360" cy="914400"/>
          </a:xfrm>
          <a:prstGeom prst="rect">
            <a:avLst/>
          </a:prstGeom>
          <a:noFill/>
          <a:ln/>
        </p:spPr>
        <p:txBody>
          <a:bodyPr wrap="square" lIns="0" tIns="0" rIns="0" bIns="0" rtlCol="0" anchor="ctr"/>
          <a:lstStyle/>
          <a:p>
            <a:pPr indent="0" marL="0">
              <a:buNone/>
            </a:pPr>
            <a:r>
              <a:rPr lang="en-US" sz="1400" dirty="0">
                <a:solidFill>
                  <a:schemeClr val="tx2"/>
                </a:solidFill>
              </a:rPr>
              <a:t>tools: Python, MySQL, Power BI</a:t>
            </a:r>
            <a:endParaRPr lang="en-US" sz="1400" dirty="0"/>
          </a:p>
        </p:txBody>
      </p:sp>
      <p:sp>
        <p:nvSpPr>
          <p:cNvPr id="14" name="Method card"/>
          <p:cNvSpPr/>
          <p:nvPr/>
        </p:nvSpPr>
        <p:spPr>
          <a:xfrm>
            <a:off x="548640" y="2743200"/>
            <a:ext cx="5394960" cy="3474720"/>
          </a:xfrm>
          <a:prstGeom prst="roundRect">
            <a:avLst>
              <a:gd name="adj" fmla="val 2632"/>
            </a:avLst>
          </a:prstGeom>
          <a:solidFill>
            <a:schemeClr val="bg2"/>
          </a:solidFill>
          <a:ln/>
        </p:spPr>
      </p:sp>
      <p:sp>
        <p:nvSpPr>
          <p:cNvPr id="15" name="Text 12"/>
          <p:cNvSpPr txBox="1"/>
          <p:nvPr/>
        </p:nvSpPr>
        <p:spPr>
          <a:xfrm>
            <a:off x="822960" y="2880360"/>
            <a:ext cx="484632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How the analysis was built</a:t>
            </a:r>
            <a:endParaRPr lang="en-US" sz="1800" dirty="0"/>
          </a:p>
        </p:txBody>
      </p:sp>
      <p:sp>
        <p:nvSpPr>
          <p:cNvPr id="16" name="Text 13"/>
          <p:cNvSpPr txBox="1"/>
          <p:nvPr/>
        </p:nvSpPr>
        <p:spPr>
          <a:xfrm>
            <a:off x="822960" y="3383280"/>
            <a:ext cx="4846320" cy="2743200"/>
          </a:xfrm>
          <a:prstGeom prst="rect">
            <a:avLst/>
          </a:prstGeom>
          <a:noFill/>
          <a:ln/>
        </p:spPr>
        <p:txBody>
          <a:bodyPr wrap="square" lIns="0" tIns="0" rIns="0" bIns="0" rtlCol="0" anchor="t"/>
          <a:lstStyle/>
          <a:p>
            <a:pPr marL="342900" indent="-342900">
              <a:buSzPct val="100000"/>
              <a:buChar char="•"/>
            </a:pPr>
            <a:r>
              <a:rPr lang="en-US" sz="1400" b="1" dirty="0">
                <a:solidFill>
                  <a:schemeClr val="tx1"/>
                </a:solidFill>
              </a:rPr>
              <a:t>Python: </a:t>
            </a:r>
            <a:pPr indent="0" marL="0">
              <a:spcAft>
                <a:spcPts val="600"/>
              </a:spcAft>
              <a:buNone/>
            </a:pPr>
            <a:r>
              <a:rPr lang="en-US" sz="1400" dirty="0">
                <a:solidFill>
                  <a:schemeClr val="tx1"/>
                </a:solidFill>
              </a:rPr>
              <a:t>checked for blanks and duplicates, converted TotalCharges to numbers (11 blanks set to 0), and standardised "No internet service" to "No".</a:t>
            </a:r>
            <a:endParaRPr lang="en-US" sz="1400" dirty="0"/>
          </a:p>
          <a:p>
            <a:pPr marL="342900" indent="-342900">
              <a:buSzPct val="100000"/>
              <a:buChar char="•"/>
            </a:pPr>
            <a:r>
              <a:rPr lang="en-US" sz="1400" b="1" dirty="0">
                <a:solidFill>
                  <a:schemeClr val="tx1"/>
                </a:solidFill>
              </a:rPr>
              <a:t>MySQL: </a:t>
            </a:r>
            <a:pPr indent="0" marL="0">
              <a:spcAft>
                <a:spcPts val="600"/>
              </a:spcAft>
              <a:buNone/>
            </a:pPr>
            <a:r>
              <a:rPr lang="en-US" sz="1400" dirty="0">
                <a:solidFill>
                  <a:schemeClr val="tx1"/>
                </a:solidFill>
              </a:rPr>
              <a:t>revenue, churn and lost-revenue queries by contract, payment method, internet service and tenure.</a:t>
            </a:r>
            <a:endParaRPr lang="en-US" sz="1400" dirty="0"/>
          </a:p>
          <a:p>
            <a:pPr marL="342900" indent="-342900">
              <a:buSzPct val="100000"/>
              <a:buChar char="•"/>
            </a:pPr>
            <a:r>
              <a:rPr lang="en-US" sz="1400" b="1" dirty="0">
                <a:solidFill>
                  <a:schemeClr val="tx1"/>
                </a:solidFill>
              </a:rPr>
              <a:t>Power BI: </a:t>
            </a:r>
            <a:pPr indent="0" marL="0">
              <a:spcAft>
                <a:spcPts val="600"/>
              </a:spcAft>
              <a:buNone/>
            </a:pPr>
            <a:r>
              <a:rPr lang="en-US" sz="1400" dirty="0">
                <a:solidFill>
                  <a:schemeClr val="tx1"/>
                </a:solidFill>
              </a:rPr>
              <a:t>five pages with slicers for contract and internet service.</a:t>
            </a:r>
            <a:endParaRPr lang="en-US" sz="1400" dirty="0"/>
          </a:p>
          <a:p>
            <a:pPr marL="342900" indent="-342900">
              <a:buSzPct val="100000"/>
              <a:buChar char="•"/>
            </a:pPr>
            <a:r>
              <a:rPr lang="en-US" sz="1400" b="1" dirty="0">
                <a:solidFill>
                  <a:schemeClr val="tx1"/>
                </a:solidFill>
              </a:rPr>
              <a:t>Leakage: </a:t>
            </a:r>
            <a:pPr indent="0" marL="0">
              <a:spcAft>
                <a:spcPts val="600"/>
              </a:spcAft>
              <a:buNone/>
            </a:pPr>
            <a:r>
              <a:rPr lang="en-US" sz="1400" dirty="0">
                <a:solidFill>
                  <a:schemeClr val="tx1"/>
                </a:solidFill>
              </a:rPr>
              <a:t>monthly charges of customers with Churn = Yes.</a:t>
            </a:r>
            <a:endParaRPr lang="en-US" sz="1400" dirty="0"/>
          </a:p>
        </p:txBody>
      </p:sp>
      <p:sp>
        <p:nvSpPr>
          <p:cNvPr id="17" name="Map card"/>
          <p:cNvSpPr/>
          <p:nvPr/>
        </p:nvSpPr>
        <p:spPr>
          <a:xfrm>
            <a:off x="6126480" y="2743200"/>
            <a:ext cx="5513832" cy="3474720"/>
          </a:xfrm>
          <a:prstGeom prst="roundRect">
            <a:avLst>
              <a:gd name="adj" fmla="val 2632"/>
            </a:avLst>
          </a:prstGeom>
          <a:solidFill>
            <a:schemeClr val="bg2"/>
          </a:solidFill>
          <a:ln/>
        </p:spPr>
      </p:sp>
      <p:sp>
        <p:nvSpPr>
          <p:cNvPr id="18" name="Text 15"/>
          <p:cNvSpPr txBox="1"/>
          <p:nvPr/>
        </p:nvSpPr>
        <p:spPr>
          <a:xfrm>
            <a:off x="6400800" y="2880360"/>
            <a:ext cx="493776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Dashboard map</a:t>
            </a:r>
            <a:endParaRPr lang="en-US" sz="1800" dirty="0"/>
          </a:p>
        </p:txBody>
      </p:sp>
      <p:sp>
        <p:nvSpPr>
          <p:cNvPr id="19" name="Number badge"/>
          <p:cNvSpPr/>
          <p:nvPr/>
        </p:nvSpPr>
        <p:spPr>
          <a:xfrm>
            <a:off x="6400800" y="3401568"/>
            <a:ext cx="384048" cy="384048"/>
          </a:xfrm>
          <a:prstGeom prst="ellipse">
            <a:avLst/>
          </a:prstGeom>
          <a:solidFill>
            <a:schemeClr val="accent1"/>
          </a:solidFill>
          <a:ln/>
        </p:spPr>
      </p:sp>
      <p:sp>
        <p:nvSpPr>
          <p:cNvPr id="20" name="Text 17"/>
          <p:cNvSpPr txBox="1"/>
          <p:nvPr/>
        </p:nvSpPr>
        <p:spPr>
          <a:xfrm>
            <a:off x="6400800" y="34015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1" name="Text 18"/>
          <p:cNvSpPr txBox="1"/>
          <p:nvPr/>
        </p:nvSpPr>
        <p:spPr>
          <a:xfrm>
            <a:off x="6949440" y="3401568"/>
            <a:ext cx="4572000" cy="384048"/>
          </a:xfrm>
          <a:prstGeom prst="rect">
            <a:avLst/>
          </a:prstGeom>
          <a:noFill/>
          <a:ln/>
        </p:spPr>
        <p:txBody>
          <a:bodyPr wrap="square" lIns="0" tIns="0" rIns="0" bIns="0" rtlCol="0" anchor="ctr"/>
          <a:lstStyle/>
          <a:p>
            <a:pPr indent="0" marL="0">
              <a:buNone/>
            </a:pPr>
            <a:r>
              <a:rPr lang="en-US" sz="1400" b="1" dirty="0">
                <a:solidFill>
                  <a:schemeClr val="tx1"/>
                </a:solidFill>
              </a:rPr>
              <a:t>Executive Summary</a:t>
            </a:r>
            <a:pPr indent="0" marL="0">
              <a:buNone/>
            </a:pPr>
            <a:r>
              <a:rPr lang="en-US" sz="1400" dirty="0">
                <a:solidFill>
                  <a:schemeClr val="tx2"/>
                </a:solidFill>
              </a:rPr>
              <a:t>  How big is the leak?</a:t>
            </a:r>
            <a:endParaRPr lang="en-US" sz="1400" dirty="0"/>
          </a:p>
        </p:txBody>
      </p:sp>
      <p:sp>
        <p:nvSpPr>
          <p:cNvPr id="22" name="Number badge"/>
          <p:cNvSpPr/>
          <p:nvPr/>
        </p:nvSpPr>
        <p:spPr>
          <a:xfrm>
            <a:off x="6400800" y="3950208"/>
            <a:ext cx="384048" cy="384048"/>
          </a:xfrm>
          <a:prstGeom prst="ellipse">
            <a:avLst/>
          </a:prstGeom>
          <a:solidFill>
            <a:schemeClr val="accent1"/>
          </a:solidFill>
          <a:ln/>
        </p:spPr>
      </p:sp>
      <p:sp>
        <p:nvSpPr>
          <p:cNvPr id="23" name="Text 20"/>
          <p:cNvSpPr txBox="1"/>
          <p:nvPr/>
        </p:nvSpPr>
        <p:spPr>
          <a:xfrm>
            <a:off x="6400800" y="39502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4" name="Text 21"/>
          <p:cNvSpPr txBox="1"/>
          <p:nvPr/>
        </p:nvSpPr>
        <p:spPr>
          <a:xfrm>
            <a:off x="6949440" y="3950208"/>
            <a:ext cx="4572000" cy="384048"/>
          </a:xfrm>
          <a:prstGeom prst="rect">
            <a:avLst/>
          </a:prstGeom>
          <a:noFill/>
          <a:ln/>
        </p:spPr>
        <p:txBody>
          <a:bodyPr wrap="square" lIns="0" tIns="0" rIns="0" bIns="0" rtlCol="0" anchor="ctr"/>
          <a:lstStyle/>
          <a:p>
            <a:pPr indent="0" marL="0">
              <a:buNone/>
            </a:pPr>
            <a:r>
              <a:rPr lang="en-US" sz="1400" b="1" dirty="0">
                <a:solidFill>
                  <a:schemeClr val="tx1"/>
                </a:solidFill>
              </a:rPr>
              <a:t>Leakage Drivers</a:t>
            </a:r>
            <a:pPr indent="0" marL="0">
              <a:buNone/>
            </a:pPr>
            <a:r>
              <a:rPr lang="en-US" sz="1400" dirty="0">
                <a:solidFill>
                  <a:schemeClr val="tx2"/>
                </a:solidFill>
              </a:rPr>
              <a:t>  What is causing it?</a:t>
            </a:r>
            <a:endParaRPr lang="en-US" sz="1400" dirty="0"/>
          </a:p>
        </p:txBody>
      </p:sp>
      <p:sp>
        <p:nvSpPr>
          <p:cNvPr id="25" name="Number badge"/>
          <p:cNvSpPr/>
          <p:nvPr/>
        </p:nvSpPr>
        <p:spPr>
          <a:xfrm>
            <a:off x="6400800" y="4498848"/>
            <a:ext cx="384048" cy="384048"/>
          </a:xfrm>
          <a:prstGeom prst="ellipse">
            <a:avLst/>
          </a:prstGeom>
          <a:solidFill>
            <a:schemeClr val="accent1"/>
          </a:solidFill>
          <a:ln/>
        </p:spPr>
      </p:sp>
      <p:sp>
        <p:nvSpPr>
          <p:cNvPr id="26" name="Text 23"/>
          <p:cNvSpPr txBox="1"/>
          <p:nvPr/>
        </p:nvSpPr>
        <p:spPr>
          <a:xfrm>
            <a:off x="6400800" y="4498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7" name="Text 24"/>
          <p:cNvSpPr txBox="1"/>
          <p:nvPr/>
        </p:nvSpPr>
        <p:spPr>
          <a:xfrm>
            <a:off x="6949440" y="4498848"/>
            <a:ext cx="4572000" cy="384048"/>
          </a:xfrm>
          <a:prstGeom prst="rect">
            <a:avLst/>
          </a:prstGeom>
          <a:noFill/>
          <a:ln/>
        </p:spPr>
        <p:txBody>
          <a:bodyPr wrap="square" lIns="0" tIns="0" rIns="0" bIns="0" rtlCol="0" anchor="ctr"/>
          <a:lstStyle/>
          <a:p>
            <a:pPr indent="0" marL="0">
              <a:buNone/>
            </a:pPr>
            <a:r>
              <a:rPr lang="en-US" sz="1400" b="1" dirty="0">
                <a:solidFill>
                  <a:schemeClr val="tx1"/>
                </a:solidFill>
              </a:rPr>
              <a:t>Segment Deep Dive</a:t>
            </a:r>
            <a:pPr indent="0" marL="0">
              <a:buNone/>
            </a:pPr>
            <a:r>
              <a:rPr lang="en-US" sz="1400" dirty="0">
                <a:solidFill>
                  <a:schemeClr val="tx2"/>
                </a:solidFill>
              </a:rPr>
              <a:t>  Which customers leak most?</a:t>
            </a:r>
            <a:endParaRPr lang="en-US" sz="1400" dirty="0"/>
          </a:p>
        </p:txBody>
      </p:sp>
      <p:sp>
        <p:nvSpPr>
          <p:cNvPr id="28" name="Number badge"/>
          <p:cNvSpPr/>
          <p:nvPr/>
        </p:nvSpPr>
        <p:spPr>
          <a:xfrm>
            <a:off x="6400800" y="5047488"/>
            <a:ext cx="384048" cy="384048"/>
          </a:xfrm>
          <a:prstGeom prst="ellipse">
            <a:avLst/>
          </a:prstGeom>
          <a:solidFill>
            <a:schemeClr val="accent1"/>
          </a:solidFill>
          <a:ln/>
        </p:spPr>
      </p:sp>
      <p:sp>
        <p:nvSpPr>
          <p:cNvPr id="29" name="Text 26"/>
          <p:cNvSpPr txBox="1"/>
          <p:nvPr/>
        </p:nvSpPr>
        <p:spPr>
          <a:xfrm>
            <a:off x="6400800" y="50474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0" name="Text 27"/>
          <p:cNvSpPr txBox="1"/>
          <p:nvPr/>
        </p:nvSpPr>
        <p:spPr>
          <a:xfrm>
            <a:off x="6949440" y="5047488"/>
            <a:ext cx="4572000" cy="384048"/>
          </a:xfrm>
          <a:prstGeom prst="rect">
            <a:avLst/>
          </a:prstGeom>
          <a:noFill/>
          <a:ln/>
        </p:spPr>
        <p:txBody>
          <a:bodyPr wrap="square" lIns="0" tIns="0" rIns="0" bIns="0" rtlCol="0" anchor="ctr"/>
          <a:lstStyle/>
          <a:p>
            <a:pPr indent="0" marL="0">
              <a:buNone/>
            </a:pPr>
            <a:r>
              <a:rPr lang="en-US" sz="1400" b="1" dirty="0">
                <a:solidFill>
                  <a:schemeClr val="tx1"/>
                </a:solidFill>
              </a:rPr>
              <a:t>High-Value Customers</a:t>
            </a:r>
            <a:pPr indent="0" marL="0">
              <a:buNone/>
            </a:pPr>
            <a:r>
              <a:rPr lang="en-US" sz="1400" dirty="0">
                <a:solidFill>
                  <a:schemeClr val="tx2"/>
                </a:solidFill>
              </a:rPr>
              <a:t>  Which exits hurt most?</a:t>
            </a:r>
            <a:endParaRPr lang="en-US" sz="1400" dirty="0"/>
          </a:p>
        </p:txBody>
      </p:sp>
      <p:sp>
        <p:nvSpPr>
          <p:cNvPr id="31" name="Number badge"/>
          <p:cNvSpPr/>
          <p:nvPr/>
        </p:nvSpPr>
        <p:spPr>
          <a:xfrm>
            <a:off x="6400800" y="5596128"/>
            <a:ext cx="384048" cy="384048"/>
          </a:xfrm>
          <a:prstGeom prst="ellipse">
            <a:avLst/>
          </a:prstGeom>
          <a:solidFill>
            <a:schemeClr val="accent1"/>
          </a:solidFill>
          <a:ln/>
        </p:spPr>
      </p:sp>
      <p:sp>
        <p:nvSpPr>
          <p:cNvPr id="32" name="Text 29"/>
          <p:cNvSpPr txBox="1"/>
          <p:nvPr/>
        </p:nvSpPr>
        <p:spPr>
          <a:xfrm>
            <a:off x="6400800" y="55961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3" name="Text 30"/>
          <p:cNvSpPr txBox="1"/>
          <p:nvPr/>
        </p:nvSpPr>
        <p:spPr>
          <a:xfrm>
            <a:off x="6949440" y="5596128"/>
            <a:ext cx="4572000" cy="384048"/>
          </a:xfrm>
          <a:prstGeom prst="rect">
            <a:avLst/>
          </a:prstGeom>
          <a:noFill/>
          <a:ln/>
        </p:spPr>
        <p:txBody>
          <a:bodyPr wrap="square" lIns="0" tIns="0" rIns="0" bIns="0" rtlCol="0" anchor="ctr"/>
          <a:lstStyle/>
          <a:p>
            <a:pPr indent="0" marL="0">
              <a:buNone/>
            </a:pPr>
            <a:r>
              <a:rPr lang="en-US" sz="1400" b="1" dirty="0">
                <a:solidFill>
                  <a:schemeClr val="tx1"/>
                </a:solidFill>
              </a:rPr>
              <a:t>Recommendations</a:t>
            </a:r>
            <a:pPr indent="0" marL="0">
              <a:buNone/>
            </a:pPr>
            <a:r>
              <a:rPr lang="en-US" sz="1400" dirty="0">
                <a:solidFill>
                  <a:schemeClr val="tx2"/>
                </a:solidFill>
              </a:rPr>
              <a:t>  What do we do about it?</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EXECUTIVE SUMMARY</a:t>
            </a:r>
            <a:endParaRPr lang="en-US" sz="1200" dirty="0"/>
          </a:p>
        </p:txBody>
      </p:sp>
      <p:sp>
        <p:nvSpPr>
          <p:cNvPr id="3" name="Text 0"/>
          <p:cNvSpPr/>
          <p:nvPr>
            <p:ph idx="100"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Churn is costing $139K a month, 30.5% of revenue</a:t>
            </a:r>
            <a:endParaRPr lang="en-US" sz="3000" dirty="0"/>
          </a:p>
        </p:txBody>
      </p:sp>
      <p:sp>
        <p:nvSpPr>
          <p:cNvPr id="5" name="Stat tile"/>
          <p:cNvSpPr/>
          <p:nvPr/>
        </p:nvSpPr>
        <p:spPr>
          <a:xfrm>
            <a:off x="548640" y="1417320"/>
            <a:ext cx="2651760" cy="1371600"/>
          </a:xfrm>
          <a:prstGeom prst="roundRect">
            <a:avLst>
              <a:gd name="adj" fmla="val 6667"/>
            </a:avLst>
          </a:prstGeom>
          <a:solidFill>
            <a:schemeClr val="bg2"/>
          </a:solidFill>
          <a:ln/>
        </p:spPr>
      </p:sp>
      <p:sp>
        <p:nvSpPr>
          <p:cNvPr id="6" name="Text 3"/>
          <p:cNvSpPr txBox="1"/>
          <p:nvPr/>
        </p:nvSpPr>
        <p:spPr>
          <a:xfrm>
            <a:off x="731520" y="1508760"/>
            <a:ext cx="2286000" cy="731520"/>
          </a:xfrm>
          <a:prstGeom prst="rect">
            <a:avLst/>
          </a:prstGeom>
          <a:noFill/>
          <a:ln/>
        </p:spPr>
        <p:txBody>
          <a:bodyPr wrap="square" lIns="0" tIns="0" rIns="0" bIns="0" rtlCol="0" anchor="ctr"/>
          <a:lstStyle/>
          <a:p>
            <a:pPr indent="0" marL="0">
              <a:buNone/>
            </a:pPr>
            <a:r>
              <a:rPr lang="en-US" sz="3400" b="1" dirty="0">
                <a:solidFill>
                  <a:schemeClr val="accent1"/>
                </a:solidFill>
              </a:rPr>
              <a:t>$139.1K</a:t>
            </a:r>
            <a:endParaRPr lang="en-US" sz="3400" dirty="0"/>
          </a:p>
        </p:txBody>
      </p:sp>
      <p:sp>
        <p:nvSpPr>
          <p:cNvPr id="7" name="Text 4"/>
          <p:cNvSpPr txBox="1"/>
          <p:nvPr/>
        </p:nvSpPr>
        <p:spPr>
          <a:xfrm>
            <a:off x="731520" y="2240280"/>
            <a:ext cx="2286000" cy="457200"/>
          </a:xfrm>
          <a:prstGeom prst="rect">
            <a:avLst/>
          </a:prstGeom>
          <a:noFill/>
          <a:ln/>
        </p:spPr>
        <p:txBody>
          <a:bodyPr wrap="square" lIns="0" tIns="0" rIns="0" bIns="0" rtlCol="0" anchor="t"/>
          <a:lstStyle/>
          <a:p>
            <a:pPr indent="0" marL="0">
              <a:buNone/>
            </a:pPr>
            <a:r>
              <a:rPr lang="en-US" sz="1200" dirty="0">
                <a:solidFill>
                  <a:schemeClr val="tx2"/>
                </a:solidFill>
              </a:rPr>
              <a:t>revenue lost per month</a:t>
            </a:r>
            <a:endParaRPr lang="en-US" sz="1200" dirty="0"/>
          </a:p>
        </p:txBody>
      </p:sp>
      <p:sp>
        <p:nvSpPr>
          <p:cNvPr id="8" name="Stat tile"/>
          <p:cNvSpPr/>
          <p:nvPr/>
        </p:nvSpPr>
        <p:spPr>
          <a:xfrm>
            <a:off x="3353105" y="1417320"/>
            <a:ext cx="2651760" cy="1371600"/>
          </a:xfrm>
          <a:prstGeom prst="roundRect">
            <a:avLst>
              <a:gd name="adj" fmla="val 6667"/>
            </a:avLst>
          </a:prstGeom>
          <a:solidFill>
            <a:schemeClr val="bg2"/>
          </a:solidFill>
          <a:ln/>
        </p:spPr>
      </p:sp>
      <p:sp>
        <p:nvSpPr>
          <p:cNvPr id="9" name="Text 6"/>
          <p:cNvSpPr txBox="1"/>
          <p:nvPr/>
        </p:nvSpPr>
        <p:spPr>
          <a:xfrm>
            <a:off x="3535985" y="1508760"/>
            <a:ext cx="2286000" cy="731520"/>
          </a:xfrm>
          <a:prstGeom prst="rect">
            <a:avLst/>
          </a:prstGeom>
          <a:noFill/>
          <a:ln/>
        </p:spPr>
        <p:txBody>
          <a:bodyPr wrap="square" lIns="0" tIns="0" rIns="0" bIns="0" rtlCol="0" anchor="ctr"/>
          <a:lstStyle/>
          <a:p>
            <a:pPr indent="0" marL="0">
              <a:buNone/>
            </a:pPr>
            <a:r>
              <a:rPr lang="en-US" sz="3400" b="1" dirty="0">
                <a:solidFill>
                  <a:schemeClr val="accent1"/>
                </a:solidFill>
              </a:rPr>
              <a:t>$1.67M</a:t>
            </a:r>
            <a:endParaRPr lang="en-US" sz="3400" dirty="0"/>
          </a:p>
        </p:txBody>
      </p:sp>
      <p:sp>
        <p:nvSpPr>
          <p:cNvPr id="10" name="Text 7"/>
          <p:cNvSpPr txBox="1"/>
          <p:nvPr/>
        </p:nvSpPr>
        <p:spPr>
          <a:xfrm>
            <a:off x="3535985" y="2240280"/>
            <a:ext cx="2286000" cy="457200"/>
          </a:xfrm>
          <a:prstGeom prst="rect">
            <a:avLst/>
          </a:prstGeom>
          <a:noFill/>
          <a:ln/>
        </p:spPr>
        <p:txBody>
          <a:bodyPr wrap="square" lIns="0" tIns="0" rIns="0" bIns="0" rtlCol="0" anchor="t"/>
          <a:lstStyle/>
          <a:p>
            <a:pPr indent="0" marL="0">
              <a:buNone/>
            </a:pPr>
            <a:r>
              <a:rPr lang="en-US" sz="1200" dirty="0">
                <a:solidFill>
                  <a:schemeClr val="tx2"/>
                </a:solidFill>
              </a:rPr>
              <a:t>annualised impact (monthly loss x 12)</a:t>
            </a:r>
            <a:endParaRPr lang="en-US" sz="1200" dirty="0"/>
          </a:p>
        </p:txBody>
      </p:sp>
      <p:sp>
        <p:nvSpPr>
          <p:cNvPr id="11" name="Stat tile"/>
          <p:cNvSpPr/>
          <p:nvPr/>
        </p:nvSpPr>
        <p:spPr>
          <a:xfrm>
            <a:off x="6157570" y="1417320"/>
            <a:ext cx="2651760" cy="1371600"/>
          </a:xfrm>
          <a:prstGeom prst="roundRect">
            <a:avLst>
              <a:gd name="adj" fmla="val 6667"/>
            </a:avLst>
          </a:prstGeom>
          <a:solidFill>
            <a:schemeClr val="bg2"/>
          </a:solidFill>
          <a:ln/>
        </p:spPr>
      </p:sp>
      <p:sp>
        <p:nvSpPr>
          <p:cNvPr id="12" name="Text 9"/>
          <p:cNvSpPr txBox="1"/>
          <p:nvPr/>
        </p:nvSpPr>
        <p:spPr>
          <a:xfrm>
            <a:off x="6340450" y="1508760"/>
            <a:ext cx="2286000" cy="731520"/>
          </a:xfrm>
          <a:prstGeom prst="rect">
            <a:avLst/>
          </a:prstGeom>
          <a:noFill/>
          <a:ln/>
        </p:spPr>
        <p:txBody>
          <a:bodyPr wrap="square" lIns="0" tIns="0" rIns="0" bIns="0" rtlCol="0" anchor="ctr"/>
          <a:lstStyle/>
          <a:p>
            <a:pPr indent="0" marL="0">
              <a:buNone/>
            </a:pPr>
            <a:r>
              <a:rPr lang="en-US" sz="3400" b="1" dirty="0">
                <a:solidFill>
                  <a:schemeClr val="accent1"/>
                </a:solidFill>
              </a:rPr>
              <a:t>26.54%</a:t>
            </a:r>
            <a:endParaRPr lang="en-US" sz="3400" dirty="0"/>
          </a:p>
        </p:txBody>
      </p:sp>
      <p:sp>
        <p:nvSpPr>
          <p:cNvPr id="13" name="Text 10"/>
          <p:cNvSpPr txBox="1"/>
          <p:nvPr/>
        </p:nvSpPr>
        <p:spPr>
          <a:xfrm>
            <a:off x="6340450" y="2240280"/>
            <a:ext cx="2286000" cy="457200"/>
          </a:xfrm>
          <a:prstGeom prst="rect">
            <a:avLst/>
          </a:prstGeom>
          <a:noFill/>
          <a:ln/>
        </p:spPr>
        <p:txBody>
          <a:bodyPr wrap="square" lIns="0" tIns="0" rIns="0" bIns="0" rtlCol="0" anchor="t"/>
          <a:lstStyle/>
          <a:p>
            <a:pPr indent="0" marL="0">
              <a:buNone/>
            </a:pPr>
            <a:r>
              <a:rPr lang="en-US" sz="1200" dirty="0">
                <a:solidFill>
                  <a:schemeClr val="tx2"/>
                </a:solidFill>
              </a:rPr>
              <a:t>of customers churned</a:t>
            </a:r>
            <a:endParaRPr lang="en-US" sz="1200" dirty="0"/>
          </a:p>
        </p:txBody>
      </p:sp>
      <p:sp>
        <p:nvSpPr>
          <p:cNvPr id="14" name="Stat tile"/>
          <p:cNvSpPr/>
          <p:nvPr/>
        </p:nvSpPr>
        <p:spPr>
          <a:xfrm>
            <a:off x="8962034" y="1417320"/>
            <a:ext cx="2651760" cy="1371600"/>
          </a:xfrm>
          <a:prstGeom prst="roundRect">
            <a:avLst>
              <a:gd name="adj" fmla="val 6667"/>
            </a:avLst>
          </a:prstGeom>
          <a:solidFill>
            <a:schemeClr val="bg2"/>
          </a:solidFill>
          <a:ln/>
        </p:spPr>
      </p:sp>
      <p:sp>
        <p:nvSpPr>
          <p:cNvPr id="15" name="Text 12"/>
          <p:cNvSpPr txBox="1"/>
          <p:nvPr/>
        </p:nvSpPr>
        <p:spPr>
          <a:xfrm>
            <a:off x="9144914" y="1508760"/>
            <a:ext cx="2286000" cy="731520"/>
          </a:xfrm>
          <a:prstGeom prst="rect">
            <a:avLst/>
          </a:prstGeom>
          <a:noFill/>
          <a:ln/>
        </p:spPr>
        <p:txBody>
          <a:bodyPr wrap="square" lIns="0" tIns="0" rIns="0" bIns="0" rtlCol="0" anchor="ctr"/>
          <a:lstStyle/>
          <a:p>
            <a:pPr indent="0" marL="0">
              <a:buNone/>
            </a:pPr>
            <a:r>
              <a:rPr lang="en-US" sz="3400" b="1" dirty="0">
                <a:solidFill>
                  <a:schemeClr val="accent1"/>
                </a:solidFill>
              </a:rPr>
              <a:t>60.4%</a:t>
            </a:r>
            <a:endParaRPr lang="en-US" sz="3400" dirty="0"/>
          </a:p>
        </p:txBody>
      </p:sp>
      <p:sp>
        <p:nvSpPr>
          <p:cNvPr id="16" name="Text 13"/>
          <p:cNvSpPr txBox="1"/>
          <p:nvPr/>
        </p:nvSpPr>
        <p:spPr>
          <a:xfrm>
            <a:off x="9144914" y="2240280"/>
            <a:ext cx="2286000" cy="457200"/>
          </a:xfrm>
          <a:prstGeom prst="rect">
            <a:avLst/>
          </a:prstGeom>
          <a:noFill/>
          <a:ln/>
        </p:spPr>
        <p:txBody>
          <a:bodyPr wrap="square" lIns="0" tIns="0" rIns="0" bIns="0" rtlCol="0" anchor="t"/>
          <a:lstStyle/>
          <a:p>
            <a:pPr indent="0" marL="0">
              <a:buNone/>
            </a:pPr>
            <a:r>
              <a:rPr lang="en-US" sz="1200" dirty="0">
                <a:solidFill>
                  <a:schemeClr val="tx2"/>
                </a:solidFill>
              </a:rPr>
              <a:t>churn in the Priority Segment</a:t>
            </a:r>
            <a:endParaRPr lang="en-US" sz="1200" dirty="0"/>
          </a:p>
        </p:txBody>
      </p:sp>
      <p:sp>
        <p:nvSpPr>
          <p:cNvPr id="17" name="Number badge"/>
          <p:cNvSpPr/>
          <p:nvPr/>
        </p:nvSpPr>
        <p:spPr>
          <a:xfrm>
            <a:off x="548640" y="3063240"/>
            <a:ext cx="384048" cy="384048"/>
          </a:xfrm>
          <a:prstGeom prst="ellipse">
            <a:avLst/>
          </a:prstGeom>
          <a:solidFill>
            <a:schemeClr val="accent1"/>
          </a:solidFill>
          <a:ln/>
        </p:spPr>
      </p:sp>
      <p:sp>
        <p:nvSpPr>
          <p:cNvPr id="18" name="Text 15"/>
          <p:cNvSpPr txBox="1"/>
          <p:nvPr/>
        </p:nvSpPr>
        <p:spPr>
          <a:xfrm>
            <a:off x="548640" y="3063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9" name="Text 16"/>
          <p:cNvSpPr txBox="1"/>
          <p:nvPr/>
        </p:nvSpPr>
        <p:spPr>
          <a:xfrm>
            <a:off x="1097280" y="3017520"/>
            <a:ext cx="10515600" cy="548640"/>
          </a:xfrm>
          <a:prstGeom prst="rect">
            <a:avLst/>
          </a:prstGeom>
          <a:noFill/>
          <a:ln/>
        </p:spPr>
        <p:txBody>
          <a:bodyPr wrap="square" lIns="0" tIns="0" rIns="0" bIns="0" rtlCol="0" anchor="ctr"/>
          <a:lstStyle/>
          <a:p>
            <a:pPr indent="0" marL="0">
              <a:buNone/>
            </a:pPr>
            <a:r>
              <a:rPr lang="en-US" sz="1400" b="1" dirty="0">
                <a:solidFill>
                  <a:schemeClr val="tx1"/>
                </a:solidFill>
              </a:rPr>
              <a:t>Contract is the biggest lever. </a:t>
            </a:r>
            <a:pPr indent="0" marL="0">
              <a:buNone/>
            </a:pPr>
            <a:r>
              <a:rPr lang="en-US" sz="1400" dirty="0">
                <a:solidFill>
                  <a:schemeClr val="tx1"/>
                </a:solidFill>
              </a:rPr>
              <a:t>Month-to-month customers hold 86.9% of lost revenue and churn at 42.7%, versus 2.8% on two-year plans.</a:t>
            </a:r>
            <a:endParaRPr lang="en-US" sz="1400" dirty="0"/>
          </a:p>
        </p:txBody>
      </p:sp>
      <p:sp>
        <p:nvSpPr>
          <p:cNvPr id="20" name="Number badge"/>
          <p:cNvSpPr/>
          <p:nvPr/>
        </p:nvSpPr>
        <p:spPr>
          <a:xfrm>
            <a:off x="548640" y="3703320"/>
            <a:ext cx="384048" cy="384048"/>
          </a:xfrm>
          <a:prstGeom prst="ellipse">
            <a:avLst/>
          </a:prstGeom>
          <a:solidFill>
            <a:schemeClr val="accent1"/>
          </a:solidFill>
          <a:ln/>
        </p:spPr>
      </p:sp>
      <p:sp>
        <p:nvSpPr>
          <p:cNvPr id="21" name="Text 18"/>
          <p:cNvSpPr txBox="1"/>
          <p:nvPr/>
        </p:nvSpPr>
        <p:spPr>
          <a:xfrm>
            <a:off x="548640" y="37033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2" name="Text 19"/>
          <p:cNvSpPr txBox="1"/>
          <p:nvPr/>
        </p:nvSpPr>
        <p:spPr>
          <a:xfrm>
            <a:off x="1097280" y="3657600"/>
            <a:ext cx="10515600" cy="548640"/>
          </a:xfrm>
          <a:prstGeom prst="rect">
            <a:avLst/>
          </a:prstGeom>
          <a:noFill/>
          <a:ln/>
        </p:spPr>
        <p:txBody>
          <a:bodyPr wrap="square" lIns="0" tIns="0" rIns="0" bIns="0" rtlCol="0" anchor="ctr"/>
          <a:lstStyle/>
          <a:p>
            <a:pPr indent="0" marL="0">
              <a:buNone/>
            </a:pPr>
            <a:r>
              <a:rPr lang="en-US" sz="1400" b="1" dirty="0">
                <a:solidFill>
                  <a:schemeClr val="tx1"/>
                </a:solidFill>
              </a:rPr>
              <a:t>Fiber and electronic check compound the risk. </a:t>
            </a:r>
            <a:pPr indent="0" marL="0">
              <a:buNone/>
            </a:pPr>
            <a:r>
              <a:rPr lang="en-US" sz="1400" dirty="0">
                <a:solidFill>
                  <a:schemeClr val="tx1"/>
                </a:solidFill>
              </a:rPr>
              <a:t>Fiber holds 82.2% of lost revenue; electronic check churns at 45.3% versus 15 to 19% for other payment methods.</a:t>
            </a:r>
            <a:endParaRPr lang="en-US" sz="1400" dirty="0"/>
          </a:p>
        </p:txBody>
      </p:sp>
      <p:sp>
        <p:nvSpPr>
          <p:cNvPr id="23" name="Number badge"/>
          <p:cNvSpPr/>
          <p:nvPr/>
        </p:nvSpPr>
        <p:spPr>
          <a:xfrm>
            <a:off x="548640" y="4343400"/>
            <a:ext cx="384048" cy="384048"/>
          </a:xfrm>
          <a:prstGeom prst="ellipse">
            <a:avLst/>
          </a:prstGeom>
          <a:solidFill>
            <a:schemeClr val="accent1"/>
          </a:solidFill>
          <a:ln/>
        </p:spPr>
      </p:sp>
      <p:sp>
        <p:nvSpPr>
          <p:cNvPr id="24" name="Text 21"/>
          <p:cNvSpPr txBox="1"/>
          <p:nvPr/>
        </p:nvSpPr>
        <p:spPr>
          <a:xfrm>
            <a:off x="548640" y="43434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5" name="Text 22"/>
          <p:cNvSpPr txBox="1"/>
          <p:nvPr/>
        </p:nvSpPr>
        <p:spPr>
          <a:xfrm>
            <a:off x="1097280" y="4297680"/>
            <a:ext cx="10515600" cy="548640"/>
          </a:xfrm>
          <a:prstGeom prst="rect">
            <a:avLst/>
          </a:prstGeom>
          <a:noFill/>
          <a:ln/>
        </p:spPr>
        <p:txBody>
          <a:bodyPr wrap="square" lIns="0" tIns="0" rIns="0" bIns="0" rtlCol="0" anchor="ctr"/>
          <a:lstStyle/>
          <a:p>
            <a:pPr indent="0" marL="0">
              <a:buNone/>
            </a:pPr>
            <a:r>
              <a:rPr lang="en-US" sz="1400" b="1" dirty="0">
                <a:solidFill>
                  <a:schemeClr val="tx1"/>
                </a:solidFill>
              </a:rPr>
              <a:t>The first year is the danger zone. </a:t>
            </a:r>
            <a:pPr indent="0" marL="0">
              <a:buNone/>
            </a:pPr>
            <a:r>
              <a:rPr lang="en-US" sz="1400" dirty="0">
                <a:solidFill>
                  <a:schemeClr val="tx1"/>
                </a:solidFill>
              </a:rPr>
              <a:t>First-year customers account for 49.6% of lost revenue; churners left after about 18 months versus 38 for retained customers.</a:t>
            </a:r>
            <a:endParaRPr lang="en-US" sz="1400" dirty="0"/>
          </a:p>
        </p:txBody>
      </p:sp>
      <p:sp>
        <p:nvSpPr>
          <p:cNvPr id="26" name="Number badge"/>
          <p:cNvSpPr/>
          <p:nvPr/>
        </p:nvSpPr>
        <p:spPr>
          <a:xfrm>
            <a:off x="548640" y="4983480"/>
            <a:ext cx="384048" cy="384048"/>
          </a:xfrm>
          <a:prstGeom prst="ellipse">
            <a:avLst/>
          </a:prstGeom>
          <a:solidFill>
            <a:schemeClr val="accent1"/>
          </a:solidFill>
          <a:ln/>
        </p:spPr>
      </p:sp>
      <p:sp>
        <p:nvSpPr>
          <p:cNvPr id="27" name="Text 24"/>
          <p:cNvSpPr txBox="1"/>
          <p:nvPr/>
        </p:nvSpPr>
        <p:spPr>
          <a:xfrm>
            <a:off x="548640" y="49834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1097280" y="4937760"/>
            <a:ext cx="10515600" cy="548640"/>
          </a:xfrm>
          <a:prstGeom prst="rect">
            <a:avLst/>
          </a:prstGeom>
          <a:noFill/>
          <a:ln/>
        </p:spPr>
        <p:txBody>
          <a:bodyPr wrap="square" lIns="0" tIns="0" rIns="0" bIns="0" rtlCol="0" anchor="ctr"/>
          <a:lstStyle/>
          <a:p>
            <a:pPr indent="0" marL="0">
              <a:buNone/>
            </a:pPr>
            <a:r>
              <a:rPr lang="en-US" sz="1400" b="1" dirty="0">
                <a:solidFill>
                  <a:schemeClr val="tx1"/>
                </a:solidFill>
              </a:rPr>
              <a:t>One segment drives half the loss. </a:t>
            </a:r>
            <a:pPr indent="0" marL="0">
              <a:buNone/>
            </a:pPr>
            <a:r>
              <a:rPr lang="en-US" sz="1400" dirty="0">
                <a:solidFill>
                  <a:schemeClr val="tx1"/>
                </a:solidFill>
              </a:rPr>
              <a:t>Month-to-month fiber customers paying by electronic check: 1,307 customers, 60.4% churn, 49.1% of lost revenue.</a:t>
            </a:r>
            <a:endParaRPr lang="en-US" sz="1400" dirty="0"/>
          </a:p>
        </p:txBody>
      </p:sp>
      <p:sp>
        <p:nvSpPr>
          <p:cNvPr id="29" name="Number badge"/>
          <p:cNvSpPr/>
          <p:nvPr/>
        </p:nvSpPr>
        <p:spPr>
          <a:xfrm>
            <a:off x="548640" y="5623560"/>
            <a:ext cx="384048" cy="384048"/>
          </a:xfrm>
          <a:prstGeom prst="ellipse">
            <a:avLst/>
          </a:prstGeom>
          <a:solidFill>
            <a:schemeClr val="accent1"/>
          </a:solidFill>
          <a:ln/>
        </p:spPr>
      </p:sp>
      <p:sp>
        <p:nvSpPr>
          <p:cNvPr id="30" name="Text 27"/>
          <p:cNvSpPr txBox="1"/>
          <p:nvPr/>
        </p:nvSpPr>
        <p:spPr>
          <a:xfrm>
            <a:off x="548640" y="56235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1" name="Text 28"/>
          <p:cNvSpPr txBox="1"/>
          <p:nvPr/>
        </p:nvSpPr>
        <p:spPr>
          <a:xfrm>
            <a:off x="1097280" y="5577840"/>
            <a:ext cx="10515600" cy="548640"/>
          </a:xfrm>
          <a:prstGeom prst="rect">
            <a:avLst/>
          </a:prstGeom>
          <a:noFill/>
          <a:ln/>
        </p:spPr>
        <p:txBody>
          <a:bodyPr wrap="square" lIns="0" tIns="0" rIns="0" bIns="0" rtlCol="0" anchor="ctr"/>
          <a:lstStyle/>
          <a:p>
            <a:pPr indent="0" marL="0">
              <a:buNone/>
            </a:pPr>
            <a:r>
              <a:rPr lang="en-US" sz="1400" b="1" dirty="0">
                <a:solidFill>
                  <a:schemeClr val="tx1"/>
                </a:solidFill>
              </a:rPr>
              <a:t>Protection add-ons coincide with retention. </a:t>
            </a:r>
            <a:pPr indent="0" marL="0">
              <a:buNone/>
            </a:pPr>
            <a:r>
              <a:rPr lang="en-US" sz="1400" dirty="0">
                <a:solidFill>
                  <a:schemeClr val="tx1"/>
                </a:solidFill>
              </a:rPr>
              <a:t>Churn is 56.7% with none of the four protective add-ons and 5.3% with all four; every top-20 churned payer was on fiber.</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STAKEHOLDER MAP</a:t>
            </a:r>
            <a:endParaRPr lang="en-US" sz="1200" dirty="0"/>
          </a:p>
        </p:txBody>
      </p:sp>
      <p:sp>
        <p:nvSpPr>
          <p:cNvPr id="3" name="Text 0"/>
          <p:cNvSpPr/>
          <p:nvPr>
            <p:ph idx="100"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Who should use which dashboard page</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377440"/>
                <a:gridCol w="2926080"/>
                <a:gridCol w="3108960"/>
                <a:gridCol w="2679192"/>
              </a:tblGrid>
              <a:tr h="411480">
                <a:tc>
                  <a:txBody>
                    <a:bodyPr/>
                    <a:lstStyle/>
                    <a:p>
                      <a:pPr indent="0" marL="0">
                        <a:buNone/>
                      </a:pPr>
                      <a:r>
                        <a:rPr lang="en-US" sz="1300" b="1" dirty="0">
                          <a:solidFill>
                            <a:srgbClr val="FFFFFF"/>
                          </a:solidFill>
                        </a:rPr>
                        <a:t>Page</a:t>
                      </a:r>
                      <a:endParaRPr lang="en-US" sz="1300" dirty="0"/>
                    </a:p>
                  </a:txBody>
                  <a:tcPr marL="109728" marR="109728" marT="73152" marB="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3A3F47"/>
                    </a:solidFill>
                  </a:tcPr>
                </a:tc>
                <a:tc>
                  <a:txBody>
                    <a:bodyPr/>
                    <a:lstStyle/>
                    <a:p>
                      <a:pPr indent="0" marL="0">
                        <a:buNone/>
                      </a:pPr>
                      <a:r>
                        <a:rPr lang="en-US" sz="1300" b="1" dirty="0">
                          <a:solidFill>
                            <a:srgbClr val="FFFFFF"/>
                          </a:solidFill>
                        </a:rPr>
                        <a:t>Primary stakeholders</a:t>
                      </a:r>
                      <a:endParaRPr lang="en-US" sz="1300" dirty="0"/>
                    </a:p>
                  </a:txBody>
                  <a:tcPr marL="109728" marR="109728" marT="73152" marB="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3A3F47"/>
                    </a:solidFill>
                  </a:tcPr>
                </a:tc>
                <a:tc>
                  <a:txBody>
                    <a:bodyPr/>
                    <a:lstStyle/>
                    <a:p>
                      <a:pPr indent="0" marL="0">
                        <a:buNone/>
                      </a:pPr>
                      <a:r>
                        <a:rPr lang="en-US" sz="1300" b="1" dirty="0">
                          <a:solidFill>
                            <a:srgbClr val="FFFFFF"/>
                          </a:solidFill>
                        </a:rPr>
                        <a:t>Core business question</a:t>
                      </a:r>
                      <a:endParaRPr lang="en-US" sz="1300" dirty="0"/>
                    </a:p>
                  </a:txBody>
                  <a:tcPr marL="109728" marR="109728" marT="73152" marB="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3A3F47"/>
                    </a:solidFill>
                  </a:tcPr>
                </a:tc>
                <a:tc>
                  <a:txBody>
                    <a:bodyPr/>
                    <a:lstStyle/>
                    <a:p>
                      <a:pPr indent="0" marL="0">
                        <a:buNone/>
                      </a:pPr>
                      <a:r>
                        <a:rPr lang="en-US" sz="1300" b="1" dirty="0">
                          <a:solidFill>
                            <a:srgbClr val="FFFFFF"/>
                          </a:solidFill>
                        </a:rPr>
                        <a:t>Decision it supports</a:t>
                      </a:r>
                      <a:endParaRPr lang="en-US" sz="1300" dirty="0"/>
                    </a:p>
                  </a:txBody>
                  <a:tcPr marL="109728" marR="109728" marT="73152" marB="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3A3F47"/>
                    </a:solidFill>
                  </a:tcPr>
                </a:tc>
              </a:tr>
              <a:tr h="777240">
                <a:tc>
                  <a:txBody>
                    <a:bodyPr/>
                    <a:lstStyle/>
                    <a:p>
                      <a:pPr indent="0" marL="0">
                        <a:buNone/>
                      </a:pPr>
                      <a:r>
                        <a:rPr lang="en-US" sz="1200" b="1" dirty="0">
                          <a:solidFill>
                            <a:srgbClr val="000000"/>
                          </a:solidFill>
                        </a:rPr>
                        <a:t>1  Executive Summary</a:t>
                      </a:r>
                      <a:endParaRPr lang="en-US" sz="1200" dirty="0"/>
                    </a:p>
                  </a:txBody>
                  <a:tcPr marL="109728" marR="109728" marT="73152" marB="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CEO, CFO, executive leadership</a:t>
                      </a:r>
                      <a:endParaRPr lang="en-US" sz="1200" dirty="0"/>
                    </a:p>
                  </a:txBody>
                  <a:tcPr marL="109728" marR="109728" marT="73152" marB="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How much revenue is churn costing us?</a:t>
                      </a:r>
                      <a:endParaRPr lang="en-US" sz="1200" dirty="0"/>
                    </a:p>
                  </a:txBody>
                  <a:tcPr marL="109728" marR="109728" marT="73152" marB="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Make retention a company priority and size the budget</a:t>
                      </a:r>
                      <a:endParaRPr lang="en-US" sz="1200" dirty="0"/>
                    </a:p>
                  </a:txBody>
                  <a:tcPr marL="109728" marR="109728" marT="73152" marB="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777240">
                <a:tc>
                  <a:txBody>
                    <a:bodyPr/>
                    <a:lstStyle/>
                    <a:p>
                      <a:pPr indent="0" marL="0">
                        <a:buNone/>
                      </a:pPr>
                      <a:r>
                        <a:rPr lang="en-US" sz="1200" b="1" dirty="0">
                          <a:solidFill>
                            <a:srgbClr val="000000"/>
                          </a:solidFill>
                        </a:rPr>
                        <a:t>2  Leakage Drivers</a:t>
                      </a:r>
                      <a:endParaRPr lang="en-US" sz="1200" dirty="0"/>
                    </a:p>
                  </a:txBody>
                  <a:tcPr marL="109728" marR="109728" marT="73152" marB="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Heads of Retention, Marketing, Billing and Payments, Product</a:t>
                      </a:r>
                      <a:endParaRPr lang="en-US" sz="1200" dirty="0"/>
                    </a:p>
                  </a:txBody>
                  <a:tcPr marL="109728" marR="109728" marT="73152" marB="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Which contract, service, payment and tenure factors explain the loss?</a:t>
                      </a:r>
                      <a:endParaRPr lang="en-US" sz="1200" dirty="0"/>
                    </a:p>
                  </a:txBody>
                  <a:tcPr marL="109728" marR="109728" marT="73152" marB="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Choose which levers to pull first</a:t>
                      </a:r>
                      <a:endParaRPr lang="en-US" sz="1200" dirty="0"/>
                    </a:p>
                  </a:txBody>
                  <a:tcPr marL="109728" marR="109728" marT="73152" marB="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777240">
                <a:tc>
                  <a:txBody>
                    <a:bodyPr/>
                    <a:lstStyle/>
                    <a:p>
                      <a:pPr indent="0" marL="0">
                        <a:buNone/>
                      </a:pPr>
                      <a:r>
                        <a:rPr lang="en-US" sz="1200" b="1" dirty="0">
                          <a:solidFill>
                            <a:srgbClr val="000000"/>
                          </a:solidFill>
                        </a:rPr>
                        <a:t>3  Segment Deep Dive</a:t>
                      </a:r>
                      <a:endParaRPr lang="en-US" sz="1200" dirty="0"/>
                    </a:p>
                  </a:txBody>
                  <a:tcPr marL="109728" marR="109728" marT="73152" marB="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Retention / CRM, Marketing and Sales, Customer Support</a:t>
                      </a:r>
                      <a:endParaRPr lang="en-US" sz="1200" dirty="0"/>
                    </a:p>
                  </a:txBody>
                  <a:tcPr marL="109728" marR="109728" marT="73152" marB="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Which exact customer groups leak most, and what protects them?</a:t>
                      </a:r>
                      <a:endParaRPr lang="en-US" sz="1200" dirty="0"/>
                    </a:p>
                  </a:txBody>
                  <a:tcPr marL="109728" marR="109728" marT="73152" marB="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Target campaigns and design bundle offers</a:t>
                      </a:r>
                      <a:endParaRPr lang="en-US" sz="1200" dirty="0"/>
                    </a:p>
                  </a:txBody>
                  <a:tcPr marL="109728" marR="109728" marT="73152" marB="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777240">
                <a:tc>
                  <a:txBody>
                    <a:bodyPr/>
                    <a:lstStyle/>
                    <a:p>
                      <a:pPr indent="0" marL="0">
                        <a:buNone/>
                      </a:pPr>
                      <a:r>
                        <a:rPr lang="en-US" sz="1200" b="1" dirty="0">
                          <a:solidFill>
                            <a:srgbClr val="000000"/>
                          </a:solidFill>
                        </a:rPr>
                        <a:t>4  High-Value Customers</a:t>
                      </a:r>
                      <a:endParaRPr lang="en-US" sz="1200" dirty="0"/>
                    </a:p>
                  </a:txBody>
                  <a:tcPr marL="109728" marR="109728" marT="73152" marB="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Key Account / Customer Success, Pricing, Network and Product</a:t>
                      </a:r>
                      <a:endParaRPr lang="en-US" sz="1200" dirty="0"/>
                    </a:p>
                  </a:txBody>
                  <a:tcPr marL="109728" marR="109728" marT="73152" marB="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Which high-paying customers are leaving, and are long-term accounts safe?</a:t>
                      </a:r>
                      <a:endParaRPr lang="en-US" sz="1200" dirty="0"/>
                    </a:p>
                  </a:txBody>
                  <a:tcPr marL="109728" marR="109728" marT="73152" marB="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Protect premium fiber accounts; review price and quality</a:t>
                      </a:r>
                      <a:endParaRPr lang="en-US" sz="1200" dirty="0"/>
                    </a:p>
                  </a:txBody>
                  <a:tcPr marL="109728" marR="109728" marT="73152" marB="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777240">
                <a:tc>
                  <a:txBody>
                    <a:bodyPr/>
                    <a:lstStyle/>
                    <a:p>
                      <a:pPr indent="0" marL="0">
                        <a:buNone/>
                      </a:pPr>
                      <a:r>
                        <a:rPr lang="en-US" sz="1200" b="1" dirty="0">
                          <a:solidFill>
                            <a:srgbClr val="000000"/>
                          </a:solidFill>
                        </a:rPr>
                        <a:t>5  Recommendations</a:t>
                      </a:r>
                      <a:endParaRPr lang="en-US" sz="1200" dirty="0"/>
                    </a:p>
                  </a:txBody>
                  <a:tcPr marL="109728" marR="109728" marT="73152" marB="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Cross-functional leadership team, Finance</a:t>
                      </a:r>
                      <a:endParaRPr lang="en-US" sz="1200" dirty="0"/>
                    </a:p>
                  </a:txBody>
                  <a:tcPr marL="109728" marR="109728" marT="73152" marB="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What should we do, for whom, and what is at stake?</a:t>
                      </a:r>
                      <a:endParaRPr lang="en-US" sz="1200" dirty="0"/>
                    </a:p>
                  </a:txBody>
                  <a:tcPr marL="109728" marR="109728" marT="73152" marB="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Approve pilots with measurable targets</a:t>
                      </a:r>
                      <a:endParaRPr lang="en-US" sz="1200" dirty="0"/>
                    </a:p>
                  </a:txBody>
                  <a:tcPr marL="109728" marR="109728" marT="73152" marB="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PAGE 1  |  EXECUTIVE SUMMARY</a:t>
            </a:r>
            <a:endParaRPr lang="en-US" sz="1200" dirty="0"/>
          </a:p>
        </p:txBody>
      </p:sp>
      <p:sp>
        <p:nvSpPr>
          <p:cNvPr id="3" name="Text 0"/>
          <p:cNvSpPr/>
          <p:nvPr>
            <p:ph idx="100"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Five KPIs size the problem</a:t>
            </a:r>
            <a:endParaRPr lang="en-US" sz="3000" dirty="0"/>
          </a:p>
        </p:txBody>
      </p:sp>
      <p:sp>
        <p:nvSpPr>
          <p:cNvPr id="5" name="KPI card"/>
          <p:cNvSpPr/>
          <p:nvPr/>
        </p:nvSpPr>
        <p:spPr>
          <a:xfrm>
            <a:off x="548640" y="1417320"/>
            <a:ext cx="2103120" cy="4754880"/>
          </a:xfrm>
          <a:prstGeom prst="roundRect">
            <a:avLst>
              <a:gd name="adj" fmla="val 4348"/>
            </a:avLst>
          </a:prstGeom>
          <a:solidFill>
            <a:schemeClr val="bg2"/>
          </a:solidFill>
          <a:ln/>
        </p:spPr>
      </p:sp>
      <p:sp>
        <p:nvSpPr>
          <p:cNvPr id="6" name="Text 3"/>
          <p:cNvSpPr txBox="1"/>
          <p:nvPr/>
        </p:nvSpPr>
        <p:spPr>
          <a:xfrm>
            <a:off x="731520" y="1554480"/>
            <a:ext cx="1737360" cy="640080"/>
          </a:xfrm>
          <a:prstGeom prst="rect">
            <a:avLst/>
          </a:prstGeom>
          <a:noFill/>
          <a:ln/>
        </p:spPr>
        <p:txBody>
          <a:bodyPr wrap="square" lIns="0" tIns="0" rIns="0" bIns="0" rtlCol="0" anchor="ctr"/>
          <a:lstStyle/>
          <a:p>
            <a:pPr indent="0" marL="0">
              <a:buNone/>
            </a:pPr>
            <a:r>
              <a:rPr lang="en-US" sz="2800" b="1" dirty="0">
                <a:solidFill>
                  <a:schemeClr val="tx1"/>
                </a:solidFill>
              </a:rPr>
              <a:t>7,043</a:t>
            </a:r>
            <a:endParaRPr lang="en-US" sz="2800" dirty="0"/>
          </a:p>
        </p:txBody>
      </p:sp>
      <p:sp>
        <p:nvSpPr>
          <p:cNvPr id="7" name="Text 4"/>
          <p:cNvSpPr txBox="1"/>
          <p:nvPr/>
        </p:nvSpPr>
        <p:spPr>
          <a:xfrm>
            <a:off x="731520" y="2194560"/>
            <a:ext cx="1737360" cy="365760"/>
          </a:xfrm>
          <a:prstGeom prst="rect">
            <a:avLst/>
          </a:prstGeom>
          <a:noFill/>
          <a:ln/>
        </p:spPr>
        <p:txBody>
          <a:bodyPr wrap="square" lIns="0" tIns="0" rIns="0" bIns="0" rtlCol="0" anchor="t"/>
          <a:lstStyle/>
          <a:p>
            <a:pPr indent="0" marL="0">
              <a:buNone/>
            </a:pPr>
            <a:r>
              <a:rPr lang="en-US" sz="1400" b="1" dirty="0">
                <a:solidFill>
                  <a:schemeClr val="tx2"/>
                </a:solidFill>
              </a:rPr>
              <a:t>Total Customers</a:t>
            </a:r>
            <a:endParaRPr lang="en-US" sz="1400" dirty="0"/>
          </a:p>
        </p:txBody>
      </p:sp>
      <p:sp>
        <p:nvSpPr>
          <p:cNvPr id="8" name="Text 5"/>
          <p:cNvSpPr txBox="1"/>
          <p:nvPr/>
        </p:nvSpPr>
        <p:spPr>
          <a:xfrm>
            <a:off x="731520" y="2743200"/>
            <a:ext cx="1737360" cy="228600"/>
          </a:xfrm>
          <a:prstGeom prst="rect">
            <a:avLst/>
          </a:prstGeom>
          <a:noFill/>
          <a:ln/>
        </p:spPr>
        <p:txBody>
          <a:bodyPr wrap="square" lIns="0" tIns="0" rIns="0" bIns="0" rtlCol="0" anchor="t"/>
          <a:lstStyle/>
          <a:p>
            <a:pPr indent="0" marL="0">
              <a:buNone/>
            </a:pPr>
            <a:r>
              <a:rPr lang="en-US" sz="1100" b="1" dirty="0">
                <a:solidFill>
                  <a:schemeClr val="accent1"/>
                </a:solidFill>
              </a:rPr>
              <a:t>BUSINESS QUESTION</a:t>
            </a:r>
            <a:endParaRPr lang="en-US" sz="1100" dirty="0"/>
          </a:p>
        </p:txBody>
      </p:sp>
      <p:sp>
        <p:nvSpPr>
          <p:cNvPr id="9" name="Text 6"/>
          <p:cNvSpPr txBox="1"/>
          <p:nvPr/>
        </p:nvSpPr>
        <p:spPr>
          <a:xfrm>
            <a:off x="731520" y="2999232"/>
            <a:ext cx="1737360" cy="1188720"/>
          </a:xfrm>
          <a:prstGeom prst="rect">
            <a:avLst/>
          </a:prstGeom>
          <a:noFill/>
          <a:ln/>
        </p:spPr>
        <p:txBody>
          <a:bodyPr wrap="square" lIns="0" tIns="0" rIns="0" bIns="0" rtlCol="0" anchor="t"/>
          <a:lstStyle/>
          <a:p>
            <a:pPr indent="0" marL="0">
              <a:buNone/>
            </a:pPr>
            <a:r>
              <a:rPr lang="en-US" sz="1400" i="1" dirty="0">
                <a:solidFill>
                  <a:schemeClr val="tx1"/>
                </a:solidFill>
              </a:rPr>
              <a:t>How large is the customer base we are protecting?</a:t>
            </a:r>
            <a:endParaRPr lang="en-US" sz="1400" dirty="0"/>
          </a:p>
        </p:txBody>
      </p:sp>
      <p:sp>
        <p:nvSpPr>
          <p:cNvPr id="10" name="Text 7"/>
          <p:cNvSpPr txBox="1"/>
          <p:nvPr/>
        </p:nvSpPr>
        <p:spPr>
          <a:xfrm>
            <a:off x="731520" y="4297680"/>
            <a:ext cx="1737360" cy="228600"/>
          </a:xfrm>
          <a:prstGeom prst="rect">
            <a:avLst/>
          </a:prstGeom>
          <a:noFill/>
          <a:ln/>
        </p:spPr>
        <p:txBody>
          <a:bodyPr wrap="square" lIns="0" tIns="0" rIns="0" bIns="0" rtlCol="0" anchor="t"/>
          <a:lstStyle/>
          <a:p>
            <a:pPr indent="0" marL="0">
              <a:buNone/>
            </a:pPr>
            <a:r>
              <a:rPr lang="en-US" sz="1100" b="1" dirty="0">
                <a:solidFill>
                  <a:schemeClr val="accent1"/>
                </a:solidFill>
              </a:rPr>
              <a:t>HOW TO READ IT</a:t>
            </a:r>
            <a:endParaRPr lang="en-US" sz="1100" dirty="0"/>
          </a:p>
        </p:txBody>
      </p:sp>
      <p:sp>
        <p:nvSpPr>
          <p:cNvPr id="11" name="Text 8"/>
          <p:cNvSpPr txBox="1"/>
          <p:nvPr/>
        </p:nvSpPr>
        <p:spPr>
          <a:xfrm>
            <a:off x="731520" y="4553712"/>
            <a:ext cx="1737360" cy="1463040"/>
          </a:xfrm>
          <a:prstGeom prst="rect">
            <a:avLst/>
          </a:prstGeom>
          <a:noFill/>
          <a:ln/>
        </p:spPr>
        <p:txBody>
          <a:bodyPr wrap="square" lIns="0" tIns="0" rIns="0" bIns="0" rtlCol="0" anchor="t"/>
          <a:lstStyle/>
          <a:p>
            <a:pPr indent="0" marL="0">
              <a:buNone/>
            </a:pPr>
            <a:r>
              <a:rPr lang="en-US" sz="1300" dirty="0">
                <a:solidFill>
                  <a:schemeClr val="tx1"/>
                </a:solidFill>
              </a:rPr>
              <a:t>The denominator behind every rate in the dashboard.</a:t>
            </a:r>
            <a:endParaRPr lang="en-US" sz="1300" dirty="0"/>
          </a:p>
        </p:txBody>
      </p:sp>
      <p:sp>
        <p:nvSpPr>
          <p:cNvPr id="12" name="KPI card"/>
          <p:cNvSpPr/>
          <p:nvPr/>
        </p:nvSpPr>
        <p:spPr>
          <a:xfrm>
            <a:off x="2788920" y="1417320"/>
            <a:ext cx="2103120" cy="4754880"/>
          </a:xfrm>
          <a:prstGeom prst="roundRect">
            <a:avLst>
              <a:gd name="adj" fmla="val 4348"/>
            </a:avLst>
          </a:prstGeom>
          <a:solidFill>
            <a:schemeClr val="bg2"/>
          </a:solidFill>
          <a:ln/>
        </p:spPr>
      </p:sp>
      <p:sp>
        <p:nvSpPr>
          <p:cNvPr id="13" name="Text 10"/>
          <p:cNvSpPr txBox="1"/>
          <p:nvPr/>
        </p:nvSpPr>
        <p:spPr>
          <a:xfrm>
            <a:off x="2971800" y="1554480"/>
            <a:ext cx="1737360" cy="640080"/>
          </a:xfrm>
          <a:prstGeom prst="rect">
            <a:avLst/>
          </a:prstGeom>
          <a:noFill/>
          <a:ln/>
        </p:spPr>
        <p:txBody>
          <a:bodyPr wrap="square" lIns="0" tIns="0" rIns="0" bIns="0" rtlCol="0" anchor="ctr"/>
          <a:lstStyle/>
          <a:p>
            <a:pPr indent="0" marL="0">
              <a:buNone/>
            </a:pPr>
            <a:r>
              <a:rPr lang="en-US" sz="2800" b="1" dirty="0">
                <a:solidFill>
                  <a:schemeClr val="tx1"/>
                </a:solidFill>
              </a:rPr>
              <a:t>26.54%</a:t>
            </a:r>
            <a:endParaRPr lang="en-US" sz="2800" dirty="0"/>
          </a:p>
        </p:txBody>
      </p:sp>
      <p:sp>
        <p:nvSpPr>
          <p:cNvPr id="14" name="Text 11"/>
          <p:cNvSpPr txBox="1"/>
          <p:nvPr/>
        </p:nvSpPr>
        <p:spPr>
          <a:xfrm>
            <a:off x="2971800" y="2194560"/>
            <a:ext cx="1737360" cy="365760"/>
          </a:xfrm>
          <a:prstGeom prst="rect">
            <a:avLst/>
          </a:prstGeom>
          <a:noFill/>
          <a:ln/>
        </p:spPr>
        <p:txBody>
          <a:bodyPr wrap="square" lIns="0" tIns="0" rIns="0" bIns="0" rtlCol="0" anchor="t"/>
          <a:lstStyle/>
          <a:p>
            <a:pPr indent="0" marL="0">
              <a:buNone/>
            </a:pPr>
            <a:r>
              <a:rPr lang="en-US" sz="1400" b="1" dirty="0">
                <a:solidFill>
                  <a:schemeClr val="tx2"/>
                </a:solidFill>
              </a:rPr>
              <a:t>Churn Rate</a:t>
            </a:r>
            <a:endParaRPr lang="en-US" sz="1400" dirty="0"/>
          </a:p>
        </p:txBody>
      </p:sp>
      <p:sp>
        <p:nvSpPr>
          <p:cNvPr id="15" name="Text 12"/>
          <p:cNvSpPr txBox="1"/>
          <p:nvPr/>
        </p:nvSpPr>
        <p:spPr>
          <a:xfrm>
            <a:off x="2971800" y="2743200"/>
            <a:ext cx="1737360" cy="228600"/>
          </a:xfrm>
          <a:prstGeom prst="rect">
            <a:avLst/>
          </a:prstGeom>
          <a:noFill/>
          <a:ln/>
        </p:spPr>
        <p:txBody>
          <a:bodyPr wrap="square" lIns="0" tIns="0" rIns="0" bIns="0" rtlCol="0" anchor="t"/>
          <a:lstStyle/>
          <a:p>
            <a:pPr indent="0" marL="0">
              <a:buNone/>
            </a:pPr>
            <a:r>
              <a:rPr lang="en-US" sz="1100" b="1" dirty="0">
                <a:solidFill>
                  <a:schemeClr val="accent1"/>
                </a:solidFill>
              </a:rPr>
              <a:t>BUSINESS QUESTION</a:t>
            </a:r>
            <a:endParaRPr lang="en-US" sz="1100" dirty="0"/>
          </a:p>
        </p:txBody>
      </p:sp>
      <p:sp>
        <p:nvSpPr>
          <p:cNvPr id="16" name="Text 13"/>
          <p:cNvSpPr txBox="1"/>
          <p:nvPr/>
        </p:nvSpPr>
        <p:spPr>
          <a:xfrm>
            <a:off x="2971800" y="2999232"/>
            <a:ext cx="1737360" cy="1188720"/>
          </a:xfrm>
          <a:prstGeom prst="rect">
            <a:avLst/>
          </a:prstGeom>
          <a:noFill/>
          <a:ln/>
        </p:spPr>
        <p:txBody>
          <a:bodyPr wrap="square" lIns="0" tIns="0" rIns="0" bIns="0" rtlCol="0" anchor="t"/>
          <a:lstStyle/>
          <a:p>
            <a:pPr indent="0" marL="0">
              <a:buNone/>
            </a:pPr>
            <a:r>
              <a:rPr lang="en-US" sz="1400" i="1" dirty="0">
                <a:solidFill>
                  <a:schemeClr val="tx1"/>
                </a:solidFill>
              </a:rPr>
              <a:t>What share of customers has left?</a:t>
            </a:r>
            <a:endParaRPr lang="en-US" sz="1400" dirty="0"/>
          </a:p>
        </p:txBody>
      </p:sp>
      <p:sp>
        <p:nvSpPr>
          <p:cNvPr id="17" name="Text 14"/>
          <p:cNvSpPr txBox="1"/>
          <p:nvPr/>
        </p:nvSpPr>
        <p:spPr>
          <a:xfrm>
            <a:off x="2971800" y="4297680"/>
            <a:ext cx="1737360" cy="228600"/>
          </a:xfrm>
          <a:prstGeom prst="rect">
            <a:avLst/>
          </a:prstGeom>
          <a:noFill/>
          <a:ln/>
        </p:spPr>
        <p:txBody>
          <a:bodyPr wrap="square" lIns="0" tIns="0" rIns="0" bIns="0" rtlCol="0" anchor="t"/>
          <a:lstStyle/>
          <a:p>
            <a:pPr indent="0" marL="0">
              <a:buNone/>
            </a:pPr>
            <a:r>
              <a:rPr lang="en-US" sz="1100" b="1" dirty="0">
                <a:solidFill>
                  <a:schemeClr val="accent1"/>
                </a:solidFill>
              </a:rPr>
              <a:t>HOW TO READ IT</a:t>
            </a:r>
            <a:endParaRPr lang="en-US" sz="1100" dirty="0"/>
          </a:p>
        </p:txBody>
      </p:sp>
      <p:sp>
        <p:nvSpPr>
          <p:cNvPr id="18" name="Text 15"/>
          <p:cNvSpPr txBox="1"/>
          <p:nvPr/>
        </p:nvSpPr>
        <p:spPr>
          <a:xfrm>
            <a:off x="2971800" y="4553712"/>
            <a:ext cx="1737360" cy="1463040"/>
          </a:xfrm>
          <a:prstGeom prst="rect">
            <a:avLst/>
          </a:prstGeom>
          <a:noFill/>
          <a:ln/>
        </p:spPr>
        <p:txBody>
          <a:bodyPr wrap="square" lIns="0" tIns="0" rIns="0" bIns="0" rtlCol="0" anchor="t"/>
          <a:lstStyle/>
          <a:p>
            <a:pPr indent="0" marL="0">
              <a:buNone/>
            </a:pPr>
            <a:r>
              <a:rPr lang="en-US" sz="1300" dirty="0">
                <a:solidFill>
                  <a:schemeClr val="tx1"/>
                </a:solidFill>
              </a:rPr>
              <a:t>About 1 in 4 customers. The benchmark for every segment.</a:t>
            </a:r>
            <a:endParaRPr lang="en-US" sz="1300" dirty="0"/>
          </a:p>
        </p:txBody>
      </p:sp>
      <p:sp>
        <p:nvSpPr>
          <p:cNvPr id="19" name="KPI card"/>
          <p:cNvSpPr/>
          <p:nvPr/>
        </p:nvSpPr>
        <p:spPr>
          <a:xfrm>
            <a:off x="5029200" y="1417320"/>
            <a:ext cx="2103120" cy="4754880"/>
          </a:xfrm>
          <a:prstGeom prst="roundRect">
            <a:avLst>
              <a:gd name="adj" fmla="val 4348"/>
            </a:avLst>
          </a:prstGeom>
          <a:solidFill>
            <a:schemeClr val="bg2"/>
          </a:solidFill>
          <a:ln/>
        </p:spPr>
      </p:sp>
      <p:sp>
        <p:nvSpPr>
          <p:cNvPr id="20" name="Text 17"/>
          <p:cNvSpPr txBox="1"/>
          <p:nvPr/>
        </p:nvSpPr>
        <p:spPr>
          <a:xfrm>
            <a:off x="5212080" y="1554480"/>
            <a:ext cx="1737360" cy="640080"/>
          </a:xfrm>
          <a:prstGeom prst="rect">
            <a:avLst/>
          </a:prstGeom>
          <a:noFill/>
          <a:ln/>
        </p:spPr>
        <p:txBody>
          <a:bodyPr wrap="square" lIns="0" tIns="0" rIns="0" bIns="0" rtlCol="0" anchor="ctr"/>
          <a:lstStyle/>
          <a:p>
            <a:pPr indent="0" marL="0">
              <a:buNone/>
            </a:pPr>
            <a:r>
              <a:rPr lang="en-US" sz="2800" b="1" dirty="0">
                <a:solidFill>
                  <a:schemeClr val="tx1"/>
                </a:solidFill>
              </a:rPr>
              <a:t>$456.1K</a:t>
            </a:r>
            <a:endParaRPr lang="en-US" sz="2800" dirty="0"/>
          </a:p>
        </p:txBody>
      </p:sp>
      <p:sp>
        <p:nvSpPr>
          <p:cNvPr id="21" name="Text 18"/>
          <p:cNvSpPr txBox="1"/>
          <p:nvPr/>
        </p:nvSpPr>
        <p:spPr>
          <a:xfrm>
            <a:off x="5212080" y="2194560"/>
            <a:ext cx="1737360" cy="365760"/>
          </a:xfrm>
          <a:prstGeom prst="rect">
            <a:avLst/>
          </a:prstGeom>
          <a:noFill/>
          <a:ln/>
        </p:spPr>
        <p:txBody>
          <a:bodyPr wrap="square" lIns="0" tIns="0" rIns="0" bIns="0" rtlCol="0" anchor="t"/>
          <a:lstStyle/>
          <a:p>
            <a:pPr indent="0" marL="0">
              <a:buNone/>
            </a:pPr>
            <a:r>
              <a:rPr lang="en-US" sz="1400" b="1" dirty="0">
                <a:solidFill>
                  <a:schemeClr val="tx2"/>
                </a:solidFill>
              </a:rPr>
              <a:t>Monthly Revenue</a:t>
            </a:r>
            <a:endParaRPr lang="en-US" sz="1400" dirty="0"/>
          </a:p>
        </p:txBody>
      </p:sp>
      <p:sp>
        <p:nvSpPr>
          <p:cNvPr id="22" name="Text 19"/>
          <p:cNvSpPr txBox="1"/>
          <p:nvPr/>
        </p:nvSpPr>
        <p:spPr>
          <a:xfrm>
            <a:off x="5212080" y="2743200"/>
            <a:ext cx="1737360" cy="228600"/>
          </a:xfrm>
          <a:prstGeom prst="rect">
            <a:avLst/>
          </a:prstGeom>
          <a:noFill/>
          <a:ln/>
        </p:spPr>
        <p:txBody>
          <a:bodyPr wrap="square" lIns="0" tIns="0" rIns="0" bIns="0" rtlCol="0" anchor="t"/>
          <a:lstStyle/>
          <a:p>
            <a:pPr indent="0" marL="0">
              <a:buNone/>
            </a:pPr>
            <a:r>
              <a:rPr lang="en-US" sz="1100" b="1" dirty="0">
                <a:solidFill>
                  <a:schemeClr val="accent1"/>
                </a:solidFill>
              </a:rPr>
              <a:t>BUSINESS QUESTION</a:t>
            </a:r>
            <a:endParaRPr lang="en-US" sz="1100" dirty="0"/>
          </a:p>
        </p:txBody>
      </p:sp>
      <p:sp>
        <p:nvSpPr>
          <p:cNvPr id="23" name="Text 20"/>
          <p:cNvSpPr txBox="1"/>
          <p:nvPr/>
        </p:nvSpPr>
        <p:spPr>
          <a:xfrm>
            <a:off x="5212080" y="2999232"/>
            <a:ext cx="1737360" cy="1188720"/>
          </a:xfrm>
          <a:prstGeom prst="rect">
            <a:avLst/>
          </a:prstGeom>
          <a:noFill/>
          <a:ln/>
        </p:spPr>
        <p:txBody>
          <a:bodyPr wrap="square" lIns="0" tIns="0" rIns="0" bIns="0" rtlCol="0" anchor="t"/>
          <a:lstStyle/>
          <a:p>
            <a:pPr indent="0" marL="0">
              <a:buNone/>
            </a:pPr>
            <a:r>
              <a:rPr lang="en-US" sz="1400" i="1" dirty="0">
                <a:solidFill>
                  <a:schemeClr val="tx1"/>
                </a:solidFill>
              </a:rPr>
              <a:t>What does the full base bill each month?</a:t>
            </a:r>
            <a:endParaRPr lang="en-US" sz="1400" dirty="0"/>
          </a:p>
        </p:txBody>
      </p:sp>
      <p:sp>
        <p:nvSpPr>
          <p:cNvPr id="24" name="Text 21"/>
          <p:cNvSpPr txBox="1"/>
          <p:nvPr/>
        </p:nvSpPr>
        <p:spPr>
          <a:xfrm>
            <a:off x="5212080" y="4297680"/>
            <a:ext cx="1737360" cy="228600"/>
          </a:xfrm>
          <a:prstGeom prst="rect">
            <a:avLst/>
          </a:prstGeom>
          <a:noFill/>
          <a:ln/>
        </p:spPr>
        <p:txBody>
          <a:bodyPr wrap="square" lIns="0" tIns="0" rIns="0" bIns="0" rtlCol="0" anchor="t"/>
          <a:lstStyle/>
          <a:p>
            <a:pPr indent="0" marL="0">
              <a:buNone/>
            </a:pPr>
            <a:r>
              <a:rPr lang="en-US" sz="1100" b="1" dirty="0">
                <a:solidFill>
                  <a:schemeClr val="accent1"/>
                </a:solidFill>
              </a:rPr>
              <a:t>HOW TO READ IT</a:t>
            </a:r>
            <a:endParaRPr lang="en-US" sz="1100" dirty="0"/>
          </a:p>
        </p:txBody>
      </p:sp>
      <p:sp>
        <p:nvSpPr>
          <p:cNvPr id="25" name="Text 22"/>
          <p:cNvSpPr txBox="1"/>
          <p:nvPr/>
        </p:nvSpPr>
        <p:spPr>
          <a:xfrm>
            <a:off x="5212080" y="4553712"/>
            <a:ext cx="1737360" cy="1463040"/>
          </a:xfrm>
          <a:prstGeom prst="rect">
            <a:avLst/>
          </a:prstGeom>
          <a:noFill/>
          <a:ln/>
        </p:spPr>
        <p:txBody>
          <a:bodyPr wrap="square" lIns="0" tIns="0" rIns="0" bIns="0" rtlCol="0" anchor="t"/>
          <a:lstStyle/>
          <a:p>
            <a:pPr indent="0" marL="0">
              <a:buNone/>
            </a:pPr>
            <a:r>
              <a:rPr lang="en-US" sz="1300" dirty="0">
                <a:solidFill>
                  <a:schemeClr val="tx1"/>
                </a:solidFill>
              </a:rPr>
              <a:t>Current monthly billing, retained and lost combined.</a:t>
            </a:r>
            <a:endParaRPr lang="en-US" sz="1300" dirty="0"/>
          </a:p>
        </p:txBody>
      </p:sp>
      <p:sp>
        <p:nvSpPr>
          <p:cNvPr id="26" name="KPI card"/>
          <p:cNvSpPr/>
          <p:nvPr/>
        </p:nvSpPr>
        <p:spPr>
          <a:xfrm>
            <a:off x="7269480" y="1417320"/>
            <a:ext cx="2103120" cy="4754880"/>
          </a:xfrm>
          <a:prstGeom prst="roundRect">
            <a:avLst>
              <a:gd name="adj" fmla="val 4348"/>
            </a:avLst>
          </a:prstGeom>
          <a:solidFill>
            <a:schemeClr val="bg2"/>
          </a:solidFill>
          <a:ln/>
        </p:spPr>
      </p:sp>
      <p:sp>
        <p:nvSpPr>
          <p:cNvPr id="27" name="Text 24"/>
          <p:cNvSpPr txBox="1"/>
          <p:nvPr/>
        </p:nvSpPr>
        <p:spPr>
          <a:xfrm>
            <a:off x="7452360" y="1554480"/>
            <a:ext cx="1737360" cy="640080"/>
          </a:xfrm>
          <a:prstGeom prst="rect">
            <a:avLst/>
          </a:prstGeom>
          <a:noFill/>
          <a:ln/>
        </p:spPr>
        <p:txBody>
          <a:bodyPr wrap="square" lIns="0" tIns="0" rIns="0" bIns="0" rtlCol="0" anchor="ctr"/>
          <a:lstStyle/>
          <a:p>
            <a:pPr indent="0" marL="0">
              <a:buNone/>
            </a:pPr>
            <a:r>
              <a:rPr lang="en-US" sz="2800" b="1" dirty="0">
                <a:solidFill>
                  <a:schemeClr val="accent1"/>
                </a:solidFill>
              </a:rPr>
              <a:t>$139.1K</a:t>
            </a:r>
            <a:endParaRPr lang="en-US" sz="2800" dirty="0"/>
          </a:p>
        </p:txBody>
      </p:sp>
      <p:sp>
        <p:nvSpPr>
          <p:cNvPr id="28" name="Text 25"/>
          <p:cNvSpPr txBox="1"/>
          <p:nvPr/>
        </p:nvSpPr>
        <p:spPr>
          <a:xfrm>
            <a:off x="7452360" y="2194560"/>
            <a:ext cx="1737360" cy="365760"/>
          </a:xfrm>
          <a:prstGeom prst="rect">
            <a:avLst/>
          </a:prstGeom>
          <a:noFill/>
          <a:ln/>
        </p:spPr>
        <p:txBody>
          <a:bodyPr wrap="square" lIns="0" tIns="0" rIns="0" bIns="0" rtlCol="0" anchor="t"/>
          <a:lstStyle/>
          <a:p>
            <a:pPr indent="0" marL="0">
              <a:buNone/>
            </a:pPr>
            <a:r>
              <a:rPr lang="en-US" sz="1400" b="1" dirty="0">
                <a:solidFill>
                  <a:schemeClr val="tx2"/>
                </a:solidFill>
              </a:rPr>
              <a:t>Revenue Lost per Month</a:t>
            </a:r>
            <a:endParaRPr lang="en-US" sz="1400" dirty="0"/>
          </a:p>
        </p:txBody>
      </p:sp>
      <p:sp>
        <p:nvSpPr>
          <p:cNvPr id="29" name="Text 26"/>
          <p:cNvSpPr txBox="1"/>
          <p:nvPr/>
        </p:nvSpPr>
        <p:spPr>
          <a:xfrm>
            <a:off x="7452360" y="2743200"/>
            <a:ext cx="1737360" cy="228600"/>
          </a:xfrm>
          <a:prstGeom prst="rect">
            <a:avLst/>
          </a:prstGeom>
          <a:noFill/>
          <a:ln/>
        </p:spPr>
        <p:txBody>
          <a:bodyPr wrap="square" lIns="0" tIns="0" rIns="0" bIns="0" rtlCol="0" anchor="t"/>
          <a:lstStyle/>
          <a:p>
            <a:pPr indent="0" marL="0">
              <a:buNone/>
            </a:pPr>
            <a:r>
              <a:rPr lang="en-US" sz="1100" b="1" dirty="0">
                <a:solidFill>
                  <a:schemeClr val="accent1"/>
                </a:solidFill>
              </a:rPr>
              <a:t>BUSINESS QUESTION</a:t>
            </a:r>
            <a:endParaRPr lang="en-US" sz="1100" dirty="0"/>
          </a:p>
        </p:txBody>
      </p:sp>
      <p:sp>
        <p:nvSpPr>
          <p:cNvPr id="30" name="Text 27"/>
          <p:cNvSpPr txBox="1"/>
          <p:nvPr/>
        </p:nvSpPr>
        <p:spPr>
          <a:xfrm>
            <a:off x="7452360" y="2999232"/>
            <a:ext cx="1737360" cy="1188720"/>
          </a:xfrm>
          <a:prstGeom prst="rect">
            <a:avLst/>
          </a:prstGeom>
          <a:noFill/>
          <a:ln/>
        </p:spPr>
        <p:txBody>
          <a:bodyPr wrap="square" lIns="0" tIns="0" rIns="0" bIns="0" rtlCol="0" anchor="t"/>
          <a:lstStyle/>
          <a:p>
            <a:pPr indent="0" marL="0">
              <a:buNone/>
            </a:pPr>
            <a:r>
              <a:rPr lang="en-US" sz="1400" i="1" dirty="0">
                <a:solidFill>
                  <a:schemeClr val="tx1"/>
                </a:solidFill>
              </a:rPr>
              <a:t>How much monthly billing belongs to customers who left?</a:t>
            </a:r>
            <a:endParaRPr lang="en-US" sz="1400" dirty="0"/>
          </a:p>
        </p:txBody>
      </p:sp>
      <p:sp>
        <p:nvSpPr>
          <p:cNvPr id="31" name="Text 28"/>
          <p:cNvSpPr txBox="1"/>
          <p:nvPr/>
        </p:nvSpPr>
        <p:spPr>
          <a:xfrm>
            <a:off x="7452360" y="4297680"/>
            <a:ext cx="1737360" cy="228600"/>
          </a:xfrm>
          <a:prstGeom prst="rect">
            <a:avLst/>
          </a:prstGeom>
          <a:noFill/>
          <a:ln/>
        </p:spPr>
        <p:txBody>
          <a:bodyPr wrap="square" lIns="0" tIns="0" rIns="0" bIns="0" rtlCol="0" anchor="t"/>
          <a:lstStyle/>
          <a:p>
            <a:pPr indent="0" marL="0">
              <a:buNone/>
            </a:pPr>
            <a:r>
              <a:rPr lang="en-US" sz="1100" b="1" dirty="0">
                <a:solidFill>
                  <a:schemeClr val="accent1"/>
                </a:solidFill>
              </a:rPr>
              <a:t>HOW TO READ IT</a:t>
            </a:r>
            <a:endParaRPr lang="en-US" sz="1100" dirty="0"/>
          </a:p>
        </p:txBody>
      </p:sp>
      <p:sp>
        <p:nvSpPr>
          <p:cNvPr id="32" name="Text 29"/>
          <p:cNvSpPr txBox="1"/>
          <p:nvPr/>
        </p:nvSpPr>
        <p:spPr>
          <a:xfrm>
            <a:off x="7452360" y="4553712"/>
            <a:ext cx="1737360" cy="1463040"/>
          </a:xfrm>
          <a:prstGeom prst="rect">
            <a:avLst/>
          </a:prstGeom>
          <a:noFill/>
          <a:ln/>
        </p:spPr>
        <p:txBody>
          <a:bodyPr wrap="square" lIns="0" tIns="0" rIns="0" bIns="0" rtlCol="0" anchor="t"/>
          <a:lstStyle/>
          <a:p>
            <a:pPr indent="0" marL="0">
              <a:buNone/>
            </a:pPr>
            <a:r>
              <a:rPr lang="en-US" sz="1300" dirty="0">
                <a:solidFill>
                  <a:schemeClr val="tx1"/>
                </a:solidFill>
              </a:rPr>
              <a:t>30.5% of billing, above the churn rate because churners pay more.</a:t>
            </a:r>
            <a:endParaRPr lang="en-US" sz="1300" dirty="0"/>
          </a:p>
        </p:txBody>
      </p:sp>
      <p:sp>
        <p:nvSpPr>
          <p:cNvPr id="33" name="KPI card"/>
          <p:cNvSpPr/>
          <p:nvPr/>
        </p:nvSpPr>
        <p:spPr>
          <a:xfrm>
            <a:off x="9509760" y="1417320"/>
            <a:ext cx="2103120" cy="4754880"/>
          </a:xfrm>
          <a:prstGeom prst="roundRect">
            <a:avLst>
              <a:gd name="adj" fmla="val 4348"/>
            </a:avLst>
          </a:prstGeom>
          <a:solidFill>
            <a:schemeClr val="bg2"/>
          </a:solidFill>
          <a:ln/>
        </p:spPr>
      </p:sp>
      <p:sp>
        <p:nvSpPr>
          <p:cNvPr id="34" name="Text 31"/>
          <p:cNvSpPr txBox="1"/>
          <p:nvPr/>
        </p:nvSpPr>
        <p:spPr>
          <a:xfrm>
            <a:off x="9692640" y="1554480"/>
            <a:ext cx="1737360" cy="640080"/>
          </a:xfrm>
          <a:prstGeom prst="rect">
            <a:avLst/>
          </a:prstGeom>
          <a:noFill/>
          <a:ln/>
        </p:spPr>
        <p:txBody>
          <a:bodyPr wrap="square" lIns="0" tIns="0" rIns="0" bIns="0" rtlCol="0" anchor="ctr"/>
          <a:lstStyle/>
          <a:p>
            <a:pPr indent="0" marL="0">
              <a:buNone/>
            </a:pPr>
            <a:r>
              <a:rPr lang="en-US" sz="2800" b="1" dirty="0">
                <a:solidFill>
                  <a:schemeClr val="accent1"/>
                </a:solidFill>
              </a:rPr>
              <a:t>$1.67M</a:t>
            </a:r>
            <a:endParaRPr lang="en-US" sz="2800" dirty="0"/>
          </a:p>
        </p:txBody>
      </p:sp>
      <p:sp>
        <p:nvSpPr>
          <p:cNvPr id="35" name="Text 32"/>
          <p:cNvSpPr txBox="1"/>
          <p:nvPr/>
        </p:nvSpPr>
        <p:spPr>
          <a:xfrm>
            <a:off x="9692640" y="2194560"/>
            <a:ext cx="1737360" cy="365760"/>
          </a:xfrm>
          <a:prstGeom prst="rect">
            <a:avLst/>
          </a:prstGeom>
          <a:noFill/>
          <a:ln/>
        </p:spPr>
        <p:txBody>
          <a:bodyPr wrap="square" lIns="0" tIns="0" rIns="0" bIns="0" rtlCol="0" anchor="t"/>
          <a:lstStyle/>
          <a:p>
            <a:pPr indent="0" marL="0">
              <a:buNone/>
            </a:pPr>
            <a:r>
              <a:rPr lang="en-US" sz="1400" b="1" dirty="0">
                <a:solidFill>
                  <a:schemeClr val="tx2"/>
                </a:solidFill>
              </a:rPr>
              <a:t>Annualised Impact</a:t>
            </a:r>
            <a:endParaRPr lang="en-US" sz="1400" dirty="0"/>
          </a:p>
        </p:txBody>
      </p:sp>
      <p:sp>
        <p:nvSpPr>
          <p:cNvPr id="36" name="Text 33"/>
          <p:cNvSpPr txBox="1"/>
          <p:nvPr/>
        </p:nvSpPr>
        <p:spPr>
          <a:xfrm>
            <a:off x="9692640" y="2743200"/>
            <a:ext cx="1737360" cy="228600"/>
          </a:xfrm>
          <a:prstGeom prst="rect">
            <a:avLst/>
          </a:prstGeom>
          <a:noFill/>
          <a:ln/>
        </p:spPr>
        <p:txBody>
          <a:bodyPr wrap="square" lIns="0" tIns="0" rIns="0" bIns="0" rtlCol="0" anchor="t"/>
          <a:lstStyle/>
          <a:p>
            <a:pPr indent="0" marL="0">
              <a:buNone/>
            </a:pPr>
            <a:r>
              <a:rPr lang="en-US" sz="1100" b="1" dirty="0">
                <a:solidFill>
                  <a:schemeClr val="accent1"/>
                </a:solidFill>
              </a:rPr>
              <a:t>BUSINESS QUESTION</a:t>
            </a:r>
            <a:endParaRPr lang="en-US" sz="1100" dirty="0"/>
          </a:p>
        </p:txBody>
      </p:sp>
      <p:sp>
        <p:nvSpPr>
          <p:cNvPr id="37" name="Text 34"/>
          <p:cNvSpPr txBox="1"/>
          <p:nvPr/>
        </p:nvSpPr>
        <p:spPr>
          <a:xfrm>
            <a:off x="9692640" y="2999232"/>
            <a:ext cx="1737360" cy="1188720"/>
          </a:xfrm>
          <a:prstGeom prst="rect">
            <a:avLst/>
          </a:prstGeom>
          <a:noFill/>
          <a:ln/>
        </p:spPr>
        <p:txBody>
          <a:bodyPr wrap="square" lIns="0" tIns="0" rIns="0" bIns="0" rtlCol="0" anchor="t"/>
          <a:lstStyle/>
          <a:p>
            <a:pPr indent="0" marL="0">
              <a:buNone/>
            </a:pPr>
            <a:r>
              <a:rPr lang="en-US" sz="1400" i="1" dirty="0">
                <a:solidFill>
                  <a:schemeClr val="tx1"/>
                </a:solidFill>
              </a:rPr>
              <a:t>What is the yearly cost if the loss rate continues?</a:t>
            </a:r>
            <a:endParaRPr lang="en-US" sz="1400" dirty="0"/>
          </a:p>
        </p:txBody>
      </p:sp>
      <p:sp>
        <p:nvSpPr>
          <p:cNvPr id="38" name="Text 35"/>
          <p:cNvSpPr txBox="1"/>
          <p:nvPr/>
        </p:nvSpPr>
        <p:spPr>
          <a:xfrm>
            <a:off x="9692640" y="4297680"/>
            <a:ext cx="1737360" cy="228600"/>
          </a:xfrm>
          <a:prstGeom prst="rect">
            <a:avLst/>
          </a:prstGeom>
          <a:noFill/>
          <a:ln/>
        </p:spPr>
        <p:txBody>
          <a:bodyPr wrap="square" lIns="0" tIns="0" rIns="0" bIns="0" rtlCol="0" anchor="t"/>
          <a:lstStyle/>
          <a:p>
            <a:pPr indent="0" marL="0">
              <a:buNone/>
            </a:pPr>
            <a:r>
              <a:rPr lang="en-US" sz="1100" b="1" dirty="0">
                <a:solidFill>
                  <a:schemeClr val="accent1"/>
                </a:solidFill>
              </a:rPr>
              <a:t>HOW TO READ IT</a:t>
            </a:r>
            <a:endParaRPr lang="en-US" sz="1100" dirty="0"/>
          </a:p>
        </p:txBody>
      </p:sp>
      <p:sp>
        <p:nvSpPr>
          <p:cNvPr id="39" name="Text 36"/>
          <p:cNvSpPr txBox="1"/>
          <p:nvPr/>
        </p:nvSpPr>
        <p:spPr>
          <a:xfrm>
            <a:off x="9692640" y="4553712"/>
            <a:ext cx="1737360" cy="1463040"/>
          </a:xfrm>
          <a:prstGeom prst="rect">
            <a:avLst/>
          </a:prstGeom>
          <a:noFill/>
          <a:ln/>
        </p:spPr>
        <p:txBody>
          <a:bodyPr wrap="square" lIns="0" tIns="0" rIns="0" bIns="0" rtlCol="0" anchor="t"/>
          <a:lstStyle/>
          <a:p>
            <a:pPr indent="0" marL="0">
              <a:buNone/>
            </a:pPr>
            <a:r>
              <a:rPr lang="en-US" sz="1300" dirty="0">
                <a:solidFill>
                  <a:schemeClr val="tx1"/>
                </a:solidFill>
              </a:rPr>
              <a:t>Monthly loss x 12. A run-rate, not a forecast.</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PAGE 1  |  EXECUTIVE SUMMARY</a:t>
            </a:r>
            <a:endParaRPr lang="en-US" sz="1200" dirty="0"/>
          </a:p>
        </p:txBody>
      </p:sp>
      <p:sp>
        <p:nvSpPr>
          <p:cNvPr id="3" name="Text 0"/>
          <p:cNvSpPr/>
          <p:nvPr>
            <p:ph idx="100"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Nearly a third of billing belongs to churners</a:t>
            </a:r>
            <a:endParaRPr lang="en-US" sz="3000" dirty="0"/>
          </a:p>
        </p:txBody>
      </p:sp>
      <p:sp>
        <p:nvSpPr>
          <p:cNvPr id="5" name="Chart card"/>
          <p:cNvSpPr/>
          <p:nvPr/>
        </p:nvSpPr>
        <p:spPr>
          <a:xfrm>
            <a:off x="548640" y="1417320"/>
            <a:ext cx="5394960" cy="3337560"/>
          </a:xfrm>
          <a:prstGeom prst="roundRect">
            <a:avLst>
              <a:gd name="adj" fmla="val 2740"/>
            </a:avLst>
          </a:prstGeom>
          <a:solidFill>
            <a:schemeClr val="bg2"/>
          </a:solidFill>
          <a:ln/>
        </p:spPr>
      </p:sp>
      <p:sp>
        <p:nvSpPr>
          <p:cNvPr id="6" name="Text 3"/>
          <p:cNvSpPr txBox="1"/>
          <p:nvPr/>
        </p:nvSpPr>
        <p:spPr>
          <a:xfrm>
            <a:off x="777240" y="1508760"/>
            <a:ext cx="4937760" cy="320040"/>
          </a:xfrm>
          <a:prstGeom prst="rect">
            <a:avLst/>
          </a:prstGeom>
          <a:noFill/>
          <a:ln/>
        </p:spPr>
        <p:txBody>
          <a:bodyPr wrap="square" lIns="0" tIns="0" rIns="0" bIns="0" rtlCol="0" anchor="t"/>
          <a:lstStyle/>
          <a:p>
            <a:pPr indent="0" marL="0">
              <a:buNone/>
            </a:pPr>
            <a:r>
              <a:rPr lang="en-US" sz="1600" b="1" dirty="0">
                <a:solidFill>
                  <a:schemeClr val="tx1"/>
                </a:solidFill>
              </a:rPr>
              <a:t>Revenue Retained vs Lost</a:t>
            </a:r>
            <a:endParaRPr lang="en-US" sz="1600" dirty="0"/>
          </a:p>
        </p:txBody>
      </p:sp>
      <p:sp>
        <p:nvSpPr>
          <p:cNvPr id="7" name="Text 4"/>
          <p:cNvSpPr txBox="1"/>
          <p:nvPr/>
        </p:nvSpPr>
        <p:spPr>
          <a:xfrm>
            <a:off x="777240" y="1828800"/>
            <a:ext cx="4937760" cy="274320"/>
          </a:xfrm>
          <a:prstGeom prst="rect">
            <a:avLst/>
          </a:prstGeom>
          <a:noFill/>
          <a:ln/>
        </p:spPr>
        <p:txBody>
          <a:bodyPr wrap="square" lIns="0" tIns="0" rIns="0" bIns="0" rtlCol="0" anchor="t"/>
          <a:lstStyle/>
          <a:p>
            <a:pPr indent="0" marL="0">
              <a:buNone/>
            </a:pPr>
            <a:r>
              <a:rPr lang="en-US" sz="1200" i="1" dirty="0">
                <a:solidFill>
                  <a:schemeClr val="tx2"/>
                </a:solidFill>
              </a:rPr>
              <a:t>Question: how much of monthly revenue is gone?</a:t>
            </a:r>
            <a:endParaRPr lang="en-US" sz="1200" dirty="0"/>
          </a:p>
        </p:txBody>
      </p:sp>
      <p:graphicFrame>
        <p:nvGraphicFramePr>
          <p:cNvPr id="8" name="Chart 0" descr=""/>
          <p:cNvGraphicFramePr/>
          <p:nvPr/>
        </p:nvGraphicFramePr>
        <p:xfrm>
          <a:off x="731520" y="2148840"/>
          <a:ext cx="2926080" cy="25146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3840480" y="2468880"/>
            <a:ext cx="2011680" cy="2011680"/>
          </a:xfrm>
          <a:prstGeom prst="rect">
            <a:avLst/>
          </a:prstGeom>
          <a:noFill/>
          <a:ln/>
        </p:spPr>
        <p:txBody>
          <a:bodyPr wrap="square" lIns="0" tIns="0" rIns="0" bIns="0" rtlCol="0" anchor="t"/>
          <a:lstStyle/>
          <a:p>
            <a:pPr indent="0" marL="0">
              <a:buNone/>
            </a:pPr>
            <a:r>
              <a:rPr lang="en-US" sz="2400" b="1" dirty="0">
                <a:solidFill>
                  <a:schemeClr val="accent1"/>
                </a:solidFill>
              </a:rPr>
              <a:t>$139.1K</a:t>
            </a:r>
            <a:endParaRPr lang="en-US" sz="1400" dirty="0"/>
          </a:p>
          <a:p>
            <a:pPr indent="0" marL="0">
              <a:spcAft>
                <a:spcPts val="1000"/>
              </a:spcAft>
              <a:buNone/>
            </a:pPr>
            <a:r>
              <a:rPr lang="en-US" sz="1300" dirty="0">
                <a:solidFill>
                  <a:schemeClr val="tx1"/>
                </a:solidFill>
              </a:rPr>
              <a:t>lost (30.5%)</a:t>
            </a:r>
            <a:endParaRPr lang="en-US" sz="1400" dirty="0"/>
          </a:p>
          <a:p>
            <a:pPr indent="0" marL="0">
              <a:buNone/>
            </a:pPr>
            <a:r>
              <a:rPr lang="en-US" sz="2400" b="1" dirty="0">
                <a:solidFill>
                  <a:schemeClr val="tx2"/>
                </a:solidFill>
              </a:rPr>
              <a:t>$317.0K</a:t>
            </a:r>
            <a:endParaRPr lang="en-US" sz="1400" dirty="0"/>
          </a:p>
          <a:p>
            <a:pPr indent="0" marL="0">
              <a:buNone/>
            </a:pPr>
            <a:r>
              <a:rPr lang="en-US" sz="1300" dirty="0">
                <a:solidFill>
                  <a:schemeClr val="tx1"/>
                </a:solidFill>
              </a:rPr>
              <a:t>retained (69.5%)</a:t>
            </a:r>
            <a:endParaRPr lang="en-US" sz="1400" dirty="0"/>
          </a:p>
        </p:txBody>
      </p:sp>
      <p:sp>
        <p:nvSpPr>
          <p:cNvPr id="10" name="Chart card"/>
          <p:cNvSpPr/>
          <p:nvPr/>
        </p:nvSpPr>
        <p:spPr>
          <a:xfrm>
            <a:off x="6245352" y="1417320"/>
            <a:ext cx="5394960" cy="3337560"/>
          </a:xfrm>
          <a:prstGeom prst="roundRect">
            <a:avLst>
              <a:gd name="adj" fmla="val 2740"/>
            </a:avLst>
          </a:prstGeom>
          <a:solidFill>
            <a:schemeClr val="bg2"/>
          </a:solidFill>
          <a:ln/>
        </p:spPr>
      </p:sp>
      <p:sp>
        <p:nvSpPr>
          <p:cNvPr id="11" name="Text 7"/>
          <p:cNvSpPr txBox="1"/>
          <p:nvPr/>
        </p:nvSpPr>
        <p:spPr>
          <a:xfrm>
            <a:off x="6473952" y="1508760"/>
            <a:ext cx="4937760" cy="320040"/>
          </a:xfrm>
          <a:prstGeom prst="rect">
            <a:avLst/>
          </a:prstGeom>
          <a:noFill/>
          <a:ln/>
        </p:spPr>
        <p:txBody>
          <a:bodyPr wrap="square" lIns="0" tIns="0" rIns="0" bIns="0" rtlCol="0" anchor="t"/>
          <a:lstStyle/>
          <a:p>
            <a:pPr indent="0" marL="0">
              <a:buNone/>
            </a:pPr>
            <a:r>
              <a:rPr lang="en-US" sz="1600" b="1" dirty="0">
                <a:solidFill>
                  <a:schemeClr val="tx1"/>
                </a:solidFill>
              </a:rPr>
              <a:t>Churn Rate by Contract Type</a:t>
            </a:r>
            <a:endParaRPr lang="en-US" sz="1600" dirty="0"/>
          </a:p>
        </p:txBody>
      </p:sp>
      <p:sp>
        <p:nvSpPr>
          <p:cNvPr id="12" name="Text 8"/>
          <p:cNvSpPr txBox="1"/>
          <p:nvPr/>
        </p:nvSpPr>
        <p:spPr>
          <a:xfrm>
            <a:off x="6473952" y="1828800"/>
            <a:ext cx="4937760" cy="274320"/>
          </a:xfrm>
          <a:prstGeom prst="rect">
            <a:avLst/>
          </a:prstGeom>
          <a:noFill/>
          <a:ln/>
        </p:spPr>
        <p:txBody>
          <a:bodyPr wrap="square" lIns="0" tIns="0" rIns="0" bIns="0" rtlCol="0" anchor="t"/>
          <a:lstStyle/>
          <a:p>
            <a:pPr indent="0" marL="0">
              <a:buNone/>
            </a:pPr>
            <a:r>
              <a:rPr lang="en-US" sz="1200" i="1" dirty="0">
                <a:solidFill>
                  <a:schemeClr val="tx2"/>
                </a:solidFill>
              </a:rPr>
              <a:t>Question: is churn evenly spread across contracts?</a:t>
            </a:r>
            <a:endParaRPr lang="en-US" sz="1200" dirty="0"/>
          </a:p>
        </p:txBody>
      </p:sp>
      <p:graphicFrame>
        <p:nvGraphicFramePr>
          <p:cNvPr id="13" name="Chart 1" descr=""/>
          <p:cNvGraphicFramePr/>
          <p:nvPr/>
        </p:nvGraphicFramePr>
        <p:xfrm>
          <a:off x="6400800" y="2194560"/>
          <a:ext cx="5120640" cy="2468880"/>
        </p:xfrm>
        <a:graphic xmlns:a="http://schemas.openxmlformats.org/drawingml/2006/main">
          <a:graphicData uri="http://schemas.openxmlformats.org/drawingml/2006/chart">
            <c:chart xmlns:c="http://schemas.openxmlformats.org/drawingml/2006/chart" r:id="rId2"/>
          </a:graphicData>
        </a:graphic>
      </p:graphicFrame>
      <p:sp>
        <p:nvSpPr>
          <p:cNvPr id="14" name="Takeaway card"/>
          <p:cNvSpPr/>
          <p:nvPr/>
        </p:nvSpPr>
        <p:spPr>
          <a:xfrm>
            <a:off x="548640" y="4937760"/>
            <a:ext cx="3566160" cy="1280160"/>
          </a:xfrm>
          <a:prstGeom prst="roundRect">
            <a:avLst>
              <a:gd name="adj" fmla="val 7143"/>
            </a:avLst>
          </a:prstGeom>
          <a:solidFill>
            <a:schemeClr val="bg2"/>
          </a:solidFill>
          <a:ln/>
        </p:spPr>
      </p:sp>
      <p:sp>
        <p:nvSpPr>
          <p:cNvPr id="15" name="Text 10"/>
          <p:cNvSpPr txBox="1"/>
          <p:nvPr/>
        </p:nvSpPr>
        <p:spPr>
          <a:xfrm>
            <a:off x="731520" y="5029200"/>
            <a:ext cx="3200400" cy="320040"/>
          </a:xfrm>
          <a:prstGeom prst="rect">
            <a:avLst/>
          </a:prstGeom>
          <a:noFill/>
          <a:ln/>
        </p:spPr>
        <p:txBody>
          <a:bodyPr wrap="square" lIns="0" tIns="0" rIns="0" bIns="0" rtlCol="0" anchor="t"/>
          <a:lstStyle/>
          <a:p>
            <a:pPr indent="0" marL="0">
              <a:buNone/>
            </a:pPr>
            <a:r>
              <a:rPr lang="en-US" sz="1400" b="1" dirty="0">
                <a:solidFill>
                  <a:schemeClr val="accent1"/>
                </a:solidFill>
              </a:rPr>
              <a:t>One-third of billing is gone</a:t>
            </a:r>
            <a:endParaRPr lang="en-US" sz="1400" dirty="0"/>
          </a:p>
        </p:txBody>
      </p:sp>
      <p:sp>
        <p:nvSpPr>
          <p:cNvPr id="16" name="Text 11"/>
          <p:cNvSpPr txBox="1"/>
          <p:nvPr/>
        </p:nvSpPr>
        <p:spPr>
          <a:xfrm>
            <a:off x="731520" y="5367528"/>
            <a:ext cx="3200400" cy="822960"/>
          </a:xfrm>
          <a:prstGeom prst="rect">
            <a:avLst/>
          </a:prstGeom>
          <a:noFill/>
          <a:ln/>
        </p:spPr>
        <p:txBody>
          <a:bodyPr wrap="square" lIns="0" tIns="0" rIns="0" bIns="0" rtlCol="0" anchor="t"/>
          <a:lstStyle/>
          <a:p>
            <a:pPr indent="0" marL="0">
              <a:buNone/>
            </a:pPr>
            <a:r>
              <a:rPr lang="en-US" sz="1300" dirty="0">
                <a:solidFill>
                  <a:schemeClr val="tx1"/>
                </a:solidFill>
              </a:rPr>
              <a:t>$139.1K of $456.1K belongs to customers who left; about $1.67M a year.</a:t>
            </a:r>
            <a:endParaRPr lang="en-US" sz="1300" dirty="0"/>
          </a:p>
        </p:txBody>
      </p:sp>
      <p:sp>
        <p:nvSpPr>
          <p:cNvPr id="17" name="Takeaway card"/>
          <p:cNvSpPr/>
          <p:nvPr/>
        </p:nvSpPr>
        <p:spPr>
          <a:xfrm>
            <a:off x="4297680" y="4937760"/>
            <a:ext cx="3566160" cy="1280160"/>
          </a:xfrm>
          <a:prstGeom prst="roundRect">
            <a:avLst>
              <a:gd name="adj" fmla="val 7143"/>
            </a:avLst>
          </a:prstGeom>
          <a:solidFill>
            <a:schemeClr val="bg2"/>
          </a:solidFill>
          <a:ln/>
        </p:spPr>
      </p:sp>
      <p:sp>
        <p:nvSpPr>
          <p:cNvPr id="18" name="Text 13"/>
          <p:cNvSpPr txBox="1"/>
          <p:nvPr/>
        </p:nvSpPr>
        <p:spPr>
          <a:xfrm>
            <a:off x="4480560" y="5029200"/>
            <a:ext cx="3200400" cy="320040"/>
          </a:xfrm>
          <a:prstGeom prst="rect">
            <a:avLst/>
          </a:prstGeom>
          <a:noFill/>
          <a:ln/>
        </p:spPr>
        <p:txBody>
          <a:bodyPr wrap="square" lIns="0" tIns="0" rIns="0" bIns="0" rtlCol="0" anchor="t"/>
          <a:lstStyle/>
          <a:p>
            <a:pPr indent="0" marL="0">
              <a:buNone/>
            </a:pPr>
            <a:r>
              <a:rPr lang="en-US" sz="1400" b="1" dirty="0">
                <a:solidFill>
                  <a:schemeClr val="accent1"/>
                </a:solidFill>
              </a:rPr>
              <a:t>Churners pay more</a:t>
            </a:r>
            <a:endParaRPr lang="en-US" sz="1400" dirty="0"/>
          </a:p>
        </p:txBody>
      </p:sp>
      <p:sp>
        <p:nvSpPr>
          <p:cNvPr id="19" name="Text 14"/>
          <p:cNvSpPr txBox="1"/>
          <p:nvPr/>
        </p:nvSpPr>
        <p:spPr>
          <a:xfrm>
            <a:off x="4480560" y="5367528"/>
            <a:ext cx="3200400" cy="822960"/>
          </a:xfrm>
          <a:prstGeom prst="rect">
            <a:avLst/>
          </a:prstGeom>
          <a:noFill/>
          <a:ln/>
        </p:spPr>
        <p:txBody>
          <a:bodyPr wrap="square" lIns="0" tIns="0" rIns="0" bIns="0" rtlCol="0" anchor="t"/>
          <a:lstStyle/>
          <a:p>
            <a:pPr indent="0" marL="0">
              <a:buNone/>
            </a:pPr>
            <a:r>
              <a:rPr lang="en-US" sz="1300" dirty="0">
                <a:solidFill>
                  <a:schemeClr val="tx1"/>
                </a:solidFill>
              </a:rPr>
              <a:t>About $74 a month versus $61 for retained customers, so revenue loss exceeds the churn rate.</a:t>
            </a:r>
            <a:endParaRPr lang="en-US" sz="1300" dirty="0"/>
          </a:p>
        </p:txBody>
      </p:sp>
      <p:sp>
        <p:nvSpPr>
          <p:cNvPr id="20" name="Takeaway card"/>
          <p:cNvSpPr/>
          <p:nvPr/>
        </p:nvSpPr>
        <p:spPr>
          <a:xfrm>
            <a:off x="8046720" y="4937760"/>
            <a:ext cx="3566160" cy="1280160"/>
          </a:xfrm>
          <a:prstGeom prst="roundRect">
            <a:avLst>
              <a:gd name="adj" fmla="val 7143"/>
            </a:avLst>
          </a:prstGeom>
          <a:solidFill>
            <a:schemeClr val="bg2"/>
          </a:solidFill>
          <a:ln/>
        </p:spPr>
      </p:sp>
      <p:sp>
        <p:nvSpPr>
          <p:cNvPr id="21" name="Text 16"/>
          <p:cNvSpPr txBox="1"/>
          <p:nvPr/>
        </p:nvSpPr>
        <p:spPr>
          <a:xfrm>
            <a:off x="8229600" y="5029200"/>
            <a:ext cx="3200400" cy="320040"/>
          </a:xfrm>
          <a:prstGeom prst="rect">
            <a:avLst/>
          </a:prstGeom>
          <a:noFill/>
          <a:ln/>
        </p:spPr>
        <p:txBody>
          <a:bodyPr wrap="square" lIns="0" tIns="0" rIns="0" bIns="0" rtlCol="0" anchor="t"/>
          <a:lstStyle/>
          <a:p>
            <a:pPr indent="0" marL="0">
              <a:buNone/>
            </a:pPr>
            <a:r>
              <a:rPr lang="en-US" sz="1400" b="1" dirty="0">
                <a:solidFill>
                  <a:schemeClr val="accent1"/>
                </a:solidFill>
              </a:rPr>
              <a:t>It is an early-life problem</a:t>
            </a:r>
            <a:endParaRPr lang="en-US" sz="1400" dirty="0"/>
          </a:p>
        </p:txBody>
      </p:sp>
      <p:sp>
        <p:nvSpPr>
          <p:cNvPr id="22" name="Text 17"/>
          <p:cNvSpPr txBox="1"/>
          <p:nvPr/>
        </p:nvSpPr>
        <p:spPr>
          <a:xfrm>
            <a:off x="8229600" y="5367528"/>
            <a:ext cx="3200400" cy="822960"/>
          </a:xfrm>
          <a:prstGeom prst="rect">
            <a:avLst/>
          </a:prstGeom>
          <a:noFill/>
          <a:ln/>
        </p:spPr>
        <p:txBody>
          <a:bodyPr wrap="square" lIns="0" tIns="0" rIns="0" bIns="0" rtlCol="0" anchor="t"/>
          <a:lstStyle/>
          <a:p>
            <a:pPr indent="0" marL="0">
              <a:buNone/>
            </a:pPr>
            <a:r>
              <a:rPr lang="en-US" sz="1300" dirty="0">
                <a:solidFill>
                  <a:schemeClr val="tx1"/>
                </a:solidFill>
              </a:rPr>
              <a:t>Churners left after about 18 months on average; retained customers have 38.</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PAGE 1  |  STAKEHOLDERS AND SCENARIOS</a:t>
            </a:r>
            <a:endParaRPr lang="en-US" sz="1200" dirty="0"/>
          </a:p>
        </p:txBody>
      </p:sp>
      <p:sp>
        <p:nvSpPr>
          <p:cNvPr id="3" name="Text 0"/>
          <p:cNvSpPr/>
          <p:nvPr>
            <p:ph idx="100"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Executive Summary: who acts on it</a:t>
            </a:r>
            <a:endParaRPr lang="en-US" sz="3000" dirty="0"/>
          </a:p>
        </p:txBody>
      </p:sp>
      <p:sp>
        <p:nvSpPr>
          <p:cNvPr id="5" name="Stakeholder card"/>
          <p:cNvSpPr/>
          <p:nvPr/>
        </p:nvSpPr>
        <p:spPr>
          <a:xfrm>
            <a:off x="548640" y="1463040"/>
            <a:ext cx="3566160" cy="4754880"/>
          </a:xfrm>
          <a:prstGeom prst="roundRect">
            <a:avLst>
              <a:gd name="adj" fmla="val 2564"/>
            </a:avLst>
          </a:prstGeom>
          <a:solidFill>
            <a:schemeClr val="bg2"/>
          </a:solidFill>
          <a:ln/>
        </p:spPr>
      </p:sp>
      <p:sp>
        <p:nvSpPr>
          <p:cNvPr id="6" name="Stakeholder header"/>
          <p:cNvSpPr/>
          <p:nvPr/>
        </p:nvSpPr>
        <p:spPr>
          <a:xfrm>
            <a:off x="548640" y="1463040"/>
            <a:ext cx="3566160" cy="640080"/>
          </a:xfrm>
          <a:prstGeom prst="roundRect">
            <a:avLst>
              <a:gd name="adj" fmla="val 14286"/>
            </a:avLst>
          </a:prstGeom>
          <a:solidFill>
            <a:schemeClr val="tx2"/>
          </a:solidFill>
          <a:ln/>
        </p:spPr>
      </p:sp>
      <p:sp>
        <p:nvSpPr>
          <p:cNvPr id="7" name="Text 4"/>
          <p:cNvSpPr txBox="1"/>
          <p:nvPr/>
        </p:nvSpPr>
        <p:spPr>
          <a:xfrm>
            <a:off x="777240" y="1463040"/>
            <a:ext cx="3108960" cy="640080"/>
          </a:xfrm>
          <a:prstGeom prst="rect">
            <a:avLst/>
          </a:prstGeom>
          <a:noFill/>
          <a:ln/>
        </p:spPr>
        <p:txBody>
          <a:bodyPr wrap="square" lIns="0" tIns="0" rIns="0" bIns="0" rtlCol="0" anchor="ctr"/>
          <a:lstStyle/>
          <a:p>
            <a:pPr indent="0" marL="0">
              <a:buNone/>
            </a:pPr>
            <a:r>
              <a:rPr lang="en-US" sz="1600" b="1" dirty="0">
                <a:solidFill>
                  <a:schemeClr val="bg1"/>
                </a:solidFill>
              </a:rPr>
              <a:t>CEO / Executive leadership</a:t>
            </a:r>
            <a:endParaRPr lang="en-US" sz="1600" dirty="0"/>
          </a:p>
        </p:txBody>
      </p:sp>
      <p:sp>
        <p:nvSpPr>
          <p:cNvPr id="8" name="Text 5"/>
          <p:cNvSpPr txBox="1"/>
          <p:nvPr/>
        </p:nvSpPr>
        <p:spPr>
          <a:xfrm>
            <a:off x="777240" y="2286000"/>
            <a:ext cx="3108960" cy="3840480"/>
          </a:xfrm>
          <a:prstGeom prst="rect">
            <a:avLst/>
          </a:prstGeom>
          <a:noFill/>
          <a:ln/>
        </p:spPr>
        <p:txBody>
          <a:bodyPr wrap="square" lIns="0" tIns="0" rIns="0" bIns="0" rtlCol="0" anchor="t"/>
          <a:lstStyle/>
          <a:p>
            <a:pPr indent="0" marL="0">
              <a:buNone/>
            </a:pPr>
            <a:r>
              <a:rPr lang="en-US" sz="1300" b="1" dirty="0">
                <a:solidFill>
                  <a:schemeClr val="accent1"/>
                </a:solidFill>
              </a:rPr>
              <a:t>BUSINESS SCENARIO</a:t>
            </a:r>
            <a:endParaRPr lang="en-US" sz="1400" dirty="0"/>
          </a:p>
          <a:p>
            <a:pPr indent="0" marL="0">
              <a:spcAft>
                <a:spcPts val="1000"/>
              </a:spcAft>
              <a:buNone/>
            </a:pPr>
            <a:r>
              <a:rPr lang="en-US" sz="1600" dirty="0">
                <a:solidFill>
                  <a:schemeClr val="tx1"/>
                </a:solidFill>
              </a:rPr>
              <a:t>A quarterly review where leadership decides whether retention deserves a place beside acquisition in the plan.</a:t>
            </a:r>
            <a:endParaRPr lang="en-US" sz="1400" dirty="0"/>
          </a:p>
          <a:p>
            <a:pPr indent="0" marL="0">
              <a:buNone/>
            </a:pPr>
            <a:r>
              <a:rPr lang="en-US" sz="1300" b="1" dirty="0">
                <a:solidFill>
                  <a:schemeClr val="accent1"/>
                </a:solidFill>
              </a:rPr>
              <a:t>QUESTION THEY ASK</a:t>
            </a:r>
            <a:endParaRPr lang="en-US" sz="1400" dirty="0"/>
          </a:p>
          <a:p>
            <a:pPr indent="0" marL="0">
              <a:spcAft>
                <a:spcPts val="1000"/>
              </a:spcAft>
              <a:buNone/>
            </a:pPr>
            <a:r>
              <a:rPr lang="en-US" sz="1600" dirty="0">
                <a:solidFill>
                  <a:schemeClr val="tx1"/>
                </a:solidFill>
              </a:rPr>
              <a:t>How large is the leak relative to what we bill?</a:t>
            </a:r>
            <a:endParaRPr lang="en-US" sz="1400" dirty="0"/>
          </a:p>
          <a:p>
            <a:pPr indent="0" marL="0">
              <a:buNone/>
            </a:pPr>
            <a:r>
              <a:rPr lang="en-US" sz="1300" b="1" dirty="0">
                <a:solidFill>
                  <a:schemeClr val="accent1"/>
                </a:solidFill>
              </a:rPr>
              <a:t>DECISION IT SUPPORTS</a:t>
            </a:r>
            <a:endParaRPr lang="en-US" sz="1400" dirty="0"/>
          </a:p>
          <a:p>
            <a:pPr indent="0" marL="0">
              <a:spcAft>
                <a:spcPts val="1000"/>
              </a:spcAft>
              <a:buNone/>
            </a:pPr>
            <a:r>
              <a:rPr lang="en-US" sz="1600" dirty="0">
                <a:solidFill>
                  <a:schemeClr val="tx1"/>
                </a:solidFill>
              </a:rPr>
              <a:t>Make churn reduction a company-level KPI, with $139.1K a month (30.5% of billing) as the headline.</a:t>
            </a:r>
            <a:endParaRPr lang="en-US" sz="1400" dirty="0"/>
          </a:p>
        </p:txBody>
      </p:sp>
      <p:sp>
        <p:nvSpPr>
          <p:cNvPr id="9" name="Stakeholder card"/>
          <p:cNvSpPr/>
          <p:nvPr/>
        </p:nvSpPr>
        <p:spPr>
          <a:xfrm>
            <a:off x="4297680" y="1463040"/>
            <a:ext cx="3566160" cy="4754880"/>
          </a:xfrm>
          <a:prstGeom prst="roundRect">
            <a:avLst>
              <a:gd name="adj" fmla="val 2564"/>
            </a:avLst>
          </a:prstGeom>
          <a:solidFill>
            <a:schemeClr val="bg2"/>
          </a:solidFill>
          <a:ln/>
        </p:spPr>
      </p:sp>
      <p:sp>
        <p:nvSpPr>
          <p:cNvPr id="10" name="Stakeholder header"/>
          <p:cNvSpPr/>
          <p:nvPr/>
        </p:nvSpPr>
        <p:spPr>
          <a:xfrm>
            <a:off x="4297680" y="1463040"/>
            <a:ext cx="3566160" cy="640080"/>
          </a:xfrm>
          <a:prstGeom prst="roundRect">
            <a:avLst>
              <a:gd name="adj" fmla="val 14286"/>
            </a:avLst>
          </a:prstGeom>
          <a:solidFill>
            <a:schemeClr val="tx2"/>
          </a:solidFill>
          <a:ln/>
        </p:spPr>
      </p:sp>
      <p:sp>
        <p:nvSpPr>
          <p:cNvPr id="11" name="Text 8"/>
          <p:cNvSpPr txBox="1"/>
          <p:nvPr/>
        </p:nvSpPr>
        <p:spPr>
          <a:xfrm>
            <a:off x="4526280" y="1463040"/>
            <a:ext cx="3108960" cy="640080"/>
          </a:xfrm>
          <a:prstGeom prst="rect">
            <a:avLst/>
          </a:prstGeom>
          <a:noFill/>
          <a:ln/>
        </p:spPr>
        <p:txBody>
          <a:bodyPr wrap="square" lIns="0" tIns="0" rIns="0" bIns="0" rtlCol="0" anchor="ctr"/>
          <a:lstStyle/>
          <a:p>
            <a:pPr indent="0" marL="0">
              <a:buNone/>
            </a:pPr>
            <a:r>
              <a:rPr lang="en-US" sz="1600" b="1" dirty="0">
                <a:solidFill>
                  <a:schemeClr val="bg1"/>
                </a:solidFill>
              </a:rPr>
              <a:t>CFO / Finance</a:t>
            </a:r>
            <a:endParaRPr lang="en-US" sz="1600" dirty="0"/>
          </a:p>
        </p:txBody>
      </p:sp>
      <p:sp>
        <p:nvSpPr>
          <p:cNvPr id="12" name="Text 9"/>
          <p:cNvSpPr txBox="1"/>
          <p:nvPr/>
        </p:nvSpPr>
        <p:spPr>
          <a:xfrm>
            <a:off x="4526280" y="2286000"/>
            <a:ext cx="3108960" cy="3840480"/>
          </a:xfrm>
          <a:prstGeom prst="rect">
            <a:avLst/>
          </a:prstGeom>
          <a:noFill/>
          <a:ln/>
        </p:spPr>
        <p:txBody>
          <a:bodyPr wrap="square" lIns="0" tIns="0" rIns="0" bIns="0" rtlCol="0" anchor="t"/>
          <a:lstStyle/>
          <a:p>
            <a:pPr indent="0" marL="0">
              <a:buNone/>
            </a:pPr>
            <a:r>
              <a:rPr lang="en-US" sz="1300" b="1" dirty="0">
                <a:solidFill>
                  <a:schemeClr val="accent1"/>
                </a:solidFill>
              </a:rPr>
              <a:t>BUSINESS SCENARIO</a:t>
            </a:r>
            <a:endParaRPr lang="en-US" sz="1400" dirty="0"/>
          </a:p>
          <a:p>
            <a:pPr indent="0" marL="0">
              <a:spcAft>
                <a:spcPts val="1000"/>
              </a:spcAft>
              <a:buNone/>
            </a:pPr>
            <a:r>
              <a:rPr lang="en-US" sz="1600" dirty="0">
                <a:solidFill>
                  <a:schemeClr val="tx1"/>
                </a:solidFill>
              </a:rPr>
              <a:t>Preparing the revenue forecast and the retention budget for the coming year.</a:t>
            </a:r>
            <a:endParaRPr lang="en-US" sz="1400" dirty="0"/>
          </a:p>
          <a:p>
            <a:pPr indent="0" marL="0">
              <a:buNone/>
            </a:pPr>
            <a:r>
              <a:rPr lang="en-US" sz="1300" b="1" dirty="0">
                <a:solidFill>
                  <a:schemeClr val="accent1"/>
                </a:solidFill>
              </a:rPr>
              <a:t>QUESTION THEY ASK</a:t>
            </a:r>
            <a:endParaRPr lang="en-US" sz="1400" dirty="0"/>
          </a:p>
          <a:p>
            <a:pPr indent="0" marL="0">
              <a:spcAft>
                <a:spcPts val="1000"/>
              </a:spcAft>
              <a:buNone/>
            </a:pPr>
            <a:r>
              <a:rPr lang="en-US" sz="1600" dirty="0">
                <a:solidFill>
                  <a:schemeClr val="tx1"/>
                </a:solidFill>
              </a:rPr>
              <a:t>What does churn cost us per year if nothing changes?</a:t>
            </a:r>
            <a:endParaRPr lang="en-US" sz="1400" dirty="0"/>
          </a:p>
          <a:p>
            <a:pPr indent="0" marL="0">
              <a:buNone/>
            </a:pPr>
            <a:r>
              <a:rPr lang="en-US" sz="1300" b="1" dirty="0">
                <a:solidFill>
                  <a:schemeClr val="accent1"/>
                </a:solidFill>
              </a:rPr>
              <a:t>DECISION IT SUPPORTS</a:t>
            </a:r>
            <a:endParaRPr lang="en-US" sz="1400" dirty="0"/>
          </a:p>
          <a:p>
            <a:pPr indent="0" marL="0">
              <a:spcAft>
                <a:spcPts val="1000"/>
              </a:spcAft>
              <a:buNone/>
            </a:pPr>
            <a:r>
              <a:rPr lang="en-US" sz="1600" dirty="0">
                <a:solidFill>
                  <a:schemeClr val="tx1"/>
                </a:solidFill>
              </a:rPr>
              <a:t>Size retention spend against the $1.67M annualised exposure and adjust forecasts for expected churn.</a:t>
            </a:r>
            <a:endParaRPr lang="en-US" sz="1400" dirty="0"/>
          </a:p>
        </p:txBody>
      </p:sp>
      <p:sp>
        <p:nvSpPr>
          <p:cNvPr id="13" name="Stakeholder card"/>
          <p:cNvSpPr/>
          <p:nvPr/>
        </p:nvSpPr>
        <p:spPr>
          <a:xfrm>
            <a:off x="8046720" y="1463040"/>
            <a:ext cx="3566160" cy="4754880"/>
          </a:xfrm>
          <a:prstGeom prst="roundRect">
            <a:avLst>
              <a:gd name="adj" fmla="val 2564"/>
            </a:avLst>
          </a:prstGeom>
          <a:solidFill>
            <a:schemeClr val="bg2"/>
          </a:solidFill>
          <a:ln/>
        </p:spPr>
      </p:sp>
      <p:sp>
        <p:nvSpPr>
          <p:cNvPr id="14" name="Stakeholder header"/>
          <p:cNvSpPr/>
          <p:nvPr/>
        </p:nvSpPr>
        <p:spPr>
          <a:xfrm>
            <a:off x="8046720" y="1463040"/>
            <a:ext cx="3566160" cy="640080"/>
          </a:xfrm>
          <a:prstGeom prst="roundRect">
            <a:avLst>
              <a:gd name="adj" fmla="val 14286"/>
            </a:avLst>
          </a:prstGeom>
          <a:solidFill>
            <a:schemeClr val="tx2"/>
          </a:solidFill>
          <a:ln/>
        </p:spPr>
      </p:sp>
      <p:sp>
        <p:nvSpPr>
          <p:cNvPr id="15" name="Text 12"/>
          <p:cNvSpPr txBox="1"/>
          <p:nvPr/>
        </p:nvSpPr>
        <p:spPr>
          <a:xfrm>
            <a:off x="8275320" y="1463040"/>
            <a:ext cx="3108960" cy="640080"/>
          </a:xfrm>
          <a:prstGeom prst="rect">
            <a:avLst/>
          </a:prstGeom>
          <a:noFill/>
          <a:ln/>
        </p:spPr>
        <p:txBody>
          <a:bodyPr wrap="square" lIns="0" tIns="0" rIns="0" bIns="0" rtlCol="0" anchor="ctr"/>
          <a:lstStyle/>
          <a:p>
            <a:pPr indent="0" marL="0">
              <a:buNone/>
            </a:pPr>
            <a:r>
              <a:rPr lang="en-US" sz="1600" b="1" dirty="0">
                <a:solidFill>
                  <a:schemeClr val="bg1"/>
                </a:solidFill>
              </a:rPr>
              <a:t>Strategy / Commercial leads</a:t>
            </a:r>
            <a:endParaRPr lang="en-US" sz="1600" dirty="0"/>
          </a:p>
        </p:txBody>
      </p:sp>
      <p:sp>
        <p:nvSpPr>
          <p:cNvPr id="16" name="Text 13"/>
          <p:cNvSpPr txBox="1"/>
          <p:nvPr/>
        </p:nvSpPr>
        <p:spPr>
          <a:xfrm>
            <a:off x="8275320" y="2286000"/>
            <a:ext cx="3108960" cy="3840480"/>
          </a:xfrm>
          <a:prstGeom prst="rect">
            <a:avLst/>
          </a:prstGeom>
          <a:noFill/>
          <a:ln/>
        </p:spPr>
        <p:txBody>
          <a:bodyPr wrap="square" lIns="0" tIns="0" rIns="0" bIns="0" rtlCol="0" anchor="t"/>
          <a:lstStyle/>
          <a:p>
            <a:pPr indent="0" marL="0">
              <a:buNone/>
            </a:pPr>
            <a:r>
              <a:rPr lang="en-US" sz="1300" b="1" dirty="0">
                <a:solidFill>
                  <a:schemeClr val="accent1"/>
                </a:solidFill>
              </a:rPr>
              <a:t>BUSINESS SCENARIO</a:t>
            </a:r>
            <a:endParaRPr lang="en-US" sz="1400" dirty="0"/>
          </a:p>
          <a:p>
            <a:pPr indent="0" marL="0">
              <a:spcAft>
                <a:spcPts val="1000"/>
              </a:spcAft>
              <a:buNone/>
            </a:pPr>
            <a:r>
              <a:rPr lang="en-US" sz="1600" dirty="0">
                <a:solidFill>
                  <a:schemeClr val="tx1"/>
                </a:solidFill>
              </a:rPr>
              <a:t>Choosing where to focus commercial effort: winning new customers or keeping existing ones.</a:t>
            </a:r>
            <a:endParaRPr lang="en-US" sz="1400" dirty="0"/>
          </a:p>
          <a:p>
            <a:pPr indent="0" marL="0">
              <a:buNone/>
            </a:pPr>
            <a:r>
              <a:rPr lang="en-US" sz="1300" b="1" dirty="0">
                <a:solidFill>
                  <a:schemeClr val="accent1"/>
                </a:solidFill>
              </a:rPr>
              <a:t>QUESTION THEY ASK</a:t>
            </a:r>
            <a:endParaRPr lang="en-US" sz="1400" dirty="0"/>
          </a:p>
          <a:p>
            <a:pPr indent="0" marL="0">
              <a:spcAft>
                <a:spcPts val="1000"/>
              </a:spcAft>
              <a:buNone/>
            </a:pPr>
            <a:r>
              <a:rPr lang="en-US" sz="1600" dirty="0">
                <a:solidFill>
                  <a:schemeClr val="tx1"/>
                </a:solidFill>
              </a:rPr>
              <a:t>Do churners differ from retained customers?</a:t>
            </a:r>
            <a:endParaRPr lang="en-US" sz="1400" dirty="0"/>
          </a:p>
          <a:p>
            <a:pPr indent="0" marL="0">
              <a:buNone/>
            </a:pPr>
            <a:r>
              <a:rPr lang="en-US" sz="1300" b="1" dirty="0">
                <a:solidFill>
                  <a:schemeClr val="accent1"/>
                </a:solidFill>
              </a:rPr>
              <a:t>DECISION IT SUPPORTS</a:t>
            </a:r>
            <a:endParaRPr lang="en-US" sz="1400" dirty="0"/>
          </a:p>
          <a:p>
            <a:pPr indent="0" marL="0">
              <a:spcAft>
                <a:spcPts val="1000"/>
              </a:spcAft>
              <a:buNone/>
            </a:pPr>
            <a:r>
              <a:rPr lang="en-US" sz="1600" dirty="0">
                <a:solidFill>
                  <a:schemeClr val="tx1"/>
                </a:solidFill>
              </a:rPr>
              <a:t>Churners pay more ($74 vs $61) and leave early (18 vs 38 months), so prioritise early retention of higher payers.</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PAGE 2  |  LEAKAGE DRIVERS</a:t>
            </a:r>
            <a:endParaRPr lang="en-US" sz="1200" dirty="0"/>
          </a:p>
        </p:txBody>
      </p:sp>
      <p:sp>
        <p:nvSpPr>
          <p:cNvPr id="3" name="Text 0"/>
          <p:cNvSpPr/>
          <p:nvPr>
            <p:ph idx="100"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Four lenses on where revenue leaks</a:t>
            </a:r>
            <a:endParaRPr lang="en-US" sz="3000" dirty="0"/>
          </a:p>
        </p:txBody>
      </p:sp>
      <p:sp>
        <p:nvSpPr>
          <p:cNvPr id="5" name="Driver card"/>
          <p:cNvSpPr/>
          <p:nvPr/>
        </p:nvSpPr>
        <p:spPr>
          <a:xfrm>
            <a:off x="548640" y="1371600"/>
            <a:ext cx="5440680" cy="2331720"/>
          </a:xfrm>
          <a:prstGeom prst="roundRect">
            <a:avLst>
              <a:gd name="adj" fmla="val 3922"/>
            </a:avLst>
          </a:prstGeom>
          <a:solidFill>
            <a:schemeClr val="bg2"/>
          </a:solidFill>
          <a:ln/>
        </p:spPr>
      </p:sp>
      <p:sp>
        <p:nvSpPr>
          <p:cNvPr id="6" name="Text 3"/>
          <p:cNvSpPr txBox="1"/>
          <p:nvPr/>
        </p:nvSpPr>
        <p:spPr>
          <a:xfrm>
            <a:off x="731520" y="1463040"/>
            <a:ext cx="5029200" cy="274320"/>
          </a:xfrm>
          <a:prstGeom prst="rect">
            <a:avLst/>
          </a:prstGeom>
          <a:noFill/>
          <a:ln/>
        </p:spPr>
        <p:txBody>
          <a:bodyPr wrap="square" lIns="0" tIns="0" rIns="0" bIns="0" rtlCol="0" anchor="t"/>
          <a:lstStyle/>
          <a:p>
            <a:pPr indent="0" marL="0">
              <a:buNone/>
            </a:pPr>
            <a:r>
              <a:rPr lang="en-US" sz="1400" b="1" dirty="0">
                <a:solidFill>
                  <a:schemeClr val="tx1"/>
                </a:solidFill>
              </a:rPr>
              <a:t>Lost Revenue by Contract</a:t>
            </a:r>
            <a:endParaRPr lang="en-US" sz="1400" dirty="0"/>
          </a:p>
        </p:txBody>
      </p:sp>
      <p:sp>
        <p:nvSpPr>
          <p:cNvPr id="7" name="Text 4"/>
          <p:cNvSpPr txBox="1"/>
          <p:nvPr/>
        </p:nvSpPr>
        <p:spPr>
          <a:xfrm>
            <a:off x="731520" y="1737360"/>
            <a:ext cx="5029200" cy="256032"/>
          </a:xfrm>
          <a:prstGeom prst="rect">
            <a:avLst/>
          </a:prstGeom>
          <a:noFill/>
          <a:ln/>
        </p:spPr>
        <p:txBody>
          <a:bodyPr wrap="square" lIns="0" tIns="0" rIns="0" bIns="0" rtlCol="0" anchor="t"/>
          <a:lstStyle/>
          <a:p>
            <a:pPr indent="0" marL="0">
              <a:buNone/>
            </a:pPr>
            <a:r>
              <a:rPr lang="en-US" sz="1200" i="1" dirty="0">
                <a:solidFill>
                  <a:schemeClr val="tx2"/>
                </a:solidFill>
              </a:rPr>
              <a:t>Question: Which contract type leaks the most?</a:t>
            </a:r>
            <a:endParaRPr lang="en-US" sz="1200" dirty="0"/>
          </a:p>
        </p:txBody>
      </p:sp>
      <p:graphicFrame>
        <p:nvGraphicFramePr>
          <p:cNvPr id="8" name="Chart 0" descr=""/>
          <p:cNvGraphicFramePr/>
          <p:nvPr/>
        </p:nvGraphicFramePr>
        <p:xfrm>
          <a:off x="640080" y="2029968"/>
          <a:ext cx="3200400" cy="1627632"/>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3977640" y="2148840"/>
            <a:ext cx="1874520" cy="548640"/>
          </a:xfrm>
          <a:prstGeom prst="rect">
            <a:avLst/>
          </a:prstGeom>
          <a:noFill/>
          <a:ln/>
        </p:spPr>
        <p:txBody>
          <a:bodyPr wrap="square" lIns="0" tIns="0" rIns="0" bIns="0" rtlCol="0" anchor="ctr"/>
          <a:lstStyle/>
          <a:p>
            <a:pPr indent="0" marL="0">
              <a:buNone/>
            </a:pPr>
            <a:r>
              <a:rPr lang="en-US" sz="2800" b="1" dirty="0">
                <a:solidFill>
                  <a:schemeClr val="accent1"/>
                </a:solidFill>
              </a:rPr>
              <a:t>86.9%</a:t>
            </a:r>
            <a:endParaRPr lang="en-US" sz="2800" dirty="0"/>
          </a:p>
        </p:txBody>
      </p:sp>
      <p:sp>
        <p:nvSpPr>
          <p:cNvPr id="10" name="Text 6"/>
          <p:cNvSpPr txBox="1"/>
          <p:nvPr/>
        </p:nvSpPr>
        <p:spPr>
          <a:xfrm>
            <a:off x="3977640" y="2743200"/>
            <a:ext cx="1874520" cy="868680"/>
          </a:xfrm>
          <a:prstGeom prst="rect">
            <a:avLst/>
          </a:prstGeom>
          <a:noFill/>
          <a:ln/>
        </p:spPr>
        <p:txBody>
          <a:bodyPr wrap="square" lIns="0" tIns="0" rIns="0" bIns="0" rtlCol="0" anchor="t"/>
          <a:lstStyle/>
          <a:p>
            <a:pPr indent="0" marL="0">
              <a:buNone/>
            </a:pPr>
            <a:r>
              <a:rPr lang="en-US" sz="1200" dirty="0">
                <a:solidFill>
                  <a:schemeClr val="tx1"/>
                </a:solidFill>
              </a:rPr>
              <a:t>of lost revenue is month-to-month; churn 42.7%</a:t>
            </a:r>
            <a:endParaRPr lang="en-US" sz="1200" dirty="0"/>
          </a:p>
        </p:txBody>
      </p:sp>
      <p:sp>
        <p:nvSpPr>
          <p:cNvPr id="11" name="Driver card"/>
          <p:cNvSpPr/>
          <p:nvPr/>
        </p:nvSpPr>
        <p:spPr>
          <a:xfrm>
            <a:off x="6199632" y="1371600"/>
            <a:ext cx="5440680" cy="2331720"/>
          </a:xfrm>
          <a:prstGeom prst="roundRect">
            <a:avLst>
              <a:gd name="adj" fmla="val 3922"/>
            </a:avLst>
          </a:prstGeom>
          <a:solidFill>
            <a:schemeClr val="bg2"/>
          </a:solidFill>
          <a:ln/>
        </p:spPr>
      </p:sp>
      <p:sp>
        <p:nvSpPr>
          <p:cNvPr id="12" name="Text 8"/>
          <p:cNvSpPr txBox="1"/>
          <p:nvPr/>
        </p:nvSpPr>
        <p:spPr>
          <a:xfrm>
            <a:off x="6382512" y="1463040"/>
            <a:ext cx="5029200" cy="274320"/>
          </a:xfrm>
          <a:prstGeom prst="rect">
            <a:avLst/>
          </a:prstGeom>
          <a:noFill/>
          <a:ln/>
        </p:spPr>
        <p:txBody>
          <a:bodyPr wrap="square" lIns="0" tIns="0" rIns="0" bIns="0" rtlCol="0" anchor="t"/>
          <a:lstStyle/>
          <a:p>
            <a:pPr indent="0" marL="0">
              <a:buNone/>
            </a:pPr>
            <a:r>
              <a:rPr lang="en-US" sz="1400" b="1" dirty="0">
                <a:solidFill>
                  <a:schemeClr val="tx1"/>
                </a:solidFill>
              </a:rPr>
              <a:t>Lost Revenue by Internet Service</a:t>
            </a:r>
            <a:endParaRPr lang="en-US" sz="1400" dirty="0"/>
          </a:p>
        </p:txBody>
      </p:sp>
      <p:sp>
        <p:nvSpPr>
          <p:cNvPr id="13" name="Text 9"/>
          <p:cNvSpPr txBox="1"/>
          <p:nvPr/>
        </p:nvSpPr>
        <p:spPr>
          <a:xfrm>
            <a:off x="6382512" y="1737360"/>
            <a:ext cx="5029200" cy="256032"/>
          </a:xfrm>
          <a:prstGeom prst="rect">
            <a:avLst/>
          </a:prstGeom>
          <a:noFill/>
          <a:ln/>
        </p:spPr>
        <p:txBody>
          <a:bodyPr wrap="square" lIns="0" tIns="0" rIns="0" bIns="0" rtlCol="0" anchor="t"/>
          <a:lstStyle/>
          <a:p>
            <a:pPr indent="0" marL="0">
              <a:buNone/>
            </a:pPr>
            <a:r>
              <a:rPr lang="en-US" sz="1200" i="1" dirty="0">
                <a:solidFill>
                  <a:schemeClr val="tx2"/>
                </a:solidFill>
              </a:rPr>
              <a:t>Question: Which service line loses the most revenue?</a:t>
            </a:r>
            <a:endParaRPr lang="en-US" sz="1200" dirty="0"/>
          </a:p>
        </p:txBody>
      </p:sp>
      <p:graphicFrame>
        <p:nvGraphicFramePr>
          <p:cNvPr id="14" name="Chart 1" descr=""/>
          <p:cNvGraphicFramePr/>
          <p:nvPr/>
        </p:nvGraphicFramePr>
        <p:xfrm>
          <a:off x="6291072" y="2029968"/>
          <a:ext cx="3200400" cy="1627632"/>
        </p:xfrm>
        <a:graphic xmlns:a="http://schemas.openxmlformats.org/drawingml/2006/main">
          <a:graphicData uri="http://schemas.openxmlformats.org/drawingml/2006/chart">
            <c:chart xmlns:c="http://schemas.openxmlformats.org/drawingml/2006/chart" r:id="rId2"/>
          </a:graphicData>
        </a:graphic>
      </p:graphicFrame>
      <p:sp>
        <p:nvSpPr>
          <p:cNvPr id="15" name="Text 10"/>
          <p:cNvSpPr txBox="1"/>
          <p:nvPr/>
        </p:nvSpPr>
        <p:spPr>
          <a:xfrm>
            <a:off x="9628632" y="2148840"/>
            <a:ext cx="1874520" cy="548640"/>
          </a:xfrm>
          <a:prstGeom prst="rect">
            <a:avLst/>
          </a:prstGeom>
          <a:noFill/>
          <a:ln/>
        </p:spPr>
        <p:txBody>
          <a:bodyPr wrap="square" lIns="0" tIns="0" rIns="0" bIns="0" rtlCol="0" anchor="ctr"/>
          <a:lstStyle/>
          <a:p>
            <a:pPr indent="0" marL="0">
              <a:buNone/>
            </a:pPr>
            <a:r>
              <a:rPr lang="en-US" sz="2800" b="1" dirty="0">
                <a:solidFill>
                  <a:schemeClr val="accent1"/>
                </a:solidFill>
              </a:rPr>
              <a:t>82.2%</a:t>
            </a:r>
            <a:endParaRPr lang="en-US" sz="2800" dirty="0"/>
          </a:p>
        </p:txBody>
      </p:sp>
      <p:sp>
        <p:nvSpPr>
          <p:cNvPr id="16" name="Text 11"/>
          <p:cNvSpPr txBox="1"/>
          <p:nvPr/>
        </p:nvSpPr>
        <p:spPr>
          <a:xfrm>
            <a:off x="9628632" y="2743200"/>
            <a:ext cx="1874520" cy="868680"/>
          </a:xfrm>
          <a:prstGeom prst="rect">
            <a:avLst/>
          </a:prstGeom>
          <a:noFill/>
          <a:ln/>
        </p:spPr>
        <p:txBody>
          <a:bodyPr wrap="square" lIns="0" tIns="0" rIns="0" bIns="0" rtlCol="0" anchor="t"/>
          <a:lstStyle/>
          <a:p>
            <a:pPr indent="0" marL="0">
              <a:buNone/>
            </a:pPr>
            <a:r>
              <a:rPr lang="en-US" sz="1200" dirty="0">
                <a:solidFill>
                  <a:schemeClr val="tx1"/>
                </a:solidFill>
              </a:rPr>
              <a:t>of lost revenue is fiber; churn 41.9% vs 19.0% for DSL</a:t>
            </a:r>
            <a:endParaRPr lang="en-US" sz="1200" dirty="0"/>
          </a:p>
        </p:txBody>
      </p:sp>
      <p:sp>
        <p:nvSpPr>
          <p:cNvPr id="17" name="Driver card"/>
          <p:cNvSpPr/>
          <p:nvPr/>
        </p:nvSpPr>
        <p:spPr>
          <a:xfrm>
            <a:off x="548640" y="3840480"/>
            <a:ext cx="5440680" cy="2331720"/>
          </a:xfrm>
          <a:prstGeom prst="roundRect">
            <a:avLst>
              <a:gd name="adj" fmla="val 3922"/>
            </a:avLst>
          </a:prstGeom>
          <a:solidFill>
            <a:schemeClr val="bg2"/>
          </a:solidFill>
          <a:ln/>
        </p:spPr>
      </p:sp>
      <p:sp>
        <p:nvSpPr>
          <p:cNvPr id="18" name="Text 13"/>
          <p:cNvSpPr txBox="1"/>
          <p:nvPr/>
        </p:nvSpPr>
        <p:spPr>
          <a:xfrm>
            <a:off x="731520" y="3931920"/>
            <a:ext cx="5029200" cy="274320"/>
          </a:xfrm>
          <a:prstGeom prst="rect">
            <a:avLst/>
          </a:prstGeom>
          <a:noFill/>
          <a:ln/>
        </p:spPr>
        <p:txBody>
          <a:bodyPr wrap="square" lIns="0" tIns="0" rIns="0" bIns="0" rtlCol="0" anchor="t"/>
          <a:lstStyle/>
          <a:p>
            <a:pPr indent="0" marL="0">
              <a:buNone/>
            </a:pPr>
            <a:r>
              <a:rPr lang="en-US" sz="1400" b="1" dirty="0">
                <a:solidFill>
                  <a:schemeClr val="tx1"/>
                </a:solidFill>
              </a:rPr>
              <a:t>Lost Revenue by Payment Method</a:t>
            </a:r>
            <a:endParaRPr lang="en-US" sz="1400" dirty="0"/>
          </a:p>
        </p:txBody>
      </p:sp>
      <p:sp>
        <p:nvSpPr>
          <p:cNvPr id="19" name="Text 14"/>
          <p:cNvSpPr txBox="1"/>
          <p:nvPr/>
        </p:nvSpPr>
        <p:spPr>
          <a:xfrm>
            <a:off x="731520" y="4206240"/>
            <a:ext cx="5029200" cy="256032"/>
          </a:xfrm>
          <a:prstGeom prst="rect">
            <a:avLst/>
          </a:prstGeom>
          <a:noFill/>
          <a:ln/>
        </p:spPr>
        <p:txBody>
          <a:bodyPr wrap="square" lIns="0" tIns="0" rIns="0" bIns="0" rtlCol="0" anchor="t"/>
          <a:lstStyle/>
          <a:p>
            <a:pPr indent="0" marL="0">
              <a:buNone/>
            </a:pPr>
            <a:r>
              <a:rPr lang="en-US" sz="1200" i="1" dirty="0">
                <a:solidFill>
                  <a:schemeClr val="tx2"/>
                </a:solidFill>
              </a:rPr>
              <a:t>Question: Does how customers pay relate to leaving?</a:t>
            </a:r>
            <a:endParaRPr lang="en-US" sz="1200" dirty="0"/>
          </a:p>
        </p:txBody>
      </p:sp>
      <p:graphicFrame>
        <p:nvGraphicFramePr>
          <p:cNvPr id="20" name="Chart 2" descr=""/>
          <p:cNvGraphicFramePr/>
          <p:nvPr/>
        </p:nvGraphicFramePr>
        <p:xfrm>
          <a:off x="640080" y="4498848"/>
          <a:ext cx="3200400" cy="1627632"/>
        </p:xfrm>
        <a:graphic xmlns:a="http://schemas.openxmlformats.org/drawingml/2006/main">
          <a:graphicData uri="http://schemas.openxmlformats.org/drawingml/2006/chart">
            <c:chart xmlns:c="http://schemas.openxmlformats.org/drawingml/2006/chart" r:id="rId3"/>
          </a:graphicData>
        </a:graphic>
      </p:graphicFrame>
      <p:sp>
        <p:nvSpPr>
          <p:cNvPr id="21" name="Text 15"/>
          <p:cNvSpPr txBox="1"/>
          <p:nvPr/>
        </p:nvSpPr>
        <p:spPr>
          <a:xfrm>
            <a:off x="3977640" y="4617720"/>
            <a:ext cx="1874520" cy="548640"/>
          </a:xfrm>
          <a:prstGeom prst="rect">
            <a:avLst/>
          </a:prstGeom>
          <a:noFill/>
          <a:ln/>
        </p:spPr>
        <p:txBody>
          <a:bodyPr wrap="square" lIns="0" tIns="0" rIns="0" bIns="0" rtlCol="0" anchor="ctr"/>
          <a:lstStyle/>
          <a:p>
            <a:pPr indent="0" marL="0">
              <a:buNone/>
            </a:pPr>
            <a:r>
              <a:rPr lang="en-US" sz="2800" b="1" dirty="0">
                <a:solidFill>
                  <a:schemeClr val="accent1"/>
                </a:solidFill>
              </a:rPr>
              <a:t>45.3%</a:t>
            </a:r>
            <a:endParaRPr lang="en-US" sz="2800" dirty="0"/>
          </a:p>
        </p:txBody>
      </p:sp>
      <p:sp>
        <p:nvSpPr>
          <p:cNvPr id="22" name="Text 16"/>
          <p:cNvSpPr txBox="1"/>
          <p:nvPr/>
        </p:nvSpPr>
        <p:spPr>
          <a:xfrm>
            <a:off x="3977640" y="5212080"/>
            <a:ext cx="1874520" cy="868680"/>
          </a:xfrm>
          <a:prstGeom prst="rect">
            <a:avLst/>
          </a:prstGeom>
          <a:noFill/>
          <a:ln/>
        </p:spPr>
        <p:txBody>
          <a:bodyPr wrap="square" lIns="0" tIns="0" rIns="0" bIns="0" rtlCol="0" anchor="t"/>
          <a:lstStyle/>
          <a:p>
            <a:pPr indent="0" marL="0">
              <a:buNone/>
            </a:pPr>
            <a:r>
              <a:rPr lang="en-US" sz="1200" dirty="0">
                <a:solidFill>
                  <a:schemeClr val="tx1"/>
                </a:solidFill>
              </a:rPr>
              <a:t>churn for electronic check; 15 to 19% elsewhere</a:t>
            </a:r>
            <a:endParaRPr lang="en-US" sz="1200" dirty="0"/>
          </a:p>
        </p:txBody>
      </p:sp>
      <p:sp>
        <p:nvSpPr>
          <p:cNvPr id="23" name="Driver card"/>
          <p:cNvSpPr/>
          <p:nvPr/>
        </p:nvSpPr>
        <p:spPr>
          <a:xfrm>
            <a:off x="6199632" y="3840480"/>
            <a:ext cx="5440680" cy="2331720"/>
          </a:xfrm>
          <a:prstGeom prst="roundRect">
            <a:avLst>
              <a:gd name="adj" fmla="val 3922"/>
            </a:avLst>
          </a:prstGeom>
          <a:solidFill>
            <a:schemeClr val="bg2"/>
          </a:solidFill>
          <a:ln/>
        </p:spPr>
      </p:sp>
      <p:sp>
        <p:nvSpPr>
          <p:cNvPr id="24" name="Text 18"/>
          <p:cNvSpPr txBox="1"/>
          <p:nvPr/>
        </p:nvSpPr>
        <p:spPr>
          <a:xfrm>
            <a:off x="6382512" y="3931920"/>
            <a:ext cx="5029200" cy="274320"/>
          </a:xfrm>
          <a:prstGeom prst="rect">
            <a:avLst/>
          </a:prstGeom>
          <a:noFill/>
          <a:ln/>
        </p:spPr>
        <p:txBody>
          <a:bodyPr wrap="square" lIns="0" tIns="0" rIns="0" bIns="0" rtlCol="0" anchor="t"/>
          <a:lstStyle/>
          <a:p>
            <a:pPr indent="0" marL="0">
              <a:buNone/>
            </a:pPr>
            <a:r>
              <a:rPr lang="en-US" sz="1400" b="1" dirty="0">
                <a:solidFill>
                  <a:schemeClr val="tx1"/>
                </a:solidFill>
              </a:rPr>
              <a:t>Lost Revenue by Tenure</a:t>
            </a:r>
            <a:endParaRPr lang="en-US" sz="1400" dirty="0"/>
          </a:p>
        </p:txBody>
      </p:sp>
      <p:sp>
        <p:nvSpPr>
          <p:cNvPr id="25" name="Text 19"/>
          <p:cNvSpPr txBox="1"/>
          <p:nvPr/>
        </p:nvSpPr>
        <p:spPr>
          <a:xfrm>
            <a:off x="6382512" y="4206240"/>
            <a:ext cx="5029200" cy="256032"/>
          </a:xfrm>
          <a:prstGeom prst="rect">
            <a:avLst/>
          </a:prstGeom>
          <a:noFill/>
          <a:ln/>
        </p:spPr>
        <p:txBody>
          <a:bodyPr wrap="square" lIns="0" tIns="0" rIns="0" bIns="0" rtlCol="0" anchor="t"/>
          <a:lstStyle/>
          <a:p>
            <a:pPr indent="0" marL="0">
              <a:buNone/>
            </a:pPr>
            <a:r>
              <a:rPr lang="en-US" sz="1200" i="1" dirty="0">
                <a:solidFill>
                  <a:schemeClr val="tx2"/>
                </a:solidFill>
              </a:rPr>
              <a:t>Question: How early in the relationship do we lose revenue?</a:t>
            </a:r>
            <a:endParaRPr lang="en-US" sz="1200" dirty="0"/>
          </a:p>
        </p:txBody>
      </p:sp>
      <p:graphicFrame>
        <p:nvGraphicFramePr>
          <p:cNvPr id="26" name="Chart 3" descr=""/>
          <p:cNvGraphicFramePr/>
          <p:nvPr/>
        </p:nvGraphicFramePr>
        <p:xfrm>
          <a:off x="6291072" y="4498848"/>
          <a:ext cx="3200400" cy="1627632"/>
        </p:xfrm>
        <a:graphic xmlns:a="http://schemas.openxmlformats.org/drawingml/2006/main">
          <a:graphicData uri="http://schemas.openxmlformats.org/drawingml/2006/chart">
            <c:chart xmlns:c="http://schemas.openxmlformats.org/drawingml/2006/chart" r:id="rId4"/>
          </a:graphicData>
        </a:graphic>
      </p:graphicFrame>
      <p:sp>
        <p:nvSpPr>
          <p:cNvPr id="27" name="Text 20"/>
          <p:cNvSpPr txBox="1"/>
          <p:nvPr/>
        </p:nvSpPr>
        <p:spPr>
          <a:xfrm>
            <a:off x="9628632" y="4617720"/>
            <a:ext cx="1874520" cy="548640"/>
          </a:xfrm>
          <a:prstGeom prst="rect">
            <a:avLst/>
          </a:prstGeom>
          <a:noFill/>
          <a:ln/>
        </p:spPr>
        <p:txBody>
          <a:bodyPr wrap="square" lIns="0" tIns="0" rIns="0" bIns="0" rtlCol="0" anchor="ctr"/>
          <a:lstStyle/>
          <a:p>
            <a:pPr indent="0" marL="0">
              <a:buNone/>
            </a:pPr>
            <a:r>
              <a:rPr lang="en-US" sz="2800" b="1" dirty="0">
                <a:solidFill>
                  <a:schemeClr val="accent1"/>
                </a:solidFill>
              </a:rPr>
              <a:t>49.6%</a:t>
            </a:r>
            <a:endParaRPr lang="en-US" sz="2800" dirty="0"/>
          </a:p>
        </p:txBody>
      </p:sp>
      <p:sp>
        <p:nvSpPr>
          <p:cNvPr id="28" name="Text 21"/>
          <p:cNvSpPr txBox="1"/>
          <p:nvPr/>
        </p:nvSpPr>
        <p:spPr>
          <a:xfrm>
            <a:off x="9628632" y="5212080"/>
            <a:ext cx="1874520" cy="868680"/>
          </a:xfrm>
          <a:prstGeom prst="rect">
            <a:avLst/>
          </a:prstGeom>
          <a:noFill/>
          <a:ln/>
        </p:spPr>
        <p:txBody>
          <a:bodyPr wrap="square" lIns="0" tIns="0" rIns="0" bIns="0" rtlCol="0" anchor="t"/>
          <a:lstStyle/>
          <a:p>
            <a:pPr indent="0" marL="0">
              <a:buNone/>
            </a:pPr>
            <a:r>
              <a:rPr lang="en-US" sz="1200" dirty="0">
                <a:solidFill>
                  <a:schemeClr val="tx1"/>
                </a:solidFill>
              </a:rPr>
              <a:t>of lost revenue is first-year; churn 47.4% vs 9.5% at years 4-6</a:t>
            </a:r>
            <a:endParaRPr lang="en-US" sz="1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PAGE 2  |  LEAKAGE DRIVERS</a:t>
            </a:r>
            <a:endParaRPr lang="en-US" sz="1200" dirty="0"/>
          </a:p>
        </p:txBody>
      </p:sp>
      <p:sp>
        <p:nvSpPr>
          <p:cNvPr id="3" name="Text 0"/>
          <p:cNvSpPr/>
          <p:nvPr>
            <p:ph idx="100"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High-risk groups churn 2x to 15x more</a:t>
            </a:r>
            <a:endParaRPr lang="en-US" sz="3000" dirty="0"/>
          </a:p>
        </p:txBody>
      </p:sp>
      <p:sp>
        <p:nvSpPr>
          <p:cNvPr id="5" name="Chart card"/>
          <p:cNvSpPr/>
          <p:nvPr/>
        </p:nvSpPr>
        <p:spPr>
          <a:xfrm>
            <a:off x="548640" y="1417320"/>
            <a:ext cx="6675120" cy="4800600"/>
          </a:xfrm>
          <a:prstGeom prst="roundRect">
            <a:avLst>
              <a:gd name="adj" fmla="val 1905"/>
            </a:avLst>
          </a:prstGeom>
          <a:solidFill>
            <a:schemeClr val="bg2"/>
          </a:solidFill>
          <a:ln/>
        </p:spPr>
      </p:sp>
      <p:sp>
        <p:nvSpPr>
          <p:cNvPr id="6" name="Text 3"/>
          <p:cNvSpPr txBox="1"/>
          <p:nvPr/>
        </p:nvSpPr>
        <p:spPr>
          <a:xfrm>
            <a:off x="777240" y="1508760"/>
            <a:ext cx="6217920" cy="320040"/>
          </a:xfrm>
          <a:prstGeom prst="rect">
            <a:avLst/>
          </a:prstGeom>
          <a:noFill/>
          <a:ln/>
        </p:spPr>
        <p:txBody>
          <a:bodyPr wrap="square" lIns="0" tIns="0" rIns="0" bIns="0" rtlCol="0" anchor="t"/>
          <a:lstStyle/>
          <a:p>
            <a:pPr indent="0" marL="0">
              <a:buNone/>
            </a:pPr>
            <a:r>
              <a:rPr lang="en-US" sz="1600" b="1" dirty="0">
                <a:solidFill>
                  <a:schemeClr val="tx1"/>
                </a:solidFill>
              </a:rPr>
              <a:t>Churn rate: highest-risk group vs lowest-risk comparison</a:t>
            </a:r>
            <a:endParaRPr lang="en-US" sz="1600" dirty="0"/>
          </a:p>
        </p:txBody>
      </p:sp>
      <p:sp>
        <p:nvSpPr>
          <p:cNvPr id="7" name="Text 4"/>
          <p:cNvSpPr txBox="1"/>
          <p:nvPr/>
        </p:nvSpPr>
        <p:spPr>
          <a:xfrm>
            <a:off x="777240" y="1828800"/>
            <a:ext cx="6217920" cy="274320"/>
          </a:xfrm>
          <a:prstGeom prst="rect">
            <a:avLst/>
          </a:prstGeom>
          <a:noFill/>
          <a:ln/>
        </p:spPr>
        <p:txBody>
          <a:bodyPr wrap="square" lIns="0" tIns="0" rIns="0" bIns="0" rtlCol="0" anchor="t"/>
          <a:lstStyle/>
          <a:p>
            <a:pPr indent="0" marL="0">
              <a:buNone/>
            </a:pPr>
            <a:r>
              <a:rPr lang="en-US" sz="1200" i="1" dirty="0">
                <a:solidFill>
                  <a:schemeClr val="tx2"/>
                </a:solidFill>
              </a:rPr>
              <a:t>Question: how much does each factor separate stayers from leavers?</a:t>
            </a:r>
            <a:endParaRPr lang="en-US" sz="1200" dirty="0"/>
          </a:p>
        </p:txBody>
      </p:sp>
      <p:graphicFrame>
        <p:nvGraphicFramePr>
          <p:cNvPr id="8" name="Chart 0" descr=""/>
          <p:cNvGraphicFramePr/>
          <p:nvPr/>
        </p:nvGraphicFramePr>
        <p:xfrm>
          <a:off x="685800" y="2194560"/>
          <a:ext cx="6400800" cy="329184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777240" y="5577840"/>
            <a:ext cx="6217920" cy="548640"/>
          </a:xfrm>
          <a:prstGeom prst="rect">
            <a:avLst/>
          </a:prstGeom>
          <a:noFill/>
          <a:ln/>
        </p:spPr>
        <p:txBody>
          <a:bodyPr wrap="square" lIns="0" tIns="0" rIns="0" bIns="0" rtlCol="0" anchor="t"/>
          <a:lstStyle/>
          <a:p>
            <a:pPr indent="0" marL="0">
              <a:buNone/>
            </a:pPr>
            <a:r>
              <a:rPr lang="en-US" sz="1200" dirty="0">
                <a:solidFill>
                  <a:schemeClr val="tx2"/>
                </a:solidFill>
              </a:rPr>
              <a:t>High risk: month-to-month, fiber optic, electronic check, first year. Low risk: two-year, DSL, lowest-churn auto-pay (15.2%), years 4-6.</a:t>
            </a:r>
            <a:endParaRPr lang="en-US" sz="1200" dirty="0"/>
          </a:p>
        </p:txBody>
      </p:sp>
      <p:sp>
        <p:nvSpPr>
          <p:cNvPr id="10" name="Insight card"/>
          <p:cNvSpPr/>
          <p:nvPr/>
        </p:nvSpPr>
        <p:spPr>
          <a:xfrm>
            <a:off x="7452360" y="1417320"/>
            <a:ext cx="4187952" cy="1097280"/>
          </a:xfrm>
          <a:prstGeom prst="roundRect">
            <a:avLst>
              <a:gd name="adj" fmla="val 8333"/>
            </a:avLst>
          </a:prstGeom>
          <a:solidFill>
            <a:schemeClr val="bg2"/>
          </a:solidFill>
          <a:ln/>
        </p:spPr>
      </p:sp>
      <p:sp>
        <p:nvSpPr>
          <p:cNvPr id="11" name="Text 7"/>
          <p:cNvSpPr txBox="1"/>
          <p:nvPr/>
        </p:nvSpPr>
        <p:spPr>
          <a:xfrm>
            <a:off x="7635240" y="1508760"/>
            <a:ext cx="3840480" cy="274320"/>
          </a:xfrm>
          <a:prstGeom prst="rect">
            <a:avLst/>
          </a:prstGeom>
          <a:noFill/>
          <a:ln/>
        </p:spPr>
        <p:txBody>
          <a:bodyPr wrap="square" lIns="0" tIns="0" rIns="0" bIns="0" rtlCol="0" anchor="t"/>
          <a:lstStyle/>
          <a:p>
            <a:pPr indent="0" marL="0">
              <a:buNone/>
            </a:pPr>
            <a:r>
              <a:rPr lang="en-US" sz="1400" b="1" dirty="0">
                <a:solidFill>
                  <a:schemeClr val="accent1"/>
                </a:solidFill>
              </a:rPr>
              <a:t>Contract</a:t>
            </a:r>
            <a:endParaRPr lang="en-US" sz="1400" dirty="0"/>
          </a:p>
        </p:txBody>
      </p:sp>
      <p:sp>
        <p:nvSpPr>
          <p:cNvPr id="12" name="Text 8"/>
          <p:cNvSpPr txBox="1"/>
          <p:nvPr/>
        </p:nvSpPr>
        <p:spPr>
          <a:xfrm>
            <a:off x="7635240" y="1801368"/>
            <a:ext cx="3840480" cy="685800"/>
          </a:xfrm>
          <a:prstGeom prst="rect">
            <a:avLst/>
          </a:prstGeom>
          <a:noFill/>
          <a:ln/>
        </p:spPr>
        <p:txBody>
          <a:bodyPr wrap="square" lIns="0" tIns="0" rIns="0" bIns="0" rtlCol="0" anchor="t"/>
          <a:lstStyle/>
          <a:p>
            <a:pPr indent="0" marL="0">
              <a:buNone/>
            </a:pPr>
            <a:r>
              <a:rPr lang="en-US" sz="1300" dirty="0">
                <a:solidFill>
                  <a:schemeClr val="tx1"/>
                </a:solidFill>
              </a:rPr>
              <a:t>The widest gap: 42.7% vs 2.8%. Annual and two-year plans barely leak.</a:t>
            </a:r>
            <a:endParaRPr lang="en-US" sz="1300" dirty="0"/>
          </a:p>
        </p:txBody>
      </p:sp>
      <p:sp>
        <p:nvSpPr>
          <p:cNvPr id="13" name="Insight card"/>
          <p:cNvSpPr/>
          <p:nvPr/>
        </p:nvSpPr>
        <p:spPr>
          <a:xfrm>
            <a:off x="7452360" y="2633472"/>
            <a:ext cx="4187952" cy="1097280"/>
          </a:xfrm>
          <a:prstGeom prst="roundRect">
            <a:avLst>
              <a:gd name="adj" fmla="val 8333"/>
            </a:avLst>
          </a:prstGeom>
          <a:solidFill>
            <a:schemeClr val="bg2"/>
          </a:solidFill>
          <a:ln/>
        </p:spPr>
      </p:sp>
      <p:sp>
        <p:nvSpPr>
          <p:cNvPr id="14" name="Text 10"/>
          <p:cNvSpPr txBox="1"/>
          <p:nvPr/>
        </p:nvSpPr>
        <p:spPr>
          <a:xfrm>
            <a:off x="7635240" y="2724912"/>
            <a:ext cx="3840480" cy="274320"/>
          </a:xfrm>
          <a:prstGeom prst="rect">
            <a:avLst/>
          </a:prstGeom>
          <a:noFill/>
          <a:ln/>
        </p:spPr>
        <p:txBody>
          <a:bodyPr wrap="square" lIns="0" tIns="0" rIns="0" bIns="0" rtlCol="0" anchor="t"/>
          <a:lstStyle/>
          <a:p>
            <a:pPr indent="0" marL="0">
              <a:buNone/>
            </a:pPr>
            <a:r>
              <a:rPr lang="en-US" sz="1400" b="1" dirty="0">
                <a:solidFill>
                  <a:schemeClr val="accent1"/>
                </a:solidFill>
              </a:rPr>
              <a:t>Payment method</a:t>
            </a:r>
            <a:endParaRPr lang="en-US" sz="1400" dirty="0"/>
          </a:p>
        </p:txBody>
      </p:sp>
      <p:sp>
        <p:nvSpPr>
          <p:cNvPr id="15" name="Text 11"/>
          <p:cNvSpPr txBox="1"/>
          <p:nvPr/>
        </p:nvSpPr>
        <p:spPr>
          <a:xfrm>
            <a:off x="7635240" y="3017520"/>
            <a:ext cx="3840480" cy="685800"/>
          </a:xfrm>
          <a:prstGeom prst="rect">
            <a:avLst/>
          </a:prstGeom>
          <a:noFill/>
          <a:ln/>
        </p:spPr>
        <p:txBody>
          <a:bodyPr wrap="square" lIns="0" tIns="0" rIns="0" bIns="0" rtlCol="0" anchor="t"/>
          <a:lstStyle/>
          <a:p>
            <a:pPr indent="0" marL="0">
              <a:buNone/>
            </a:pPr>
            <a:r>
              <a:rPr lang="en-US" sz="1300" dirty="0">
                <a:solidFill>
                  <a:schemeClr val="tx1"/>
                </a:solidFill>
              </a:rPr>
              <a:t>Automatic payments sit at 15.2 to 16.7%, a third of electronic check.</a:t>
            </a:r>
            <a:endParaRPr lang="en-US" sz="1300" dirty="0"/>
          </a:p>
        </p:txBody>
      </p:sp>
      <p:sp>
        <p:nvSpPr>
          <p:cNvPr id="16" name="Insight card"/>
          <p:cNvSpPr/>
          <p:nvPr/>
        </p:nvSpPr>
        <p:spPr>
          <a:xfrm>
            <a:off x="7452360" y="3849624"/>
            <a:ext cx="4187952" cy="1097280"/>
          </a:xfrm>
          <a:prstGeom prst="roundRect">
            <a:avLst>
              <a:gd name="adj" fmla="val 8333"/>
            </a:avLst>
          </a:prstGeom>
          <a:solidFill>
            <a:schemeClr val="bg2"/>
          </a:solidFill>
          <a:ln/>
        </p:spPr>
      </p:sp>
      <p:sp>
        <p:nvSpPr>
          <p:cNvPr id="17" name="Text 13"/>
          <p:cNvSpPr txBox="1"/>
          <p:nvPr/>
        </p:nvSpPr>
        <p:spPr>
          <a:xfrm>
            <a:off x="7635240" y="3941064"/>
            <a:ext cx="3840480" cy="274320"/>
          </a:xfrm>
          <a:prstGeom prst="rect">
            <a:avLst/>
          </a:prstGeom>
          <a:noFill/>
          <a:ln/>
        </p:spPr>
        <p:txBody>
          <a:bodyPr wrap="square" lIns="0" tIns="0" rIns="0" bIns="0" rtlCol="0" anchor="t"/>
          <a:lstStyle/>
          <a:p>
            <a:pPr indent="0" marL="0">
              <a:buNone/>
            </a:pPr>
            <a:r>
              <a:rPr lang="en-US" sz="1400" b="1" dirty="0">
                <a:solidFill>
                  <a:schemeClr val="accent1"/>
                </a:solidFill>
              </a:rPr>
              <a:t>Tenure</a:t>
            </a:r>
            <a:endParaRPr lang="en-US" sz="1400" dirty="0"/>
          </a:p>
        </p:txBody>
      </p:sp>
      <p:sp>
        <p:nvSpPr>
          <p:cNvPr id="18" name="Text 14"/>
          <p:cNvSpPr txBox="1"/>
          <p:nvPr/>
        </p:nvSpPr>
        <p:spPr>
          <a:xfrm>
            <a:off x="7635240" y="4233672"/>
            <a:ext cx="3840480" cy="685800"/>
          </a:xfrm>
          <a:prstGeom prst="rect">
            <a:avLst/>
          </a:prstGeom>
          <a:noFill/>
          <a:ln/>
        </p:spPr>
        <p:txBody>
          <a:bodyPr wrap="square" lIns="0" tIns="0" rIns="0" bIns="0" rtlCol="0" anchor="t"/>
          <a:lstStyle/>
          <a:p>
            <a:pPr indent="0" marL="0">
              <a:buNone/>
            </a:pPr>
            <a:r>
              <a:rPr lang="en-US" sz="1300" dirty="0">
                <a:solidFill>
                  <a:schemeClr val="tx1"/>
                </a:solidFill>
              </a:rPr>
              <a:t>Churn drops from 47.4% in year one to 9.5% by years 4 to 6.</a:t>
            </a:r>
            <a:endParaRPr lang="en-US" sz="1300" dirty="0"/>
          </a:p>
        </p:txBody>
      </p:sp>
      <p:sp>
        <p:nvSpPr>
          <p:cNvPr id="19" name="Insight card"/>
          <p:cNvSpPr/>
          <p:nvPr/>
        </p:nvSpPr>
        <p:spPr>
          <a:xfrm>
            <a:off x="7452360" y="5065776"/>
            <a:ext cx="4187952" cy="1097280"/>
          </a:xfrm>
          <a:prstGeom prst="roundRect">
            <a:avLst>
              <a:gd name="adj" fmla="val 8333"/>
            </a:avLst>
          </a:prstGeom>
          <a:solidFill>
            <a:schemeClr val="bg2"/>
          </a:solidFill>
          <a:ln/>
        </p:spPr>
      </p:sp>
      <p:sp>
        <p:nvSpPr>
          <p:cNvPr id="20" name="Text 16"/>
          <p:cNvSpPr txBox="1"/>
          <p:nvPr/>
        </p:nvSpPr>
        <p:spPr>
          <a:xfrm>
            <a:off x="7635240" y="5157216"/>
            <a:ext cx="3840480" cy="274320"/>
          </a:xfrm>
          <a:prstGeom prst="rect">
            <a:avLst/>
          </a:prstGeom>
          <a:noFill/>
          <a:ln/>
        </p:spPr>
        <p:txBody>
          <a:bodyPr wrap="square" lIns="0" tIns="0" rIns="0" bIns="0" rtlCol="0" anchor="t"/>
          <a:lstStyle/>
          <a:p>
            <a:pPr indent="0" marL="0">
              <a:buNone/>
            </a:pPr>
            <a:r>
              <a:rPr lang="en-US" sz="1400" b="1" dirty="0">
                <a:solidFill>
                  <a:schemeClr val="accent1"/>
                </a:solidFill>
              </a:rPr>
              <a:t>Internet service</a:t>
            </a:r>
            <a:endParaRPr lang="en-US" sz="1400" dirty="0"/>
          </a:p>
        </p:txBody>
      </p:sp>
      <p:sp>
        <p:nvSpPr>
          <p:cNvPr id="21" name="Text 17"/>
          <p:cNvSpPr txBox="1"/>
          <p:nvPr/>
        </p:nvSpPr>
        <p:spPr>
          <a:xfrm>
            <a:off x="7635240" y="5449824"/>
            <a:ext cx="3840480" cy="685800"/>
          </a:xfrm>
          <a:prstGeom prst="rect">
            <a:avLst/>
          </a:prstGeom>
          <a:noFill/>
          <a:ln/>
        </p:spPr>
        <p:txBody>
          <a:bodyPr wrap="square" lIns="0" tIns="0" rIns="0" bIns="0" rtlCol="0" anchor="t"/>
          <a:lstStyle/>
          <a:p>
            <a:pPr indent="0" marL="0">
              <a:buNone/>
            </a:pPr>
            <a:r>
              <a:rPr lang="en-US" sz="1300" dirty="0">
                <a:solidFill>
                  <a:schemeClr val="tx1"/>
                </a:solidFill>
              </a:rPr>
              <a:t>Fiber churns at 41.9% against 19.0% for DSL, and holds $114K of the loss.</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PAGE 2  |  STAKEHOLDERS AND SCENARIOS</a:t>
            </a:r>
            <a:endParaRPr lang="en-US" sz="1200" dirty="0"/>
          </a:p>
        </p:txBody>
      </p:sp>
      <p:sp>
        <p:nvSpPr>
          <p:cNvPr id="3" name="Text 0"/>
          <p:cNvSpPr/>
          <p:nvPr>
            <p:ph idx="100"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Leakage Drivers: who acts on it</a:t>
            </a:r>
            <a:endParaRPr lang="en-US" sz="3000" dirty="0"/>
          </a:p>
        </p:txBody>
      </p:sp>
      <p:sp>
        <p:nvSpPr>
          <p:cNvPr id="5" name="Stakeholder card"/>
          <p:cNvSpPr/>
          <p:nvPr/>
        </p:nvSpPr>
        <p:spPr>
          <a:xfrm>
            <a:off x="548640" y="1463040"/>
            <a:ext cx="3566160" cy="4754880"/>
          </a:xfrm>
          <a:prstGeom prst="roundRect">
            <a:avLst>
              <a:gd name="adj" fmla="val 2564"/>
            </a:avLst>
          </a:prstGeom>
          <a:solidFill>
            <a:schemeClr val="bg2"/>
          </a:solidFill>
          <a:ln/>
        </p:spPr>
      </p:sp>
      <p:sp>
        <p:nvSpPr>
          <p:cNvPr id="6" name="Stakeholder header"/>
          <p:cNvSpPr/>
          <p:nvPr/>
        </p:nvSpPr>
        <p:spPr>
          <a:xfrm>
            <a:off x="548640" y="1463040"/>
            <a:ext cx="3566160" cy="640080"/>
          </a:xfrm>
          <a:prstGeom prst="roundRect">
            <a:avLst>
              <a:gd name="adj" fmla="val 14286"/>
            </a:avLst>
          </a:prstGeom>
          <a:solidFill>
            <a:schemeClr val="tx2"/>
          </a:solidFill>
          <a:ln/>
        </p:spPr>
      </p:sp>
      <p:sp>
        <p:nvSpPr>
          <p:cNvPr id="7" name="Text 4"/>
          <p:cNvSpPr txBox="1"/>
          <p:nvPr/>
        </p:nvSpPr>
        <p:spPr>
          <a:xfrm>
            <a:off x="777240" y="1463040"/>
            <a:ext cx="3108960" cy="640080"/>
          </a:xfrm>
          <a:prstGeom prst="rect">
            <a:avLst/>
          </a:prstGeom>
          <a:noFill/>
          <a:ln/>
        </p:spPr>
        <p:txBody>
          <a:bodyPr wrap="square" lIns="0" tIns="0" rIns="0" bIns="0" rtlCol="0" anchor="ctr"/>
          <a:lstStyle/>
          <a:p>
            <a:pPr indent="0" marL="0">
              <a:buNone/>
            </a:pPr>
            <a:r>
              <a:rPr lang="en-US" sz="1600" b="1" dirty="0">
                <a:solidFill>
                  <a:schemeClr val="bg1"/>
                </a:solidFill>
              </a:rPr>
              <a:t>Customer Retention / CX</a:t>
            </a:r>
            <a:endParaRPr lang="en-US" sz="1600" dirty="0"/>
          </a:p>
        </p:txBody>
      </p:sp>
      <p:sp>
        <p:nvSpPr>
          <p:cNvPr id="8" name="Text 5"/>
          <p:cNvSpPr txBox="1"/>
          <p:nvPr/>
        </p:nvSpPr>
        <p:spPr>
          <a:xfrm>
            <a:off x="777240" y="2286000"/>
            <a:ext cx="3108960" cy="3840480"/>
          </a:xfrm>
          <a:prstGeom prst="rect">
            <a:avLst/>
          </a:prstGeom>
          <a:noFill/>
          <a:ln/>
        </p:spPr>
        <p:txBody>
          <a:bodyPr wrap="square" lIns="0" tIns="0" rIns="0" bIns="0" rtlCol="0" anchor="t"/>
          <a:lstStyle/>
          <a:p>
            <a:pPr indent="0" marL="0">
              <a:buNone/>
            </a:pPr>
            <a:r>
              <a:rPr lang="en-US" sz="1300" b="1" dirty="0">
                <a:solidFill>
                  <a:schemeClr val="accent1"/>
                </a:solidFill>
              </a:rPr>
              <a:t>BUSINESS SCENARIO</a:t>
            </a:r>
            <a:endParaRPr lang="en-US" sz="1400" dirty="0"/>
          </a:p>
          <a:p>
            <a:pPr indent="0" marL="0">
              <a:spcAft>
                <a:spcPts val="1000"/>
              </a:spcAft>
              <a:buNone/>
            </a:pPr>
            <a:r>
              <a:rPr lang="en-US" sz="1600" dirty="0">
                <a:solidFill>
                  <a:schemeClr val="tx1"/>
                </a:solidFill>
              </a:rPr>
              <a:t>The retention lead plans next quarter's save campaigns with limited team capacity.</a:t>
            </a:r>
            <a:endParaRPr lang="en-US" sz="1400" dirty="0"/>
          </a:p>
          <a:p>
            <a:pPr indent="0" marL="0">
              <a:buNone/>
            </a:pPr>
            <a:r>
              <a:rPr lang="en-US" sz="1300" b="1" dirty="0">
                <a:solidFill>
                  <a:schemeClr val="accent1"/>
                </a:solidFill>
              </a:rPr>
              <a:t>QUESTION THEY ASK</a:t>
            </a:r>
            <a:endParaRPr lang="en-US" sz="1400" dirty="0"/>
          </a:p>
          <a:p>
            <a:pPr indent="0" marL="0">
              <a:spcAft>
                <a:spcPts val="1000"/>
              </a:spcAft>
              <a:buNone/>
            </a:pPr>
            <a:r>
              <a:rPr lang="en-US" sz="1600" dirty="0">
                <a:solidFill>
                  <a:schemeClr val="tx1"/>
                </a:solidFill>
              </a:rPr>
              <a:t>Which factors explain most of the lost revenue?</a:t>
            </a:r>
            <a:endParaRPr lang="en-US" sz="1400" dirty="0"/>
          </a:p>
          <a:p>
            <a:pPr indent="0" marL="0">
              <a:buNone/>
            </a:pPr>
            <a:r>
              <a:rPr lang="en-US" sz="1300" b="1" dirty="0">
                <a:solidFill>
                  <a:schemeClr val="accent1"/>
                </a:solidFill>
              </a:rPr>
              <a:t>DECISION IT SUPPORTS</a:t>
            </a:r>
            <a:endParaRPr lang="en-US" sz="1400" dirty="0"/>
          </a:p>
          <a:p>
            <a:pPr indent="0" marL="0">
              <a:spcAft>
                <a:spcPts val="1000"/>
              </a:spcAft>
              <a:buNone/>
            </a:pPr>
            <a:r>
              <a:rPr lang="en-US" sz="1600" dirty="0">
                <a:solidFill>
                  <a:schemeClr val="tx1"/>
                </a:solidFill>
              </a:rPr>
              <a:t>Rank levers by share of loss: contract, internet service, payment method, tenure. Shares overlap, so do not add them.</a:t>
            </a:r>
            <a:endParaRPr lang="en-US" sz="1400" dirty="0"/>
          </a:p>
        </p:txBody>
      </p:sp>
      <p:sp>
        <p:nvSpPr>
          <p:cNvPr id="9" name="Stakeholder card"/>
          <p:cNvSpPr/>
          <p:nvPr/>
        </p:nvSpPr>
        <p:spPr>
          <a:xfrm>
            <a:off x="4297680" y="1463040"/>
            <a:ext cx="3566160" cy="4754880"/>
          </a:xfrm>
          <a:prstGeom prst="roundRect">
            <a:avLst>
              <a:gd name="adj" fmla="val 2564"/>
            </a:avLst>
          </a:prstGeom>
          <a:solidFill>
            <a:schemeClr val="bg2"/>
          </a:solidFill>
          <a:ln/>
        </p:spPr>
      </p:sp>
      <p:sp>
        <p:nvSpPr>
          <p:cNvPr id="10" name="Stakeholder header"/>
          <p:cNvSpPr/>
          <p:nvPr/>
        </p:nvSpPr>
        <p:spPr>
          <a:xfrm>
            <a:off x="4297680" y="1463040"/>
            <a:ext cx="3566160" cy="640080"/>
          </a:xfrm>
          <a:prstGeom prst="roundRect">
            <a:avLst>
              <a:gd name="adj" fmla="val 14286"/>
            </a:avLst>
          </a:prstGeom>
          <a:solidFill>
            <a:schemeClr val="tx2"/>
          </a:solidFill>
          <a:ln/>
        </p:spPr>
      </p:sp>
      <p:sp>
        <p:nvSpPr>
          <p:cNvPr id="11" name="Text 8"/>
          <p:cNvSpPr txBox="1"/>
          <p:nvPr/>
        </p:nvSpPr>
        <p:spPr>
          <a:xfrm>
            <a:off x="4526280" y="1463040"/>
            <a:ext cx="3108960" cy="640080"/>
          </a:xfrm>
          <a:prstGeom prst="rect">
            <a:avLst/>
          </a:prstGeom>
          <a:noFill/>
          <a:ln/>
        </p:spPr>
        <p:txBody>
          <a:bodyPr wrap="square" lIns="0" tIns="0" rIns="0" bIns="0" rtlCol="0" anchor="ctr"/>
          <a:lstStyle/>
          <a:p>
            <a:pPr indent="0" marL="0">
              <a:buNone/>
            </a:pPr>
            <a:r>
              <a:rPr lang="en-US" sz="1600" b="1" dirty="0">
                <a:solidFill>
                  <a:schemeClr val="bg1"/>
                </a:solidFill>
              </a:rPr>
              <a:t>Billing and Payments</a:t>
            </a:r>
            <a:endParaRPr lang="en-US" sz="1600" dirty="0"/>
          </a:p>
        </p:txBody>
      </p:sp>
      <p:sp>
        <p:nvSpPr>
          <p:cNvPr id="12" name="Text 9"/>
          <p:cNvSpPr txBox="1"/>
          <p:nvPr/>
        </p:nvSpPr>
        <p:spPr>
          <a:xfrm>
            <a:off x="4526280" y="2286000"/>
            <a:ext cx="3108960" cy="3840480"/>
          </a:xfrm>
          <a:prstGeom prst="rect">
            <a:avLst/>
          </a:prstGeom>
          <a:noFill/>
          <a:ln/>
        </p:spPr>
        <p:txBody>
          <a:bodyPr wrap="square" lIns="0" tIns="0" rIns="0" bIns="0" rtlCol="0" anchor="t"/>
          <a:lstStyle/>
          <a:p>
            <a:pPr indent="0" marL="0">
              <a:buNone/>
            </a:pPr>
            <a:r>
              <a:rPr lang="en-US" sz="1300" b="1" dirty="0">
                <a:solidFill>
                  <a:schemeClr val="accent1"/>
                </a:solidFill>
              </a:rPr>
              <a:t>BUSINESS SCENARIO</a:t>
            </a:r>
            <a:endParaRPr lang="en-US" sz="1400" dirty="0"/>
          </a:p>
          <a:p>
            <a:pPr indent="0" marL="0">
              <a:spcAft>
                <a:spcPts val="1000"/>
              </a:spcAft>
              <a:buNone/>
            </a:pPr>
            <a:r>
              <a:rPr lang="en-US" sz="1600" dirty="0">
                <a:solidFill>
                  <a:schemeClr val="tx1"/>
                </a:solidFill>
              </a:rPr>
              <a:t>The billing team reviews why one payment method churns at three times the rate of the others.</a:t>
            </a:r>
            <a:endParaRPr lang="en-US" sz="1400" dirty="0"/>
          </a:p>
          <a:p>
            <a:pPr indent="0" marL="0">
              <a:buNone/>
            </a:pPr>
            <a:r>
              <a:rPr lang="en-US" sz="1300" b="1" dirty="0">
                <a:solidFill>
                  <a:schemeClr val="accent1"/>
                </a:solidFill>
              </a:rPr>
              <a:t>QUESTION THEY ASK</a:t>
            </a:r>
            <a:endParaRPr lang="en-US" sz="1400" dirty="0"/>
          </a:p>
          <a:p>
            <a:pPr indent="0" marL="0">
              <a:spcAft>
                <a:spcPts val="1000"/>
              </a:spcAft>
              <a:buNone/>
            </a:pPr>
            <a:r>
              <a:rPr lang="en-US" sz="1600" dirty="0">
                <a:solidFill>
                  <a:schemeClr val="tx1"/>
                </a:solidFill>
              </a:rPr>
              <a:t>Is electronic check a cause of churn or a signal of weaker commitment?</a:t>
            </a:r>
            <a:endParaRPr lang="en-US" sz="1400" dirty="0"/>
          </a:p>
          <a:p>
            <a:pPr indent="0" marL="0">
              <a:buNone/>
            </a:pPr>
            <a:r>
              <a:rPr lang="en-US" sz="1300" b="1" dirty="0">
                <a:solidFill>
                  <a:schemeClr val="accent1"/>
                </a:solidFill>
              </a:rPr>
              <a:t>DECISION IT SUPPORTS</a:t>
            </a:r>
            <a:endParaRPr lang="en-US" sz="1400" dirty="0"/>
          </a:p>
          <a:p>
            <a:pPr indent="0" marL="0">
              <a:spcAft>
                <a:spcPts val="1000"/>
              </a:spcAft>
              <a:buNone/>
            </a:pPr>
            <a:r>
              <a:rPr lang="en-US" sz="1600" dirty="0">
                <a:solidFill>
                  <a:schemeClr val="tx1"/>
                </a:solidFill>
              </a:rPr>
              <a:t>Test auto-pay migration incentives and review billing friction on electronic-check accounts.</a:t>
            </a:r>
            <a:endParaRPr lang="en-US" sz="1400" dirty="0"/>
          </a:p>
        </p:txBody>
      </p:sp>
      <p:sp>
        <p:nvSpPr>
          <p:cNvPr id="13" name="Stakeholder card"/>
          <p:cNvSpPr/>
          <p:nvPr/>
        </p:nvSpPr>
        <p:spPr>
          <a:xfrm>
            <a:off x="8046720" y="1463040"/>
            <a:ext cx="3566160" cy="4754880"/>
          </a:xfrm>
          <a:prstGeom prst="roundRect">
            <a:avLst>
              <a:gd name="adj" fmla="val 2564"/>
            </a:avLst>
          </a:prstGeom>
          <a:solidFill>
            <a:schemeClr val="bg2"/>
          </a:solidFill>
          <a:ln/>
        </p:spPr>
      </p:sp>
      <p:sp>
        <p:nvSpPr>
          <p:cNvPr id="14" name="Stakeholder header"/>
          <p:cNvSpPr/>
          <p:nvPr/>
        </p:nvSpPr>
        <p:spPr>
          <a:xfrm>
            <a:off x="8046720" y="1463040"/>
            <a:ext cx="3566160" cy="640080"/>
          </a:xfrm>
          <a:prstGeom prst="roundRect">
            <a:avLst>
              <a:gd name="adj" fmla="val 14286"/>
            </a:avLst>
          </a:prstGeom>
          <a:solidFill>
            <a:schemeClr val="tx2"/>
          </a:solidFill>
          <a:ln/>
        </p:spPr>
      </p:sp>
      <p:sp>
        <p:nvSpPr>
          <p:cNvPr id="15" name="Text 12"/>
          <p:cNvSpPr txBox="1"/>
          <p:nvPr/>
        </p:nvSpPr>
        <p:spPr>
          <a:xfrm>
            <a:off x="8275320" y="1463040"/>
            <a:ext cx="3108960" cy="640080"/>
          </a:xfrm>
          <a:prstGeom prst="rect">
            <a:avLst/>
          </a:prstGeom>
          <a:noFill/>
          <a:ln/>
        </p:spPr>
        <p:txBody>
          <a:bodyPr wrap="square" lIns="0" tIns="0" rIns="0" bIns="0" rtlCol="0" anchor="ctr"/>
          <a:lstStyle/>
          <a:p>
            <a:pPr indent="0" marL="0">
              <a:buNone/>
            </a:pPr>
            <a:r>
              <a:rPr lang="en-US" sz="1600" b="1" dirty="0">
                <a:solidFill>
                  <a:schemeClr val="bg1"/>
                </a:solidFill>
              </a:rPr>
              <a:t>Product and Network (Fiber)</a:t>
            </a:r>
            <a:endParaRPr lang="en-US" sz="1600" dirty="0"/>
          </a:p>
        </p:txBody>
      </p:sp>
      <p:sp>
        <p:nvSpPr>
          <p:cNvPr id="16" name="Text 13"/>
          <p:cNvSpPr txBox="1"/>
          <p:nvPr/>
        </p:nvSpPr>
        <p:spPr>
          <a:xfrm>
            <a:off x="8275320" y="2286000"/>
            <a:ext cx="3108960" cy="3840480"/>
          </a:xfrm>
          <a:prstGeom prst="rect">
            <a:avLst/>
          </a:prstGeom>
          <a:noFill/>
          <a:ln/>
        </p:spPr>
        <p:txBody>
          <a:bodyPr wrap="square" lIns="0" tIns="0" rIns="0" bIns="0" rtlCol="0" anchor="t"/>
          <a:lstStyle/>
          <a:p>
            <a:pPr indent="0" marL="0">
              <a:buNone/>
            </a:pPr>
            <a:r>
              <a:rPr lang="en-US" sz="1300" b="1" dirty="0">
                <a:solidFill>
                  <a:schemeClr val="accent1"/>
                </a:solidFill>
              </a:rPr>
              <a:t>BUSINESS SCENARIO</a:t>
            </a:r>
            <a:endParaRPr lang="en-US" sz="1400" dirty="0"/>
          </a:p>
          <a:p>
            <a:pPr indent="0" marL="0">
              <a:spcAft>
                <a:spcPts val="1000"/>
              </a:spcAft>
              <a:buNone/>
            </a:pPr>
            <a:r>
              <a:rPr lang="en-US" sz="1600" dirty="0">
                <a:solidFill>
                  <a:schemeClr val="tx1"/>
                </a:solidFill>
              </a:rPr>
              <a:t>The fiber product owner sees 82.2% of lost revenue coming from a single service line.</a:t>
            </a:r>
            <a:endParaRPr lang="en-US" sz="1400" dirty="0"/>
          </a:p>
          <a:p>
            <a:pPr indent="0" marL="0">
              <a:buNone/>
            </a:pPr>
            <a:r>
              <a:rPr lang="en-US" sz="1300" b="1" dirty="0">
                <a:solidFill>
                  <a:schemeClr val="accent1"/>
                </a:solidFill>
              </a:rPr>
              <a:t>QUESTION THEY ASK</a:t>
            </a:r>
            <a:endParaRPr lang="en-US" sz="1400" dirty="0"/>
          </a:p>
          <a:p>
            <a:pPr indent="0" marL="0">
              <a:spcAft>
                <a:spcPts val="1000"/>
              </a:spcAft>
              <a:buNone/>
            </a:pPr>
            <a:r>
              <a:rPr lang="en-US" sz="1600" dirty="0">
                <a:solidFill>
                  <a:schemeClr val="tx1"/>
                </a:solidFill>
              </a:rPr>
              <a:t>Is fiber churn about price, service quality or competition?</a:t>
            </a:r>
            <a:endParaRPr lang="en-US" sz="1400" dirty="0"/>
          </a:p>
          <a:p>
            <a:pPr indent="0" marL="0">
              <a:buNone/>
            </a:pPr>
            <a:r>
              <a:rPr lang="en-US" sz="1300" b="1" dirty="0">
                <a:solidFill>
                  <a:schemeClr val="accent1"/>
                </a:solidFill>
              </a:rPr>
              <a:t>DECISION IT SUPPORTS</a:t>
            </a:r>
            <a:endParaRPr lang="en-US" sz="1400" dirty="0"/>
          </a:p>
          <a:p>
            <a:pPr indent="0" marL="0">
              <a:spcAft>
                <a:spcPts val="1000"/>
              </a:spcAft>
              <a:buNone/>
            </a:pPr>
            <a:r>
              <a:rPr lang="en-US" sz="1600" dirty="0">
                <a:solidFill>
                  <a:schemeClr val="tx1"/>
                </a:solidFill>
              </a:rPr>
              <a:t>Commission a satisfaction survey and competitor price check before changing fiber pricing.</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PAGE 3  |  SEGMENT DEEP DIVE</a:t>
            </a:r>
            <a:endParaRPr lang="en-US" sz="1200" dirty="0"/>
          </a:p>
        </p:txBody>
      </p:sp>
      <p:sp>
        <p:nvSpPr>
          <p:cNvPr id="3" name="Text 0"/>
          <p:cNvSpPr/>
          <p:nvPr>
            <p:ph idx="100"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One segment drives half the leak</a:t>
            </a:r>
            <a:endParaRPr lang="en-US" sz="3000" dirty="0"/>
          </a:p>
        </p:txBody>
      </p:sp>
      <p:sp>
        <p:nvSpPr>
          <p:cNvPr id="5" name="KPI card"/>
          <p:cNvSpPr/>
          <p:nvPr/>
        </p:nvSpPr>
        <p:spPr>
          <a:xfrm>
            <a:off x="548640" y="1417320"/>
            <a:ext cx="3108960" cy="1463040"/>
          </a:xfrm>
          <a:prstGeom prst="roundRect">
            <a:avLst>
              <a:gd name="adj" fmla="val 6250"/>
            </a:avLst>
          </a:prstGeom>
          <a:solidFill>
            <a:schemeClr val="bg2"/>
          </a:solidFill>
          <a:ln/>
        </p:spPr>
      </p:sp>
      <p:sp>
        <p:nvSpPr>
          <p:cNvPr id="6" name="Text 3"/>
          <p:cNvSpPr txBox="1"/>
          <p:nvPr/>
        </p:nvSpPr>
        <p:spPr>
          <a:xfrm>
            <a:off x="777240" y="1508760"/>
            <a:ext cx="2743200" cy="594360"/>
          </a:xfrm>
          <a:prstGeom prst="rect">
            <a:avLst/>
          </a:prstGeom>
          <a:noFill/>
          <a:ln/>
        </p:spPr>
        <p:txBody>
          <a:bodyPr wrap="square" lIns="0" tIns="0" rIns="0" bIns="0" rtlCol="0" anchor="ctr"/>
          <a:lstStyle/>
          <a:p>
            <a:pPr indent="0" marL="0">
              <a:buNone/>
            </a:pPr>
            <a:r>
              <a:rPr lang="en-US" sz="3200" b="1" dirty="0">
                <a:solidFill>
                  <a:schemeClr val="accent1"/>
                </a:solidFill>
              </a:rPr>
              <a:t>60.37%</a:t>
            </a:r>
            <a:endParaRPr lang="en-US" sz="3200" dirty="0"/>
          </a:p>
        </p:txBody>
      </p:sp>
      <p:sp>
        <p:nvSpPr>
          <p:cNvPr id="7" name="Text 4"/>
          <p:cNvSpPr txBox="1"/>
          <p:nvPr/>
        </p:nvSpPr>
        <p:spPr>
          <a:xfrm>
            <a:off x="777240" y="2130552"/>
            <a:ext cx="2743200" cy="274320"/>
          </a:xfrm>
          <a:prstGeom prst="rect">
            <a:avLst/>
          </a:prstGeom>
          <a:noFill/>
          <a:ln/>
        </p:spPr>
        <p:txBody>
          <a:bodyPr wrap="square" lIns="0" tIns="0" rIns="0" bIns="0" rtlCol="0" anchor="t"/>
          <a:lstStyle/>
          <a:p>
            <a:pPr indent="0" marL="0">
              <a:buNone/>
            </a:pPr>
            <a:r>
              <a:rPr lang="en-US" sz="1300" b="1" dirty="0">
                <a:solidFill>
                  <a:schemeClr val="tx2"/>
                </a:solidFill>
              </a:rPr>
              <a:t>Priority Segment churn rate</a:t>
            </a:r>
            <a:endParaRPr lang="en-US" sz="1300" dirty="0"/>
          </a:p>
        </p:txBody>
      </p:sp>
      <p:sp>
        <p:nvSpPr>
          <p:cNvPr id="8" name="Text 5"/>
          <p:cNvSpPr txBox="1"/>
          <p:nvPr/>
        </p:nvSpPr>
        <p:spPr>
          <a:xfrm>
            <a:off x="777240" y="2423160"/>
            <a:ext cx="2743200" cy="365760"/>
          </a:xfrm>
          <a:prstGeom prst="rect">
            <a:avLst/>
          </a:prstGeom>
          <a:noFill/>
          <a:ln/>
        </p:spPr>
        <p:txBody>
          <a:bodyPr wrap="square" lIns="0" tIns="0" rIns="0" bIns="0" rtlCol="0" anchor="t"/>
          <a:lstStyle/>
          <a:p>
            <a:pPr indent="0" marL="0">
              <a:buNone/>
            </a:pPr>
            <a:r>
              <a:rPr lang="en-US" sz="1200" i="1" dirty="0">
                <a:solidFill>
                  <a:schemeClr val="tx1"/>
                </a:solidFill>
              </a:rPr>
              <a:t>Question: How likely is this group to leave?</a:t>
            </a:r>
            <a:endParaRPr lang="en-US" sz="1200" dirty="0"/>
          </a:p>
        </p:txBody>
      </p:sp>
      <p:sp>
        <p:nvSpPr>
          <p:cNvPr id="9" name="KPI card"/>
          <p:cNvSpPr/>
          <p:nvPr/>
        </p:nvSpPr>
        <p:spPr>
          <a:xfrm>
            <a:off x="548640" y="3017520"/>
            <a:ext cx="3108960" cy="1463040"/>
          </a:xfrm>
          <a:prstGeom prst="roundRect">
            <a:avLst>
              <a:gd name="adj" fmla="val 6250"/>
            </a:avLst>
          </a:prstGeom>
          <a:solidFill>
            <a:schemeClr val="bg2"/>
          </a:solidFill>
          <a:ln/>
        </p:spPr>
      </p:sp>
      <p:sp>
        <p:nvSpPr>
          <p:cNvPr id="10" name="Text 7"/>
          <p:cNvSpPr txBox="1"/>
          <p:nvPr/>
        </p:nvSpPr>
        <p:spPr>
          <a:xfrm>
            <a:off x="777240" y="3108960"/>
            <a:ext cx="2743200" cy="594360"/>
          </a:xfrm>
          <a:prstGeom prst="rect">
            <a:avLst/>
          </a:prstGeom>
          <a:noFill/>
          <a:ln/>
        </p:spPr>
        <p:txBody>
          <a:bodyPr wrap="square" lIns="0" tIns="0" rIns="0" bIns="0" rtlCol="0" anchor="ctr"/>
          <a:lstStyle/>
          <a:p>
            <a:pPr indent="0" marL="0">
              <a:buNone/>
            </a:pPr>
            <a:r>
              <a:rPr lang="en-US" sz="3200" b="1" dirty="0">
                <a:solidFill>
                  <a:schemeClr val="accent1"/>
                </a:solidFill>
              </a:rPr>
              <a:t>$68.3K</a:t>
            </a:r>
            <a:endParaRPr lang="en-US" sz="3200" dirty="0"/>
          </a:p>
        </p:txBody>
      </p:sp>
      <p:sp>
        <p:nvSpPr>
          <p:cNvPr id="11" name="Text 8"/>
          <p:cNvSpPr txBox="1"/>
          <p:nvPr/>
        </p:nvSpPr>
        <p:spPr>
          <a:xfrm>
            <a:off x="777240" y="3730752"/>
            <a:ext cx="2743200" cy="274320"/>
          </a:xfrm>
          <a:prstGeom prst="rect">
            <a:avLst/>
          </a:prstGeom>
          <a:noFill/>
          <a:ln/>
        </p:spPr>
        <p:txBody>
          <a:bodyPr wrap="square" lIns="0" tIns="0" rIns="0" bIns="0" rtlCol="0" anchor="t"/>
          <a:lstStyle/>
          <a:p>
            <a:pPr indent="0" marL="0">
              <a:buNone/>
            </a:pPr>
            <a:r>
              <a:rPr lang="en-US" sz="1300" b="1" dirty="0">
                <a:solidFill>
                  <a:schemeClr val="tx2"/>
                </a:solidFill>
              </a:rPr>
              <a:t>Priority Segment revenue lost</a:t>
            </a:r>
            <a:endParaRPr lang="en-US" sz="1300" dirty="0"/>
          </a:p>
        </p:txBody>
      </p:sp>
      <p:sp>
        <p:nvSpPr>
          <p:cNvPr id="12" name="Text 9"/>
          <p:cNvSpPr txBox="1"/>
          <p:nvPr/>
        </p:nvSpPr>
        <p:spPr>
          <a:xfrm>
            <a:off x="777240" y="4023360"/>
            <a:ext cx="2743200" cy="365760"/>
          </a:xfrm>
          <a:prstGeom prst="rect">
            <a:avLst/>
          </a:prstGeom>
          <a:noFill/>
          <a:ln/>
        </p:spPr>
        <p:txBody>
          <a:bodyPr wrap="square" lIns="0" tIns="0" rIns="0" bIns="0" rtlCol="0" anchor="t"/>
          <a:lstStyle/>
          <a:p>
            <a:pPr indent="0" marL="0">
              <a:buNone/>
            </a:pPr>
            <a:r>
              <a:rPr lang="en-US" sz="1200" i="1" dirty="0">
                <a:solidFill>
                  <a:schemeClr val="tx1"/>
                </a:solidFill>
              </a:rPr>
              <a:t>Question: What does it cost per month?</a:t>
            </a:r>
            <a:endParaRPr lang="en-US" sz="1200" dirty="0"/>
          </a:p>
        </p:txBody>
      </p:sp>
      <p:sp>
        <p:nvSpPr>
          <p:cNvPr id="13" name="KPI card"/>
          <p:cNvSpPr/>
          <p:nvPr/>
        </p:nvSpPr>
        <p:spPr>
          <a:xfrm>
            <a:off x="548640" y="4617720"/>
            <a:ext cx="3108960" cy="1463040"/>
          </a:xfrm>
          <a:prstGeom prst="roundRect">
            <a:avLst>
              <a:gd name="adj" fmla="val 6250"/>
            </a:avLst>
          </a:prstGeom>
          <a:solidFill>
            <a:schemeClr val="bg2"/>
          </a:solidFill>
          <a:ln/>
        </p:spPr>
      </p:sp>
      <p:sp>
        <p:nvSpPr>
          <p:cNvPr id="14" name="Text 11"/>
          <p:cNvSpPr txBox="1"/>
          <p:nvPr/>
        </p:nvSpPr>
        <p:spPr>
          <a:xfrm>
            <a:off x="777240" y="4709160"/>
            <a:ext cx="2743200" cy="594360"/>
          </a:xfrm>
          <a:prstGeom prst="rect">
            <a:avLst/>
          </a:prstGeom>
          <a:noFill/>
          <a:ln/>
        </p:spPr>
        <p:txBody>
          <a:bodyPr wrap="square" lIns="0" tIns="0" rIns="0" bIns="0" rtlCol="0" anchor="ctr"/>
          <a:lstStyle/>
          <a:p>
            <a:pPr indent="0" marL="0">
              <a:buNone/>
            </a:pPr>
            <a:r>
              <a:rPr lang="en-US" sz="3200" b="1" dirty="0">
                <a:solidFill>
                  <a:schemeClr val="accent1"/>
                </a:solidFill>
              </a:rPr>
              <a:t>49.1%</a:t>
            </a:r>
            <a:endParaRPr lang="en-US" sz="3200" dirty="0"/>
          </a:p>
        </p:txBody>
      </p:sp>
      <p:sp>
        <p:nvSpPr>
          <p:cNvPr id="15" name="Text 12"/>
          <p:cNvSpPr txBox="1"/>
          <p:nvPr/>
        </p:nvSpPr>
        <p:spPr>
          <a:xfrm>
            <a:off x="777240" y="5330952"/>
            <a:ext cx="2743200" cy="274320"/>
          </a:xfrm>
          <a:prstGeom prst="rect">
            <a:avLst/>
          </a:prstGeom>
          <a:noFill/>
          <a:ln/>
        </p:spPr>
        <p:txBody>
          <a:bodyPr wrap="square" lIns="0" tIns="0" rIns="0" bIns="0" rtlCol="0" anchor="t"/>
          <a:lstStyle/>
          <a:p>
            <a:pPr indent="0" marL="0">
              <a:buNone/>
            </a:pPr>
            <a:r>
              <a:rPr lang="en-US" sz="1300" b="1" dirty="0">
                <a:solidFill>
                  <a:schemeClr val="tx2"/>
                </a:solidFill>
              </a:rPr>
              <a:t>Priority Segment share of loss</a:t>
            </a:r>
            <a:endParaRPr lang="en-US" sz="1300" dirty="0"/>
          </a:p>
        </p:txBody>
      </p:sp>
      <p:sp>
        <p:nvSpPr>
          <p:cNvPr id="16" name="Text 13"/>
          <p:cNvSpPr txBox="1"/>
          <p:nvPr/>
        </p:nvSpPr>
        <p:spPr>
          <a:xfrm>
            <a:off x="777240" y="5623560"/>
            <a:ext cx="2743200" cy="365760"/>
          </a:xfrm>
          <a:prstGeom prst="rect">
            <a:avLst/>
          </a:prstGeom>
          <a:noFill/>
          <a:ln/>
        </p:spPr>
        <p:txBody>
          <a:bodyPr wrap="square" lIns="0" tIns="0" rIns="0" bIns="0" rtlCol="0" anchor="t"/>
          <a:lstStyle/>
          <a:p>
            <a:pPr indent="0" marL="0">
              <a:buNone/>
            </a:pPr>
            <a:r>
              <a:rPr lang="en-US" sz="1200" i="1" dirty="0">
                <a:solidFill>
                  <a:schemeClr val="tx1"/>
                </a:solidFill>
              </a:rPr>
              <a:t>Question: How concentrated is the leak?</a:t>
            </a:r>
            <a:endParaRPr lang="en-US" sz="1200" dirty="0"/>
          </a:p>
        </p:txBody>
      </p:sp>
      <p:sp>
        <p:nvSpPr>
          <p:cNvPr id="17" name="Text 14"/>
          <p:cNvSpPr txBox="1"/>
          <p:nvPr/>
        </p:nvSpPr>
        <p:spPr>
          <a:xfrm>
            <a:off x="3886200" y="1417320"/>
            <a:ext cx="7680960" cy="320040"/>
          </a:xfrm>
          <a:prstGeom prst="rect">
            <a:avLst/>
          </a:prstGeom>
          <a:noFill/>
          <a:ln/>
        </p:spPr>
        <p:txBody>
          <a:bodyPr wrap="square" lIns="0" tIns="0" rIns="0" bIns="0" rtlCol="0" anchor="t"/>
          <a:lstStyle/>
          <a:p>
            <a:pPr indent="0" marL="0">
              <a:buNone/>
            </a:pPr>
            <a:r>
              <a:rPr lang="en-US" sz="1600" b="1" dirty="0">
                <a:solidFill>
                  <a:schemeClr val="tx1"/>
                </a:solidFill>
              </a:rPr>
              <a:t>Highest-Leaking Combinations</a:t>
            </a:r>
            <a:endParaRPr lang="en-US" sz="1600" dirty="0"/>
          </a:p>
        </p:txBody>
      </p:sp>
      <p:sp>
        <p:nvSpPr>
          <p:cNvPr id="18" name="Text 15"/>
          <p:cNvSpPr txBox="1"/>
          <p:nvPr/>
        </p:nvSpPr>
        <p:spPr>
          <a:xfrm>
            <a:off x="3886200" y="1737360"/>
            <a:ext cx="7680960" cy="274320"/>
          </a:xfrm>
          <a:prstGeom prst="rect">
            <a:avLst/>
          </a:prstGeom>
          <a:noFill/>
          <a:ln/>
        </p:spPr>
        <p:txBody>
          <a:bodyPr wrap="square" lIns="0" tIns="0" rIns="0" bIns="0" rtlCol="0" anchor="t"/>
          <a:lstStyle/>
          <a:p>
            <a:pPr indent="0" marL="0">
              <a:buNone/>
            </a:pPr>
            <a:r>
              <a:rPr lang="en-US" sz="1200" i="1" dirty="0">
                <a:solidFill>
                  <a:schemeClr val="tx2"/>
                </a:solidFill>
              </a:rPr>
              <a:t>Question: which exact contract, service and payment combinations lose the most revenue?</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886200" y="2103120"/>
          <a:ext cx="7754112" cy="914400"/>
        </p:xfrm>
        <a:graphic>
          <a:graphicData uri="http://schemas.openxmlformats.org/drawingml/2006/table">
            <a:tbl>
              <a:tblPr/>
              <a:tblGrid>
                <a:gridCol w="1554480"/>
                <a:gridCol w="1188720"/>
                <a:gridCol w="1737360"/>
                <a:gridCol w="914400"/>
                <a:gridCol w="1005840"/>
                <a:gridCol w="1353312"/>
              </a:tblGrid>
              <a:tr h="347472">
                <a:tc>
                  <a:txBody>
                    <a:bodyPr/>
                    <a:lstStyle/>
                    <a:p>
                      <a:pPr algn="l" indent="0" marL="0">
                        <a:buNone/>
                      </a:pPr>
                      <a:r>
                        <a:rPr lang="en-US" sz="1200" b="1" dirty="0">
                          <a:solidFill>
                            <a:srgbClr val="FFFFFF"/>
                          </a:solidFill>
                        </a:rPr>
                        <a:t>Contract</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3A3F47"/>
                    </a:solidFill>
                  </a:tcPr>
                </a:tc>
                <a:tc>
                  <a:txBody>
                    <a:bodyPr/>
                    <a:lstStyle/>
                    <a:p>
                      <a:pPr algn="l" indent="0" marL="0">
                        <a:buNone/>
                      </a:pPr>
                      <a:r>
                        <a:rPr lang="en-US" sz="1200" b="1" dirty="0">
                          <a:solidFill>
                            <a:srgbClr val="FFFFFF"/>
                          </a:solidFill>
                        </a:rPr>
                        <a:t>Internet</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3A3F47"/>
                    </a:solidFill>
                  </a:tcPr>
                </a:tc>
                <a:tc>
                  <a:txBody>
                    <a:bodyPr/>
                    <a:lstStyle/>
                    <a:p>
                      <a:pPr algn="l" indent="0" marL="0">
                        <a:buNone/>
                      </a:pPr>
                      <a:r>
                        <a:rPr lang="en-US" sz="1200" b="1" dirty="0">
                          <a:solidFill>
                            <a:srgbClr val="FFFFFF"/>
                          </a:solidFill>
                        </a:rPr>
                        <a:t>Payment</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3A3F47"/>
                    </a:solidFill>
                  </a:tcPr>
                </a:tc>
                <a:tc>
                  <a:txBody>
                    <a:bodyPr/>
                    <a:lstStyle/>
                    <a:p>
                      <a:pPr algn="r" indent="0" marL="0">
                        <a:buNone/>
                      </a:pPr>
                      <a:r>
                        <a:rPr lang="en-US" sz="1200" b="1" dirty="0">
                          <a:solidFill>
                            <a:srgbClr val="FFFFFF"/>
                          </a:solidFill>
                        </a:rPr>
                        <a:t>Customers</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3A3F47"/>
                    </a:solidFill>
                  </a:tcPr>
                </a:tc>
                <a:tc>
                  <a:txBody>
                    <a:bodyPr/>
                    <a:lstStyle/>
                    <a:p>
                      <a:pPr algn="r" indent="0" marL="0">
                        <a:buNone/>
                      </a:pPr>
                      <a:r>
                        <a:rPr lang="en-US" sz="1200" b="1" dirty="0">
                          <a:solidFill>
                            <a:srgbClr val="FFFFFF"/>
                          </a:solidFill>
                        </a:rPr>
                        <a:t>Churn rate</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3A3F47"/>
                    </a:solidFill>
                  </a:tcPr>
                </a:tc>
                <a:tc>
                  <a:txBody>
                    <a:bodyPr/>
                    <a:lstStyle/>
                    <a:p>
                      <a:pPr algn="r" indent="0" marL="0">
                        <a:buNone/>
                      </a:pPr>
                      <a:r>
                        <a:rPr lang="en-US" sz="1200" b="1" dirty="0">
                          <a:solidFill>
                            <a:srgbClr val="FFFFFF"/>
                          </a:solidFill>
                        </a:rPr>
                        <a:t>Lost / month</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3A3F47"/>
                    </a:solidFill>
                  </a:tcPr>
                </a:tc>
              </a:tr>
              <a:tr h="347472">
                <a:tc>
                  <a:txBody>
                    <a:bodyPr/>
                    <a:lstStyle/>
                    <a:p>
                      <a:pPr algn="l" indent="0" marL="0">
                        <a:buNone/>
                      </a:pPr>
                      <a:r>
                        <a:rPr lang="en-US" sz="1200" dirty="0">
                          <a:solidFill>
                            <a:srgbClr val="000000"/>
                          </a:solidFill>
                        </a:rPr>
                        <a:t>Month-to-month</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rPr>
                        <a:t>DSL</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rPr>
                        <a:t>Bank transfer (auto)</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00000"/>
                          </a:solidFill>
                        </a:rPr>
                        <a:t>197</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00000"/>
                          </a:solidFill>
                        </a:rPr>
                        <a:t>19.80%</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00000"/>
                          </a:solidFill>
                        </a:rPr>
                        <a:t>$1,823.90</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000000"/>
                          </a:solidFill>
                        </a:rPr>
                        <a:t>Month-to-month</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rPr>
                        <a:t>DSL</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rPr>
                        <a:t>Credit card (auto)</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00000"/>
                          </a:solidFill>
                        </a:rPr>
                        <a:t>185</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00000"/>
                          </a:solidFill>
                        </a:rPr>
                        <a:t>27.03%</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00000"/>
                          </a:solidFill>
                        </a:rPr>
                        <a:t>$2,474.80</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000000"/>
                          </a:solidFill>
                        </a:rPr>
                        <a:t>Month-to-month</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rPr>
                        <a:t>DSL</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rPr>
                        <a:t>Electronic check</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00000"/>
                          </a:solidFill>
                        </a:rPr>
                        <a:t>474</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00000"/>
                          </a:solidFill>
                        </a:rPr>
                        <a:t>40.51%</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00000"/>
                          </a:solidFill>
                        </a:rPr>
                        <a:t>$8,776.45</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000000"/>
                          </a:solidFill>
                        </a:rPr>
                        <a:t>Month-to-month</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rPr>
                        <a:t>DSL</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rPr>
                        <a:t>Mailed check</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00000"/>
                          </a:solidFill>
                        </a:rPr>
                        <a:t>367</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00000"/>
                          </a:solidFill>
                        </a:rPr>
                        <a:t>30.79%</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00000"/>
                          </a:solidFill>
                        </a:rPr>
                        <a:t>$5,292.10</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000000"/>
                          </a:solidFill>
                        </a:rPr>
                        <a:t>Month-to-month</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rPr>
                        <a:t>Fiber optic</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rPr>
                        <a:t>Bank transfer (auto)</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00000"/>
                          </a:solidFill>
                        </a:rPr>
                        <a:t>327</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00000"/>
                          </a:solidFill>
                        </a:rPr>
                        <a:t>45.57%</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00000"/>
                          </a:solidFill>
                        </a:rPr>
                        <a:t>$13,062.10</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347472">
                <a:tc>
                  <a:txBody>
                    <a:bodyPr/>
                    <a:lstStyle/>
                    <a:p>
                      <a:pPr algn="l" indent="0" marL="0">
                        <a:buNone/>
                      </a:pPr>
                      <a:r>
                        <a:rPr lang="en-US" sz="1200" dirty="0">
                          <a:solidFill>
                            <a:srgbClr val="000000"/>
                          </a:solidFill>
                        </a:rPr>
                        <a:t>Month-to-month</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rPr>
                        <a:t>Fiber optic</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rPr>
                        <a:t>Credit card (auto)</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00000"/>
                          </a:solidFill>
                        </a:rPr>
                        <a:t>293</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00000"/>
                          </a:solidFill>
                        </a:rPr>
                        <a:t>41.64%</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00000"/>
                          </a:solidFill>
                        </a:rPr>
                        <a:t>$10,731.15</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347472">
                <a:tc>
                  <a:txBody>
                    <a:bodyPr/>
                    <a:lstStyle/>
                    <a:p>
                      <a:pPr algn="l" indent="0" marL="0">
                        <a:buNone/>
                      </a:pPr>
                      <a:r>
                        <a:rPr lang="en-US" sz="1200" b="1" dirty="0">
                          <a:solidFill>
                            <a:srgbClr val="000000"/>
                          </a:solidFill>
                        </a:rPr>
                        <a:t>Month-to-month</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6D9D6"/>
                    </a:solidFill>
                  </a:tcPr>
                </a:tc>
                <a:tc>
                  <a:txBody>
                    <a:bodyPr/>
                    <a:lstStyle/>
                    <a:p>
                      <a:pPr algn="l" indent="0" marL="0">
                        <a:buNone/>
                      </a:pPr>
                      <a:r>
                        <a:rPr lang="en-US" sz="1200" b="1" dirty="0">
                          <a:solidFill>
                            <a:srgbClr val="000000"/>
                          </a:solidFill>
                        </a:rPr>
                        <a:t>Fiber optic</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6D9D6"/>
                    </a:solidFill>
                  </a:tcPr>
                </a:tc>
                <a:tc>
                  <a:txBody>
                    <a:bodyPr/>
                    <a:lstStyle/>
                    <a:p>
                      <a:pPr algn="l" indent="0" marL="0">
                        <a:buNone/>
                      </a:pPr>
                      <a:r>
                        <a:rPr lang="en-US" sz="1200" b="1" dirty="0">
                          <a:solidFill>
                            <a:srgbClr val="000000"/>
                          </a:solidFill>
                        </a:rPr>
                        <a:t>Electronic check</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6D9D6"/>
                    </a:solidFill>
                  </a:tcPr>
                </a:tc>
                <a:tc>
                  <a:txBody>
                    <a:bodyPr/>
                    <a:lstStyle/>
                    <a:p>
                      <a:pPr algn="r" indent="0" marL="0">
                        <a:buNone/>
                      </a:pPr>
                      <a:r>
                        <a:rPr lang="en-US" sz="1200" b="1" dirty="0">
                          <a:solidFill>
                            <a:srgbClr val="000000"/>
                          </a:solidFill>
                        </a:rPr>
                        <a:t>1,307</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6D9D6"/>
                    </a:solidFill>
                  </a:tcPr>
                </a:tc>
                <a:tc>
                  <a:txBody>
                    <a:bodyPr/>
                    <a:lstStyle/>
                    <a:p>
                      <a:pPr algn="r" indent="0" marL="0">
                        <a:buNone/>
                      </a:pPr>
                      <a:r>
                        <a:rPr lang="en-US" sz="1200" b="1" dirty="0">
                          <a:solidFill>
                            <a:srgbClr val="000000"/>
                          </a:solidFill>
                        </a:rPr>
                        <a:t>60.37%</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6D9D6"/>
                    </a:solidFill>
                  </a:tcPr>
                </a:tc>
                <a:tc>
                  <a:txBody>
                    <a:bodyPr/>
                    <a:lstStyle/>
                    <a:p>
                      <a:pPr algn="r" indent="0" marL="0">
                        <a:buNone/>
                      </a:pPr>
                      <a:r>
                        <a:rPr lang="en-US" sz="1200" b="1" dirty="0">
                          <a:solidFill>
                            <a:srgbClr val="000000"/>
                          </a:solidFill>
                        </a:rPr>
                        <a:t>$68,281.50</a:t>
                      </a:r>
                      <a:endParaRPr lang="en-US" sz="1200" dirty="0"/>
                    </a:p>
                  </a:txBody>
                  <a:tcPr marL="91440" marR="91440" marT="45720" marB="4572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6D9D6"/>
                    </a:solidFill>
                  </a:tcPr>
                </a:tc>
              </a:tr>
            </a:tbl>
          </a:graphicData>
        </a:graphic>
      </p:graphicFrame>
      <p:sp>
        <p:nvSpPr>
          <p:cNvPr id="20" name="Compare card"/>
          <p:cNvSpPr/>
          <p:nvPr/>
        </p:nvSpPr>
        <p:spPr>
          <a:xfrm>
            <a:off x="3886200" y="5074920"/>
            <a:ext cx="7754112" cy="1143000"/>
          </a:xfrm>
          <a:prstGeom prst="roundRect">
            <a:avLst>
              <a:gd name="adj" fmla="val 8000"/>
            </a:avLst>
          </a:prstGeom>
          <a:solidFill>
            <a:schemeClr val="bg2"/>
          </a:solidFill>
          <a:ln/>
        </p:spPr>
      </p:sp>
      <p:sp>
        <p:nvSpPr>
          <p:cNvPr id="21" name="Text 17"/>
          <p:cNvSpPr txBox="1"/>
          <p:nvPr/>
        </p:nvSpPr>
        <p:spPr>
          <a:xfrm>
            <a:off x="4114800" y="5148072"/>
            <a:ext cx="7315200" cy="274320"/>
          </a:xfrm>
          <a:prstGeom prst="rect">
            <a:avLst/>
          </a:prstGeom>
          <a:noFill/>
          <a:ln/>
        </p:spPr>
        <p:txBody>
          <a:bodyPr wrap="square" lIns="0" tIns="0" rIns="0" bIns="0" rtlCol="0" anchor="t"/>
          <a:lstStyle/>
          <a:p>
            <a:pPr indent="0" marL="0">
              <a:buNone/>
            </a:pPr>
            <a:r>
              <a:rPr lang="en-US" sz="1400" b="1" dirty="0">
                <a:solidFill>
                  <a:schemeClr val="accent1"/>
                </a:solidFill>
              </a:rPr>
              <a:t>Priority Segment vs Everyone Else</a:t>
            </a:r>
            <a:endParaRPr lang="en-US" sz="1400" dirty="0"/>
          </a:p>
        </p:txBody>
      </p:sp>
      <p:sp>
        <p:nvSpPr>
          <p:cNvPr id="22" name="Text 18"/>
          <p:cNvSpPr txBox="1"/>
          <p:nvPr/>
        </p:nvSpPr>
        <p:spPr>
          <a:xfrm>
            <a:off x="4114800" y="5440680"/>
            <a:ext cx="7315200" cy="731520"/>
          </a:xfrm>
          <a:prstGeom prst="rect">
            <a:avLst/>
          </a:prstGeom>
          <a:noFill/>
          <a:ln/>
        </p:spPr>
        <p:txBody>
          <a:bodyPr wrap="square" lIns="0" tIns="0" rIns="0" bIns="0" rtlCol="0" anchor="t"/>
          <a:lstStyle/>
          <a:p>
            <a:pPr indent="0" marL="0">
              <a:buNone/>
            </a:pPr>
            <a:r>
              <a:rPr lang="en-US" sz="1300" dirty="0">
                <a:solidFill>
                  <a:schemeClr val="tx1"/>
                </a:solidFill>
              </a:rPr>
              <a:t>Question: is the loss spread out or concentrated? The Priority Segment loses about $68K a month, nearly as much as all other customers combined ($71K), from roughly 19% of the customer base.</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PAGE 3  |  SEGMENT DEEP DIVE</a:t>
            </a:r>
            <a:endParaRPr lang="en-US" sz="1200" dirty="0"/>
          </a:p>
        </p:txBody>
      </p:sp>
      <p:sp>
        <p:nvSpPr>
          <p:cNvPr id="3" name="Text 0"/>
          <p:cNvSpPr/>
          <p:nvPr>
            <p:ph idx="100"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Contract, tenure and add-ons shape churn</a:t>
            </a:r>
            <a:endParaRPr lang="en-US" sz="3000" dirty="0"/>
          </a:p>
        </p:txBody>
      </p:sp>
      <p:sp>
        <p:nvSpPr>
          <p:cNvPr id="5" name="Heatmap card"/>
          <p:cNvSpPr/>
          <p:nvPr/>
        </p:nvSpPr>
        <p:spPr>
          <a:xfrm>
            <a:off x="548640" y="1417320"/>
            <a:ext cx="3566160" cy="4800600"/>
          </a:xfrm>
          <a:prstGeom prst="roundRect">
            <a:avLst>
              <a:gd name="adj" fmla="val 2564"/>
            </a:avLst>
          </a:prstGeom>
          <a:solidFill>
            <a:schemeClr val="bg2"/>
          </a:solidFill>
          <a:ln/>
        </p:spPr>
      </p:sp>
      <p:sp>
        <p:nvSpPr>
          <p:cNvPr id="6" name="Text 3"/>
          <p:cNvSpPr txBox="1"/>
          <p:nvPr/>
        </p:nvSpPr>
        <p:spPr>
          <a:xfrm>
            <a:off x="777240" y="1508760"/>
            <a:ext cx="3108960" cy="548640"/>
          </a:xfrm>
          <a:prstGeom prst="rect">
            <a:avLst/>
          </a:prstGeom>
          <a:noFill/>
          <a:ln/>
        </p:spPr>
        <p:txBody>
          <a:bodyPr wrap="square" lIns="0" tIns="0" rIns="0" bIns="0" rtlCol="0" anchor="t"/>
          <a:lstStyle/>
          <a:p>
            <a:pPr indent="0" marL="0">
              <a:buNone/>
            </a:pPr>
            <a:r>
              <a:rPr lang="en-US" sz="1600" b="1" dirty="0">
                <a:solidFill>
                  <a:schemeClr val="tx1"/>
                </a:solidFill>
              </a:rPr>
              <a:t>Churn Rate: Contract x Tenure</a:t>
            </a:r>
            <a:endParaRPr lang="en-US" sz="1600" dirty="0"/>
          </a:p>
        </p:txBody>
      </p:sp>
      <p:sp>
        <p:nvSpPr>
          <p:cNvPr id="7" name="Text 4"/>
          <p:cNvSpPr txBox="1"/>
          <p:nvPr/>
        </p:nvSpPr>
        <p:spPr>
          <a:xfrm>
            <a:off x="777240" y="2103120"/>
            <a:ext cx="3108960" cy="548640"/>
          </a:xfrm>
          <a:prstGeom prst="rect">
            <a:avLst/>
          </a:prstGeom>
          <a:noFill/>
          <a:ln/>
        </p:spPr>
        <p:txBody>
          <a:bodyPr wrap="square" lIns="0" tIns="0" rIns="0" bIns="0" rtlCol="0" anchor="t"/>
          <a:lstStyle/>
          <a:p>
            <a:pPr indent="0" marL="0">
              <a:buNone/>
            </a:pPr>
            <a:r>
              <a:rPr lang="en-US" sz="1200" i="1" dirty="0">
                <a:solidFill>
                  <a:schemeClr val="tx2"/>
                </a:solidFill>
              </a:rPr>
              <a:t>Question: does a longer tenure make month-to-month customers safe?</a:t>
            </a:r>
            <a:endParaRPr lang="en-US" sz="1200" dirty="0"/>
          </a:p>
        </p:txBody>
      </p:sp>
      <p:sp>
        <p:nvSpPr>
          <p:cNvPr id="8" name="Text 5"/>
          <p:cNvSpPr txBox="1"/>
          <p:nvPr/>
        </p:nvSpPr>
        <p:spPr>
          <a:xfrm>
            <a:off x="777240" y="2743200"/>
            <a:ext cx="1463040" cy="731520"/>
          </a:xfrm>
          <a:prstGeom prst="rect">
            <a:avLst/>
          </a:prstGeom>
          <a:noFill/>
          <a:ln/>
        </p:spPr>
        <p:txBody>
          <a:bodyPr wrap="square" lIns="0" tIns="0" rIns="0" bIns="0" rtlCol="0" anchor="ctr"/>
          <a:lstStyle/>
          <a:p>
            <a:pPr indent="0" marL="0">
              <a:buNone/>
            </a:pPr>
            <a:r>
              <a:rPr lang="en-US" sz="4000" b="1" dirty="0">
                <a:solidFill>
                  <a:schemeClr val="accent1"/>
                </a:solidFill>
              </a:rPr>
              <a:t>51%</a:t>
            </a:r>
            <a:endParaRPr lang="en-US" sz="4000" dirty="0"/>
          </a:p>
        </p:txBody>
      </p:sp>
      <p:sp>
        <p:nvSpPr>
          <p:cNvPr id="9" name="Text 6"/>
          <p:cNvSpPr txBox="1"/>
          <p:nvPr/>
        </p:nvSpPr>
        <p:spPr>
          <a:xfrm>
            <a:off x="2240280" y="2743200"/>
            <a:ext cx="1737360" cy="731520"/>
          </a:xfrm>
          <a:prstGeom prst="rect">
            <a:avLst/>
          </a:prstGeom>
          <a:noFill/>
          <a:ln/>
        </p:spPr>
        <p:txBody>
          <a:bodyPr wrap="square" lIns="0" tIns="0" rIns="0" bIns="0" rtlCol="0" anchor="ctr"/>
          <a:lstStyle/>
          <a:p>
            <a:pPr indent="0" marL="0">
              <a:buNone/>
            </a:pPr>
            <a:r>
              <a:rPr lang="en-US" sz="1300" dirty="0">
                <a:solidFill>
                  <a:schemeClr val="tx1"/>
                </a:solidFill>
              </a:rPr>
              <a:t>month-to-month churn in year 1</a:t>
            </a:r>
            <a:endParaRPr lang="en-US" sz="1300" dirty="0"/>
          </a:p>
        </p:txBody>
      </p:sp>
      <p:sp>
        <p:nvSpPr>
          <p:cNvPr id="10" name="Text 7"/>
          <p:cNvSpPr txBox="1"/>
          <p:nvPr/>
        </p:nvSpPr>
        <p:spPr>
          <a:xfrm>
            <a:off x="777240" y="3611880"/>
            <a:ext cx="1463040" cy="731520"/>
          </a:xfrm>
          <a:prstGeom prst="rect">
            <a:avLst/>
          </a:prstGeom>
          <a:noFill/>
          <a:ln/>
        </p:spPr>
        <p:txBody>
          <a:bodyPr wrap="square" lIns="0" tIns="0" rIns="0" bIns="0" rtlCol="0" anchor="ctr"/>
          <a:lstStyle/>
          <a:p>
            <a:pPr indent="0" marL="0">
              <a:buNone/>
            </a:pPr>
            <a:r>
              <a:rPr lang="en-US" sz="4000" b="1" dirty="0">
                <a:solidFill>
                  <a:schemeClr val="accent3"/>
                </a:solidFill>
              </a:rPr>
              <a:t>26%</a:t>
            </a:r>
            <a:endParaRPr lang="en-US" sz="4000" dirty="0"/>
          </a:p>
        </p:txBody>
      </p:sp>
      <p:sp>
        <p:nvSpPr>
          <p:cNvPr id="11" name="Text 8"/>
          <p:cNvSpPr txBox="1"/>
          <p:nvPr/>
        </p:nvSpPr>
        <p:spPr>
          <a:xfrm>
            <a:off x="2240280" y="3611880"/>
            <a:ext cx="1737360" cy="731520"/>
          </a:xfrm>
          <a:prstGeom prst="rect">
            <a:avLst/>
          </a:prstGeom>
          <a:noFill/>
          <a:ln/>
        </p:spPr>
        <p:txBody>
          <a:bodyPr wrap="square" lIns="0" tIns="0" rIns="0" bIns="0" rtlCol="0" anchor="ctr"/>
          <a:lstStyle/>
          <a:p>
            <a:pPr indent="0" marL="0">
              <a:buNone/>
            </a:pPr>
            <a:r>
              <a:rPr lang="en-US" sz="1300" dirty="0">
                <a:solidFill>
                  <a:schemeClr val="tx1"/>
                </a:solidFill>
              </a:rPr>
              <a:t>still churning after year 4</a:t>
            </a:r>
            <a:endParaRPr lang="en-US" sz="1300" dirty="0"/>
          </a:p>
        </p:txBody>
      </p:sp>
      <p:sp>
        <p:nvSpPr>
          <p:cNvPr id="12" name="Text 9"/>
          <p:cNvSpPr txBox="1"/>
          <p:nvPr/>
        </p:nvSpPr>
        <p:spPr>
          <a:xfrm>
            <a:off x="777240" y="4526280"/>
            <a:ext cx="3108960" cy="1600200"/>
          </a:xfrm>
          <a:prstGeom prst="rect">
            <a:avLst/>
          </a:prstGeom>
          <a:noFill/>
          <a:ln/>
        </p:spPr>
        <p:txBody>
          <a:bodyPr wrap="square" lIns="0" tIns="0" rIns="0" bIns="0" rtlCol="0" anchor="t"/>
          <a:lstStyle/>
          <a:p>
            <a:pPr indent="0" marL="0">
              <a:buNone/>
            </a:pPr>
            <a:r>
              <a:rPr lang="en-US" sz="1300" dirty="0">
                <a:solidFill>
                  <a:schemeClr val="tx1"/>
                </a:solidFill>
              </a:rPr>
              <a:t>Annual and two-year contracts are stable from the start. Month-to-month stays risky at every tenure level, but the first-year problem is the largest.</a:t>
            </a:r>
            <a:endParaRPr lang="en-US" sz="1300" dirty="0"/>
          </a:p>
        </p:txBody>
      </p:sp>
      <p:sp>
        <p:nvSpPr>
          <p:cNvPr id="13" name="Chart card"/>
          <p:cNvSpPr/>
          <p:nvPr/>
        </p:nvSpPr>
        <p:spPr>
          <a:xfrm>
            <a:off x="4297680" y="1417320"/>
            <a:ext cx="4480560" cy="4800600"/>
          </a:xfrm>
          <a:prstGeom prst="roundRect">
            <a:avLst>
              <a:gd name="adj" fmla="val 2041"/>
            </a:avLst>
          </a:prstGeom>
          <a:solidFill>
            <a:schemeClr val="bg2"/>
          </a:solidFill>
          <a:ln/>
        </p:spPr>
      </p:sp>
      <p:sp>
        <p:nvSpPr>
          <p:cNvPr id="14" name="Text 11"/>
          <p:cNvSpPr txBox="1"/>
          <p:nvPr/>
        </p:nvSpPr>
        <p:spPr>
          <a:xfrm>
            <a:off x="4526280" y="1508760"/>
            <a:ext cx="4023360" cy="320040"/>
          </a:xfrm>
          <a:prstGeom prst="rect">
            <a:avLst/>
          </a:prstGeom>
          <a:noFill/>
          <a:ln/>
        </p:spPr>
        <p:txBody>
          <a:bodyPr wrap="square" lIns="0" tIns="0" rIns="0" bIns="0" rtlCol="0" anchor="t"/>
          <a:lstStyle/>
          <a:p>
            <a:pPr indent="0" marL="0">
              <a:buNone/>
            </a:pPr>
            <a:r>
              <a:rPr lang="en-US" sz="1600" b="1" dirty="0">
                <a:solidFill>
                  <a:schemeClr val="tx1"/>
                </a:solidFill>
              </a:rPr>
              <a:t>Churn Rate by Add-On Service</a:t>
            </a:r>
            <a:endParaRPr lang="en-US" sz="1600" dirty="0"/>
          </a:p>
        </p:txBody>
      </p:sp>
      <p:sp>
        <p:nvSpPr>
          <p:cNvPr id="15" name="Text 12"/>
          <p:cNvSpPr txBox="1"/>
          <p:nvPr/>
        </p:nvSpPr>
        <p:spPr>
          <a:xfrm>
            <a:off x="4526280" y="1828800"/>
            <a:ext cx="4023360" cy="274320"/>
          </a:xfrm>
          <a:prstGeom prst="rect">
            <a:avLst/>
          </a:prstGeom>
          <a:noFill/>
          <a:ln/>
        </p:spPr>
        <p:txBody>
          <a:bodyPr wrap="square" lIns="0" tIns="0" rIns="0" bIns="0" rtlCol="0" anchor="t"/>
          <a:lstStyle/>
          <a:p>
            <a:pPr indent="0" marL="0">
              <a:buNone/>
            </a:pPr>
            <a:r>
              <a:rPr lang="en-US" sz="1200" i="1" dirty="0">
                <a:solidFill>
                  <a:schemeClr val="tx2"/>
                </a:solidFill>
              </a:rPr>
              <a:t>Question: which add-ons coincide with lower churn?</a:t>
            </a:r>
            <a:endParaRPr lang="en-US" sz="1200" dirty="0"/>
          </a:p>
        </p:txBody>
      </p:sp>
      <p:graphicFrame>
        <p:nvGraphicFramePr>
          <p:cNvPr id="16" name="Chart 0" descr=""/>
          <p:cNvGraphicFramePr/>
          <p:nvPr/>
        </p:nvGraphicFramePr>
        <p:xfrm>
          <a:off x="4389120" y="2194560"/>
          <a:ext cx="4297680" cy="3108960"/>
        </p:xfrm>
        <a:graphic xmlns:a="http://schemas.openxmlformats.org/drawingml/2006/main">
          <a:graphicData uri="http://schemas.openxmlformats.org/drawingml/2006/chart">
            <c:chart xmlns:c="http://schemas.openxmlformats.org/drawingml/2006/chart" r:id="rId1"/>
          </a:graphicData>
        </a:graphic>
      </p:graphicFrame>
      <p:sp>
        <p:nvSpPr>
          <p:cNvPr id="17" name="Text 13"/>
          <p:cNvSpPr txBox="1"/>
          <p:nvPr/>
        </p:nvSpPr>
        <p:spPr>
          <a:xfrm>
            <a:off x="4526280" y="5440680"/>
            <a:ext cx="4023360" cy="685800"/>
          </a:xfrm>
          <a:prstGeom prst="rect">
            <a:avLst/>
          </a:prstGeom>
          <a:noFill/>
          <a:ln/>
        </p:spPr>
        <p:txBody>
          <a:bodyPr wrap="square" lIns="0" tIns="0" rIns="0" bIns="0" rtlCol="0" anchor="t"/>
          <a:lstStyle/>
          <a:p>
            <a:pPr indent="0" marL="0">
              <a:buNone/>
            </a:pPr>
            <a:r>
              <a:rPr lang="en-US" sz="1200" dirty="0">
                <a:solidFill>
                  <a:schemeClr val="tx2"/>
                </a:solidFill>
              </a:rPr>
              <a:t>Internet customers only. Support and security align with much lower churn; streaming does not.</a:t>
            </a:r>
            <a:endParaRPr lang="en-US" sz="1200" dirty="0"/>
          </a:p>
        </p:txBody>
      </p:sp>
      <p:sp>
        <p:nvSpPr>
          <p:cNvPr id="18" name="Protective card"/>
          <p:cNvSpPr/>
          <p:nvPr/>
        </p:nvSpPr>
        <p:spPr>
          <a:xfrm>
            <a:off x="8961120" y="1417320"/>
            <a:ext cx="2679192" cy="4800600"/>
          </a:xfrm>
          <a:prstGeom prst="roundRect">
            <a:avLst>
              <a:gd name="adj" fmla="val 3413"/>
            </a:avLst>
          </a:prstGeom>
          <a:solidFill>
            <a:schemeClr val="bg2"/>
          </a:solidFill>
          <a:ln/>
        </p:spPr>
      </p:sp>
      <p:sp>
        <p:nvSpPr>
          <p:cNvPr id="19" name="Text 15"/>
          <p:cNvSpPr txBox="1"/>
          <p:nvPr/>
        </p:nvSpPr>
        <p:spPr>
          <a:xfrm>
            <a:off x="9144000" y="1508760"/>
            <a:ext cx="2331720" cy="320040"/>
          </a:xfrm>
          <a:prstGeom prst="rect">
            <a:avLst/>
          </a:prstGeom>
          <a:noFill/>
          <a:ln/>
        </p:spPr>
        <p:txBody>
          <a:bodyPr wrap="square" lIns="0" tIns="0" rIns="0" bIns="0" rtlCol="0" anchor="t"/>
          <a:lstStyle/>
          <a:p>
            <a:pPr indent="0" marL="0">
              <a:buNone/>
            </a:pPr>
            <a:r>
              <a:rPr lang="en-US" sz="1600" b="1" dirty="0">
                <a:solidFill>
                  <a:schemeClr val="tx1"/>
                </a:solidFill>
              </a:rPr>
              <a:t>Protective Add-Ons</a:t>
            </a:r>
            <a:endParaRPr lang="en-US" sz="1600" dirty="0"/>
          </a:p>
        </p:txBody>
      </p:sp>
      <p:sp>
        <p:nvSpPr>
          <p:cNvPr id="20" name="Text 16"/>
          <p:cNvSpPr txBox="1"/>
          <p:nvPr/>
        </p:nvSpPr>
        <p:spPr>
          <a:xfrm>
            <a:off x="9144000" y="1828800"/>
            <a:ext cx="2331720" cy="502920"/>
          </a:xfrm>
          <a:prstGeom prst="rect">
            <a:avLst/>
          </a:prstGeom>
          <a:noFill/>
          <a:ln/>
        </p:spPr>
        <p:txBody>
          <a:bodyPr wrap="square" lIns="0" tIns="0" rIns="0" bIns="0" rtlCol="0" anchor="t"/>
          <a:lstStyle/>
          <a:p>
            <a:pPr indent="0" marL="0">
              <a:buNone/>
            </a:pPr>
            <a:r>
              <a:rPr lang="en-US" sz="1200" i="1" dirty="0">
                <a:solidFill>
                  <a:schemeClr val="tx2"/>
                </a:solidFill>
              </a:rPr>
              <a:t>Question: does stacking protection help?</a:t>
            </a:r>
            <a:endParaRPr lang="en-US" sz="1200" dirty="0"/>
          </a:p>
        </p:txBody>
      </p:sp>
      <p:sp>
        <p:nvSpPr>
          <p:cNvPr id="21" name="Text 17"/>
          <p:cNvSpPr txBox="1"/>
          <p:nvPr/>
        </p:nvSpPr>
        <p:spPr>
          <a:xfrm>
            <a:off x="9144000" y="2560320"/>
            <a:ext cx="2331720" cy="640080"/>
          </a:xfrm>
          <a:prstGeom prst="rect">
            <a:avLst/>
          </a:prstGeom>
          <a:noFill/>
          <a:ln/>
        </p:spPr>
        <p:txBody>
          <a:bodyPr wrap="square" lIns="0" tIns="0" rIns="0" bIns="0" rtlCol="0" anchor="ctr"/>
          <a:lstStyle/>
          <a:p>
            <a:pPr indent="0" marL="0">
              <a:buNone/>
            </a:pPr>
            <a:r>
              <a:rPr lang="en-US" sz="3600" b="1" dirty="0">
                <a:solidFill>
                  <a:schemeClr val="accent1"/>
                </a:solidFill>
              </a:rPr>
              <a:t>56.7%</a:t>
            </a:r>
            <a:endParaRPr lang="en-US" sz="3600" dirty="0"/>
          </a:p>
        </p:txBody>
      </p:sp>
      <p:sp>
        <p:nvSpPr>
          <p:cNvPr id="22" name="Text 18"/>
          <p:cNvSpPr txBox="1"/>
          <p:nvPr/>
        </p:nvSpPr>
        <p:spPr>
          <a:xfrm>
            <a:off x="9144000" y="3200400"/>
            <a:ext cx="2331720" cy="914400"/>
          </a:xfrm>
          <a:prstGeom prst="rect">
            <a:avLst/>
          </a:prstGeom>
          <a:noFill/>
          <a:ln/>
        </p:spPr>
        <p:txBody>
          <a:bodyPr wrap="square" lIns="0" tIns="0" rIns="0" bIns="0" rtlCol="0" anchor="t"/>
          <a:lstStyle/>
          <a:p>
            <a:pPr indent="0" marL="0">
              <a:buNone/>
            </a:pPr>
            <a:r>
              <a:rPr lang="en-US" sz="1200" dirty="0">
                <a:solidFill>
                  <a:schemeClr val="tx1"/>
                </a:solidFill>
              </a:rPr>
              <a:t>churn with none of the four (tech support, security, backup, device protection)</a:t>
            </a:r>
            <a:endParaRPr lang="en-US" sz="1200" dirty="0"/>
          </a:p>
        </p:txBody>
      </p:sp>
      <p:sp>
        <p:nvSpPr>
          <p:cNvPr id="23" name="Text 19"/>
          <p:cNvSpPr txBox="1"/>
          <p:nvPr/>
        </p:nvSpPr>
        <p:spPr>
          <a:xfrm>
            <a:off x="9144000" y="4297680"/>
            <a:ext cx="2331720" cy="640080"/>
          </a:xfrm>
          <a:prstGeom prst="rect">
            <a:avLst/>
          </a:prstGeom>
          <a:noFill/>
          <a:ln/>
        </p:spPr>
        <p:txBody>
          <a:bodyPr wrap="square" lIns="0" tIns="0" rIns="0" bIns="0" rtlCol="0" anchor="ctr"/>
          <a:lstStyle/>
          <a:p>
            <a:pPr indent="0" marL="0">
              <a:buNone/>
            </a:pPr>
            <a:r>
              <a:rPr lang="en-US" sz="3600" b="1" dirty="0">
                <a:solidFill>
                  <a:schemeClr val="accent4"/>
                </a:solidFill>
              </a:rPr>
              <a:t>5.3%</a:t>
            </a:r>
            <a:endParaRPr lang="en-US" sz="3600" dirty="0"/>
          </a:p>
        </p:txBody>
      </p:sp>
      <p:sp>
        <p:nvSpPr>
          <p:cNvPr id="24" name="Text 20"/>
          <p:cNvSpPr txBox="1"/>
          <p:nvPr/>
        </p:nvSpPr>
        <p:spPr>
          <a:xfrm>
            <a:off x="9144000" y="4937760"/>
            <a:ext cx="2331720" cy="365760"/>
          </a:xfrm>
          <a:prstGeom prst="rect">
            <a:avLst/>
          </a:prstGeom>
          <a:noFill/>
          <a:ln/>
        </p:spPr>
        <p:txBody>
          <a:bodyPr wrap="square" lIns="0" tIns="0" rIns="0" bIns="0" rtlCol="0" anchor="t"/>
          <a:lstStyle/>
          <a:p>
            <a:pPr indent="0" marL="0">
              <a:buNone/>
            </a:pPr>
            <a:r>
              <a:rPr lang="en-US" sz="1200" dirty="0">
                <a:solidFill>
                  <a:schemeClr val="tx1"/>
                </a:solidFill>
              </a:rPr>
              <a:t>churn with all four</a:t>
            </a:r>
            <a:endParaRPr lang="en-US" sz="1200" dirty="0"/>
          </a:p>
        </p:txBody>
      </p:sp>
      <p:sp>
        <p:nvSpPr>
          <p:cNvPr id="25" name="Text 21"/>
          <p:cNvSpPr txBox="1"/>
          <p:nvPr/>
        </p:nvSpPr>
        <p:spPr>
          <a:xfrm>
            <a:off x="9144000" y="5394960"/>
            <a:ext cx="2331720" cy="731520"/>
          </a:xfrm>
          <a:prstGeom prst="rect">
            <a:avLst/>
          </a:prstGeom>
          <a:noFill/>
          <a:ln/>
        </p:spPr>
        <p:txBody>
          <a:bodyPr wrap="square" lIns="0" tIns="0" rIns="0" bIns="0" rtlCol="0" anchor="t"/>
          <a:lstStyle/>
          <a:p>
            <a:pPr indent="0" marL="0">
              <a:buNone/>
            </a:pPr>
            <a:r>
              <a:rPr lang="en-US" sz="1200" b="1" dirty="0">
                <a:solidFill>
                  <a:schemeClr val="tx1"/>
                </a:solidFill>
              </a:rPr>
              <a:t>87% of the Priority Segment has no tech support.</a:t>
            </a:r>
            <a:endParaRPr lang="en-US" sz="1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PAGE 3  |  STAKEHOLDERS AND SCENARIOS</a:t>
            </a:r>
            <a:endParaRPr lang="en-US" sz="1200" dirty="0"/>
          </a:p>
        </p:txBody>
      </p:sp>
      <p:sp>
        <p:nvSpPr>
          <p:cNvPr id="3" name="Text 0"/>
          <p:cNvSpPr/>
          <p:nvPr>
            <p:ph idx="100"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Segment Dive: who acts on it</a:t>
            </a:r>
            <a:endParaRPr lang="en-US" sz="3000" dirty="0"/>
          </a:p>
        </p:txBody>
      </p:sp>
      <p:sp>
        <p:nvSpPr>
          <p:cNvPr id="5" name="Stakeholder card"/>
          <p:cNvSpPr/>
          <p:nvPr/>
        </p:nvSpPr>
        <p:spPr>
          <a:xfrm>
            <a:off x="548640" y="1463040"/>
            <a:ext cx="3566160" cy="4754880"/>
          </a:xfrm>
          <a:prstGeom prst="roundRect">
            <a:avLst>
              <a:gd name="adj" fmla="val 2564"/>
            </a:avLst>
          </a:prstGeom>
          <a:solidFill>
            <a:schemeClr val="bg2"/>
          </a:solidFill>
          <a:ln/>
        </p:spPr>
      </p:sp>
      <p:sp>
        <p:nvSpPr>
          <p:cNvPr id="6" name="Stakeholder header"/>
          <p:cNvSpPr/>
          <p:nvPr/>
        </p:nvSpPr>
        <p:spPr>
          <a:xfrm>
            <a:off x="548640" y="1463040"/>
            <a:ext cx="3566160" cy="640080"/>
          </a:xfrm>
          <a:prstGeom prst="roundRect">
            <a:avLst>
              <a:gd name="adj" fmla="val 14286"/>
            </a:avLst>
          </a:prstGeom>
          <a:solidFill>
            <a:schemeClr val="tx2"/>
          </a:solidFill>
          <a:ln/>
        </p:spPr>
      </p:sp>
      <p:sp>
        <p:nvSpPr>
          <p:cNvPr id="7" name="Text 4"/>
          <p:cNvSpPr txBox="1"/>
          <p:nvPr/>
        </p:nvSpPr>
        <p:spPr>
          <a:xfrm>
            <a:off x="777240" y="1463040"/>
            <a:ext cx="3108960" cy="640080"/>
          </a:xfrm>
          <a:prstGeom prst="rect">
            <a:avLst/>
          </a:prstGeom>
          <a:noFill/>
          <a:ln/>
        </p:spPr>
        <p:txBody>
          <a:bodyPr wrap="square" lIns="0" tIns="0" rIns="0" bIns="0" rtlCol="0" anchor="ctr"/>
          <a:lstStyle/>
          <a:p>
            <a:pPr indent="0" marL="0">
              <a:buNone/>
            </a:pPr>
            <a:r>
              <a:rPr lang="en-US" sz="1600" b="1" dirty="0">
                <a:solidFill>
                  <a:schemeClr val="bg1"/>
                </a:solidFill>
              </a:rPr>
              <a:t>Retention / CRM</a:t>
            </a:r>
            <a:endParaRPr lang="en-US" sz="1600" dirty="0"/>
          </a:p>
        </p:txBody>
      </p:sp>
      <p:sp>
        <p:nvSpPr>
          <p:cNvPr id="8" name="Text 5"/>
          <p:cNvSpPr txBox="1"/>
          <p:nvPr/>
        </p:nvSpPr>
        <p:spPr>
          <a:xfrm>
            <a:off x="777240" y="2286000"/>
            <a:ext cx="3108960" cy="3840480"/>
          </a:xfrm>
          <a:prstGeom prst="rect">
            <a:avLst/>
          </a:prstGeom>
          <a:noFill/>
          <a:ln/>
        </p:spPr>
        <p:txBody>
          <a:bodyPr wrap="square" lIns="0" tIns="0" rIns="0" bIns="0" rtlCol="0" anchor="t"/>
          <a:lstStyle/>
          <a:p>
            <a:pPr indent="0" marL="0">
              <a:buNone/>
            </a:pPr>
            <a:r>
              <a:rPr lang="en-US" sz="1300" b="1" dirty="0">
                <a:solidFill>
                  <a:schemeClr val="accent1"/>
                </a:solidFill>
              </a:rPr>
              <a:t>BUSINESS SCENARIO</a:t>
            </a:r>
            <a:endParaRPr lang="en-US" sz="1400" dirty="0"/>
          </a:p>
          <a:p>
            <a:pPr indent="0" marL="0">
              <a:spcAft>
                <a:spcPts val="1000"/>
              </a:spcAft>
              <a:buNone/>
            </a:pPr>
            <a:r>
              <a:rPr lang="en-US" sz="1600" dirty="0">
                <a:solidFill>
                  <a:schemeClr val="tx1"/>
                </a:solidFill>
              </a:rPr>
              <a:t>The CRM team builds next month's priority save list and has capacity to contact a limited number of customers.</a:t>
            </a:r>
            <a:endParaRPr lang="en-US" sz="1400" dirty="0"/>
          </a:p>
          <a:p>
            <a:pPr indent="0" marL="0">
              <a:buNone/>
            </a:pPr>
            <a:r>
              <a:rPr lang="en-US" sz="1300" b="1" dirty="0">
                <a:solidFill>
                  <a:schemeClr val="accent1"/>
                </a:solidFill>
              </a:rPr>
              <a:t>QUESTION THEY ASK</a:t>
            </a:r>
            <a:endParaRPr lang="en-US" sz="1400" dirty="0"/>
          </a:p>
          <a:p>
            <a:pPr indent="0" marL="0">
              <a:spcAft>
                <a:spcPts val="1000"/>
              </a:spcAft>
              <a:buNone/>
            </a:pPr>
            <a:r>
              <a:rPr lang="en-US" sz="1600" dirty="0">
                <a:solidFill>
                  <a:schemeClr val="tx1"/>
                </a:solidFill>
              </a:rPr>
              <a:t>Which customers should be contacted first?</a:t>
            </a:r>
            <a:endParaRPr lang="en-US" sz="1400" dirty="0"/>
          </a:p>
          <a:p>
            <a:pPr indent="0" marL="0">
              <a:buNone/>
            </a:pPr>
            <a:r>
              <a:rPr lang="en-US" sz="1300" b="1" dirty="0">
                <a:solidFill>
                  <a:schemeClr val="accent1"/>
                </a:solidFill>
              </a:rPr>
              <a:t>DECISION IT SUPPORTS</a:t>
            </a:r>
            <a:endParaRPr lang="en-US" sz="1400" dirty="0"/>
          </a:p>
          <a:p>
            <a:pPr indent="0" marL="0">
              <a:spcAft>
                <a:spcPts val="1000"/>
              </a:spcAft>
              <a:buNone/>
            </a:pPr>
            <a:r>
              <a:rPr lang="en-US" sz="1600" dirty="0">
                <a:solidFill>
                  <a:schemeClr val="tx1"/>
                </a:solidFill>
              </a:rPr>
              <a:t>Start with the 1,307 month-to-month fiber customers on electronic check: upgrade and auto-pay offers.</a:t>
            </a:r>
            <a:endParaRPr lang="en-US" sz="1400" dirty="0"/>
          </a:p>
        </p:txBody>
      </p:sp>
      <p:sp>
        <p:nvSpPr>
          <p:cNvPr id="9" name="Stakeholder card"/>
          <p:cNvSpPr/>
          <p:nvPr/>
        </p:nvSpPr>
        <p:spPr>
          <a:xfrm>
            <a:off x="4297680" y="1463040"/>
            <a:ext cx="3566160" cy="4754880"/>
          </a:xfrm>
          <a:prstGeom prst="roundRect">
            <a:avLst>
              <a:gd name="adj" fmla="val 2564"/>
            </a:avLst>
          </a:prstGeom>
          <a:solidFill>
            <a:schemeClr val="bg2"/>
          </a:solidFill>
          <a:ln/>
        </p:spPr>
      </p:sp>
      <p:sp>
        <p:nvSpPr>
          <p:cNvPr id="10" name="Stakeholder header"/>
          <p:cNvSpPr/>
          <p:nvPr/>
        </p:nvSpPr>
        <p:spPr>
          <a:xfrm>
            <a:off x="4297680" y="1463040"/>
            <a:ext cx="3566160" cy="640080"/>
          </a:xfrm>
          <a:prstGeom prst="roundRect">
            <a:avLst>
              <a:gd name="adj" fmla="val 14286"/>
            </a:avLst>
          </a:prstGeom>
          <a:solidFill>
            <a:schemeClr val="tx2"/>
          </a:solidFill>
          <a:ln/>
        </p:spPr>
      </p:sp>
      <p:sp>
        <p:nvSpPr>
          <p:cNvPr id="11" name="Text 8"/>
          <p:cNvSpPr txBox="1"/>
          <p:nvPr/>
        </p:nvSpPr>
        <p:spPr>
          <a:xfrm>
            <a:off x="4526280" y="1463040"/>
            <a:ext cx="3108960" cy="640080"/>
          </a:xfrm>
          <a:prstGeom prst="rect">
            <a:avLst/>
          </a:prstGeom>
          <a:noFill/>
          <a:ln/>
        </p:spPr>
        <p:txBody>
          <a:bodyPr wrap="square" lIns="0" tIns="0" rIns="0" bIns="0" rtlCol="0" anchor="ctr"/>
          <a:lstStyle/>
          <a:p>
            <a:pPr indent="0" marL="0">
              <a:buNone/>
            </a:pPr>
            <a:r>
              <a:rPr lang="en-US" sz="1600" b="1" dirty="0">
                <a:solidFill>
                  <a:schemeClr val="bg1"/>
                </a:solidFill>
              </a:rPr>
              <a:t>Marketing and Sales</a:t>
            </a:r>
            <a:endParaRPr lang="en-US" sz="1600" dirty="0"/>
          </a:p>
        </p:txBody>
      </p:sp>
      <p:sp>
        <p:nvSpPr>
          <p:cNvPr id="12" name="Text 9"/>
          <p:cNvSpPr txBox="1"/>
          <p:nvPr/>
        </p:nvSpPr>
        <p:spPr>
          <a:xfrm>
            <a:off x="4526280" y="2286000"/>
            <a:ext cx="3108960" cy="3840480"/>
          </a:xfrm>
          <a:prstGeom prst="rect">
            <a:avLst/>
          </a:prstGeom>
          <a:noFill/>
          <a:ln/>
        </p:spPr>
        <p:txBody>
          <a:bodyPr wrap="square" lIns="0" tIns="0" rIns="0" bIns="0" rtlCol="0" anchor="t"/>
          <a:lstStyle/>
          <a:p>
            <a:pPr indent="0" marL="0">
              <a:buNone/>
            </a:pPr>
            <a:r>
              <a:rPr lang="en-US" sz="1300" b="1" dirty="0">
                <a:solidFill>
                  <a:schemeClr val="accent1"/>
                </a:solidFill>
              </a:rPr>
              <a:t>BUSINESS SCENARIO</a:t>
            </a:r>
            <a:endParaRPr lang="en-US" sz="1400" dirty="0"/>
          </a:p>
          <a:p>
            <a:pPr indent="0" marL="0">
              <a:spcAft>
                <a:spcPts val="1000"/>
              </a:spcAft>
              <a:buNone/>
            </a:pPr>
            <a:r>
              <a:rPr lang="en-US" sz="1600" dirty="0">
                <a:solidFill>
                  <a:schemeClr val="tx1"/>
                </a:solidFill>
              </a:rPr>
              <a:t>Marketing is designing a win-back and upgrade offer for month-to-month fiber customers.</a:t>
            </a:r>
            <a:endParaRPr lang="en-US" sz="1400" dirty="0"/>
          </a:p>
          <a:p>
            <a:pPr indent="0" marL="0">
              <a:buNone/>
            </a:pPr>
            <a:r>
              <a:rPr lang="en-US" sz="1300" b="1" dirty="0">
                <a:solidFill>
                  <a:schemeClr val="accent1"/>
                </a:solidFill>
              </a:rPr>
              <a:t>QUESTION THEY ASK</a:t>
            </a:r>
            <a:endParaRPr lang="en-US" sz="1400" dirty="0"/>
          </a:p>
          <a:p>
            <a:pPr indent="0" marL="0">
              <a:spcAft>
                <a:spcPts val="1000"/>
              </a:spcAft>
              <a:buNone/>
            </a:pPr>
            <a:r>
              <a:rPr lang="en-US" sz="1600" dirty="0">
                <a:solidFill>
                  <a:schemeClr val="tx1"/>
                </a:solidFill>
              </a:rPr>
              <a:t>Which combinations hold the most at-risk revenue?</a:t>
            </a:r>
            <a:endParaRPr lang="en-US" sz="1400" dirty="0"/>
          </a:p>
          <a:p>
            <a:pPr indent="0" marL="0">
              <a:buNone/>
            </a:pPr>
            <a:r>
              <a:rPr lang="en-US" sz="1300" b="1" dirty="0">
                <a:solidFill>
                  <a:schemeClr val="accent1"/>
                </a:solidFill>
              </a:rPr>
              <a:t>DECISION IT SUPPORTS</a:t>
            </a:r>
            <a:endParaRPr lang="en-US" sz="1400" dirty="0"/>
          </a:p>
          <a:p>
            <a:pPr indent="0" marL="0">
              <a:spcAft>
                <a:spcPts val="1000"/>
              </a:spcAft>
              <a:buNone/>
            </a:pPr>
            <a:r>
              <a:rPr lang="en-US" sz="1600" dirty="0">
                <a:solidFill>
                  <a:schemeClr val="tx1"/>
                </a:solidFill>
              </a:rPr>
              <a:t>Pair an annual-plan discount with an auto-pay credit, ordered by the lost-revenue column of the segment table.</a:t>
            </a:r>
            <a:endParaRPr lang="en-US" sz="1400" dirty="0"/>
          </a:p>
        </p:txBody>
      </p:sp>
      <p:sp>
        <p:nvSpPr>
          <p:cNvPr id="13" name="Stakeholder card"/>
          <p:cNvSpPr/>
          <p:nvPr/>
        </p:nvSpPr>
        <p:spPr>
          <a:xfrm>
            <a:off x="8046720" y="1463040"/>
            <a:ext cx="3566160" cy="4754880"/>
          </a:xfrm>
          <a:prstGeom prst="roundRect">
            <a:avLst>
              <a:gd name="adj" fmla="val 2564"/>
            </a:avLst>
          </a:prstGeom>
          <a:solidFill>
            <a:schemeClr val="bg2"/>
          </a:solidFill>
          <a:ln/>
        </p:spPr>
      </p:sp>
      <p:sp>
        <p:nvSpPr>
          <p:cNvPr id="14" name="Stakeholder header"/>
          <p:cNvSpPr/>
          <p:nvPr/>
        </p:nvSpPr>
        <p:spPr>
          <a:xfrm>
            <a:off x="8046720" y="1463040"/>
            <a:ext cx="3566160" cy="640080"/>
          </a:xfrm>
          <a:prstGeom prst="roundRect">
            <a:avLst>
              <a:gd name="adj" fmla="val 14286"/>
            </a:avLst>
          </a:prstGeom>
          <a:solidFill>
            <a:schemeClr val="tx2"/>
          </a:solidFill>
          <a:ln/>
        </p:spPr>
      </p:sp>
      <p:sp>
        <p:nvSpPr>
          <p:cNvPr id="15" name="Text 12"/>
          <p:cNvSpPr txBox="1"/>
          <p:nvPr/>
        </p:nvSpPr>
        <p:spPr>
          <a:xfrm>
            <a:off x="8275320" y="1463040"/>
            <a:ext cx="3108960" cy="640080"/>
          </a:xfrm>
          <a:prstGeom prst="rect">
            <a:avLst/>
          </a:prstGeom>
          <a:noFill/>
          <a:ln/>
        </p:spPr>
        <p:txBody>
          <a:bodyPr wrap="square" lIns="0" tIns="0" rIns="0" bIns="0" rtlCol="0" anchor="ctr"/>
          <a:lstStyle/>
          <a:p>
            <a:pPr indent="0" marL="0">
              <a:buNone/>
            </a:pPr>
            <a:r>
              <a:rPr lang="en-US" sz="1600" b="1" dirty="0">
                <a:solidFill>
                  <a:schemeClr val="bg1"/>
                </a:solidFill>
              </a:rPr>
              <a:t>Customer Support and Product</a:t>
            </a:r>
            <a:endParaRPr lang="en-US" sz="1600" dirty="0"/>
          </a:p>
        </p:txBody>
      </p:sp>
      <p:sp>
        <p:nvSpPr>
          <p:cNvPr id="16" name="Text 13"/>
          <p:cNvSpPr txBox="1"/>
          <p:nvPr/>
        </p:nvSpPr>
        <p:spPr>
          <a:xfrm>
            <a:off x="8275320" y="2286000"/>
            <a:ext cx="3108960" cy="3840480"/>
          </a:xfrm>
          <a:prstGeom prst="rect">
            <a:avLst/>
          </a:prstGeom>
          <a:noFill/>
          <a:ln/>
        </p:spPr>
        <p:txBody>
          <a:bodyPr wrap="square" lIns="0" tIns="0" rIns="0" bIns="0" rtlCol="0" anchor="t"/>
          <a:lstStyle/>
          <a:p>
            <a:pPr indent="0" marL="0">
              <a:buNone/>
            </a:pPr>
            <a:r>
              <a:rPr lang="en-US" sz="1300" b="1" dirty="0">
                <a:solidFill>
                  <a:schemeClr val="accent1"/>
                </a:solidFill>
              </a:rPr>
              <a:t>BUSINESS SCENARIO</a:t>
            </a:r>
            <a:endParaRPr lang="en-US" sz="1400" dirty="0"/>
          </a:p>
          <a:p>
            <a:pPr indent="0" marL="0">
              <a:spcAft>
                <a:spcPts val="1000"/>
              </a:spcAft>
              <a:buNone/>
            </a:pPr>
            <a:r>
              <a:rPr lang="en-US" sz="1600" dirty="0">
                <a:solidFill>
                  <a:schemeClr val="tx1"/>
                </a:solidFill>
              </a:rPr>
              <a:t>Product is deciding whether to bundle tech support and online security into fiber plans.</a:t>
            </a:r>
            <a:endParaRPr lang="en-US" sz="1400" dirty="0"/>
          </a:p>
          <a:p>
            <a:pPr indent="0" marL="0">
              <a:buNone/>
            </a:pPr>
            <a:r>
              <a:rPr lang="en-US" sz="1300" b="1" dirty="0">
                <a:solidFill>
                  <a:schemeClr val="accent1"/>
                </a:solidFill>
              </a:rPr>
              <a:t>QUESTION THEY ASK</a:t>
            </a:r>
            <a:endParaRPr lang="en-US" sz="1400" dirty="0"/>
          </a:p>
          <a:p>
            <a:pPr indent="0" marL="0">
              <a:spcAft>
                <a:spcPts val="1000"/>
              </a:spcAft>
              <a:buNone/>
            </a:pPr>
            <a:r>
              <a:rPr lang="en-US" sz="1600" dirty="0">
                <a:solidFill>
                  <a:schemeClr val="tx1"/>
                </a:solidFill>
              </a:rPr>
              <a:t>Do protective services coincide with lower churn, and what about streaming?</a:t>
            </a:r>
            <a:endParaRPr lang="en-US" sz="1400" dirty="0"/>
          </a:p>
          <a:p>
            <a:pPr indent="0" marL="0">
              <a:buNone/>
            </a:pPr>
            <a:r>
              <a:rPr lang="en-US" sz="1300" b="1" dirty="0">
                <a:solidFill>
                  <a:schemeClr val="accent1"/>
                </a:solidFill>
              </a:rPr>
              <a:t>DECISION IT SUPPORTS</a:t>
            </a:r>
            <a:endParaRPr lang="en-US" sz="1400" dirty="0"/>
          </a:p>
          <a:p>
            <a:pPr indent="0" marL="0">
              <a:spcAft>
                <a:spcPts val="1000"/>
              </a:spcAft>
              <a:buNone/>
            </a:pPr>
            <a:r>
              <a:rPr lang="en-US" sz="1600" dirty="0">
                <a:solidFill>
                  <a:schemeClr val="tx1"/>
                </a:solidFill>
              </a:rPr>
              <a:t>Run a trial bundle of support and security against a control group; do not push streaming as a retention tool.</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PAGE 4  |  HIGH-VALUE CUSTOMERS</a:t>
            </a:r>
            <a:endParaRPr lang="en-US" sz="1200" dirty="0"/>
          </a:p>
        </p:txBody>
      </p:sp>
      <p:sp>
        <p:nvSpPr>
          <p:cNvPr id="3" name="Text 0"/>
          <p:cNvSpPr/>
          <p:nvPr>
            <p:ph idx="100"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High-value churn is a fiber problem</a:t>
            </a:r>
            <a:endParaRPr lang="en-US" sz="3000" dirty="0"/>
          </a:p>
        </p:txBody>
      </p:sp>
      <p:sp>
        <p:nvSpPr>
          <p:cNvPr id="5" name="Chart card"/>
          <p:cNvSpPr/>
          <p:nvPr/>
        </p:nvSpPr>
        <p:spPr>
          <a:xfrm>
            <a:off x="548640" y="1417320"/>
            <a:ext cx="5486400" cy="4800600"/>
          </a:xfrm>
          <a:prstGeom prst="roundRect">
            <a:avLst>
              <a:gd name="adj" fmla="val 1905"/>
            </a:avLst>
          </a:prstGeom>
          <a:solidFill>
            <a:schemeClr val="bg2"/>
          </a:solidFill>
          <a:ln/>
        </p:spPr>
      </p:sp>
      <p:sp>
        <p:nvSpPr>
          <p:cNvPr id="6" name="Text 3"/>
          <p:cNvSpPr txBox="1"/>
          <p:nvPr/>
        </p:nvSpPr>
        <p:spPr>
          <a:xfrm>
            <a:off x="777240" y="1508760"/>
            <a:ext cx="5029200" cy="320040"/>
          </a:xfrm>
          <a:prstGeom prst="rect">
            <a:avLst/>
          </a:prstGeom>
          <a:noFill/>
          <a:ln/>
        </p:spPr>
        <p:txBody>
          <a:bodyPr wrap="square" lIns="0" tIns="0" rIns="0" bIns="0" rtlCol="0" anchor="t"/>
          <a:lstStyle/>
          <a:p>
            <a:pPr indent="0" marL="0">
              <a:buNone/>
            </a:pPr>
            <a:r>
              <a:rPr lang="en-US" sz="1600" b="1" dirty="0">
                <a:solidFill>
                  <a:schemeClr val="tx1"/>
                </a:solidFill>
              </a:rPr>
              <a:t>Churn Rate and Lost Revenue by Spend Segment</a:t>
            </a:r>
            <a:endParaRPr lang="en-US" sz="1600" dirty="0"/>
          </a:p>
        </p:txBody>
      </p:sp>
      <p:sp>
        <p:nvSpPr>
          <p:cNvPr id="7" name="Text 4"/>
          <p:cNvSpPr txBox="1"/>
          <p:nvPr/>
        </p:nvSpPr>
        <p:spPr>
          <a:xfrm>
            <a:off x="777240" y="1828800"/>
            <a:ext cx="5029200" cy="274320"/>
          </a:xfrm>
          <a:prstGeom prst="rect">
            <a:avLst/>
          </a:prstGeom>
          <a:noFill/>
          <a:ln/>
        </p:spPr>
        <p:txBody>
          <a:bodyPr wrap="square" lIns="0" tIns="0" rIns="0" bIns="0" rtlCol="0" anchor="t"/>
          <a:lstStyle/>
          <a:p>
            <a:pPr indent="0" marL="0">
              <a:buNone/>
            </a:pPr>
            <a:r>
              <a:rPr lang="en-US" sz="1200" i="1" dirty="0">
                <a:solidFill>
                  <a:schemeClr val="tx2"/>
                </a:solidFill>
              </a:rPr>
              <a:t>Question: which spend tier loses the most customers and revenue?</a:t>
            </a:r>
            <a:endParaRPr lang="en-US" sz="1200" dirty="0"/>
          </a:p>
        </p:txBody>
      </p:sp>
      <p:graphicFrame>
        <p:nvGraphicFramePr>
          <p:cNvPr id="8" name="Chart 0" descr=""/>
          <p:cNvGraphicFramePr/>
          <p:nvPr/>
        </p:nvGraphicFramePr>
        <p:xfrm>
          <a:off x="685800" y="2194560"/>
          <a:ext cx="5212080" cy="301752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777240" y="5394960"/>
            <a:ext cx="5029200" cy="731520"/>
          </a:xfrm>
          <a:prstGeom prst="rect">
            <a:avLst/>
          </a:prstGeom>
          <a:noFill/>
          <a:ln/>
        </p:spPr>
        <p:txBody>
          <a:bodyPr wrap="square" lIns="0" tIns="0" rIns="0" bIns="0" rtlCol="0" anchor="t"/>
          <a:lstStyle/>
          <a:p>
            <a:pPr indent="0" marL="0">
              <a:buNone/>
            </a:pPr>
            <a:r>
              <a:rPr lang="en-US" sz="1400" b="1" dirty="0">
                <a:solidFill>
                  <a:schemeClr val="accent1"/>
                </a:solidFill>
              </a:rPr>
              <a:t>High Spend drives 55.1% of lost revenue.</a:t>
            </a:r>
            <a:endParaRPr lang="en-US" sz="1400" dirty="0"/>
          </a:p>
        </p:txBody>
      </p:sp>
      <p:sp>
        <p:nvSpPr>
          <p:cNvPr id="10" name="Profile card"/>
          <p:cNvSpPr/>
          <p:nvPr/>
        </p:nvSpPr>
        <p:spPr>
          <a:xfrm>
            <a:off x="6245352" y="1417320"/>
            <a:ext cx="5394960" cy="4800600"/>
          </a:xfrm>
          <a:prstGeom prst="roundRect">
            <a:avLst>
              <a:gd name="adj" fmla="val 1905"/>
            </a:avLst>
          </a:prstGeom>
          <a:solidFill>
            <a:schemeClr val="bg2"/>
          </a:solidFill>
          <a:ln/>
        </p:spPr>
      </p:sp>
      <p:sp>
        <p:nvSpPr>
          <p:cNvPr id="11" name="Text 7"/>
          <p:cNvSpPr txBox="1"/>
          <p:nvPr/>
        </p:nvSpPr>
        <p:spPr>
          <a:xfrm>
            <a:off x="6473952" y="1508760"/>
            <a:ext cx="4937760" cy="320040"/>
          </a:xfrm>
          <a:prstGeom prst="rect">
            <a:avLst/>
          </a:prstGeom>
          <a:noFill/>
          <a:ln/>
        </p:spPr>
        <p:txBody>
          <a:bodyPr wrap="square" lIns="0" tIns="0" rIns="0" bIns="0" rtlCol="0" anchor="t"/>
          <a:lstStyle/>
          <a:p>
            <a:pPr indent="0" marL="0">
              <a:buNone/>
            </a:pPr>
            <a:r>
              <a:rPr lang="en-US" sz="1600" b="1" dirty="0">
                <a:solidFill>
                  <a:schemeClr val="tx1"/>
                </a:solidFill>
              </a:rPr>
              <a:t>Top 20 Churned Customers by Monthly Charge</a:t>
            </a:r>
            <a:endParaRPr lang="en-US" sz="1600" dirty="0"/>
          </a:p>
        </p:txBody>
      </p:sp>
      <p:sp>
        <p:nvSpPr>
          <p:cNvPr id="12" name="Text 8"/>
          <p:cNvSpPr txBox="1"/>
          <p:nvPr/>
        </p:nvSpPr>
        <p:spPr>
          <a:xfrm>
            <a:off x="6473952" y="1828800"/>
            <a:ext cx="4937760" cy="274320"/>
          </a:xfrm>
          <a:prstGeom prst="rect">
            <a:avLst/>
          </a:prstGeom>
          <a:noFill/>
          <a:ln/>
        </p:spPr>
        <p:txBody>
          <a:bodyPr wrap="square" lIns="0" tIns="0" rIns="0" bIns="0" rtlCol="0" anchor="t"/>
          <a:lstStyle/>
          <a:p>
            <a:pPr indent="0" marL="0">
              <a:buNone/>
            </a:pPr>
            <a:r>
              <a:rPr lang="en-US" sz="1200" i="1" dirty="0">
                <a:solidFill>
                  <a:schemeClr val="tx2"/>
                </a:solidFill>
              </a:rPr>
              <a:t>Question: who are the highest-paying customers we lost?</a:t>
            </a:r>
            <a:endParaRPr lang="en-US" sz="1200" dirty="0"/>
          </a:p>
        </p:txBody>
      </p:sp>
      <p:sp>
        <p:nvSpPr>
          <p:cNvPr id="13" name="Stat tile"/>
          <p:cNvSpPr/>
          <p:nvPr/>
        </p:nvSpPr>
        <p:spPr>
          <a:xfrm>
            <a:off x="6473952" y="2286000"/>
            <a:ext cx="2331720" cy="1325880"/>
          </a:xfrm>
          <a:prstGeom prst="roundRect">
            <a:avLst>
              <a:gd name="adj" fmla="val 6897"/>
            </a:avLst>
          </a:prstGeom>
          <a:solidFill>
            <a:schemeClr val="bg1"/>
          </a:solidFill>
          <a:ln/>
        </p:spPr>
      </p:sp>
      <p:sp>
        <p:nvSpPr>
          <p:cNvPr id="14" name="Text 10"/>
          <p:cNvSpPr txBox="1"/>
          <p:nvPr/>
        </p:nvSpPr>
        <p:spPr>
          <a:xfrm>
            <a:off x="6611112" y="2395728"/>
            <a:ext cx="2057400" cy="594360"/>
          </a:xfrm>
          <a:prstGeom prst="rect">
            <a:avLst/>
          </a:prstGeom>
          <a:noFill/>
          <a:ln/>
        </p:spPr>
        <p:txBody>
          <a:bodyPr wrap="square" lIns="0" tIns="0" rIns="0" bIns="0" rtlCol="0" anchor="ctr"/>
          <a:lstStyle/>
          <a:p>
            <a:pPr indent="0" marL="0">
              <a:buNone/>
            </a:pPr>
            <a:r>
              <a:rPr lang="en-US" sz="2600" b="1" dirty="0">
                <a:solidFill>
                  <a:schemeClr val="accent1"/>
                </a:solidFill>
              </a:rPr>
              <a:t>20 of 20</a:t>
            </a:r>
            <a:endParaRPr lang="en-US" sz="2600" dirty="0"/>
          </a:p>
        </p:txBody>
      </p:sp>
      <p:sp>
        <p:nvSpPr>
          <p:cNvPr id="15" name="Text 11"/>
          <p:cNvSpPr txBox="1"/>
          <p:nvPr/>
        </p:nvSpPr>
        <p:spPr>
          <a:xfrm>
            <a:off x="6611112" y="3017520"/>
            <a:ext cx="2057400" cy="548640"/>
          </a:xfrm>
          <a:prstGeom prst="rect">
            <a:avLst/>
          </a:prstGeom>
          <a:noFill/>
          <a:ln/>
        </p:spPr>
        <p:txBody>
          <a:bodyPr wrap="square" lIns="0" tIns="0" rIns="0" bIns="0" rtlCol="0" anchor="t"/>
          <a:lstStyle/>
          <a:p>
            <a:pPr indent="0" marL="0">
              <a:buNone/>
            </a:pPr>
            <a:r>
              <a:rPr lang="en-US" sz="1300" dirty="0">
                <a:solidFill>
                  <a:schemeClr val="tx1"/>
                </a:solidFill>
              </a:rPr>
              <a:t>were on fiber optic</a:t>
            </a:r>
            <a:endParaRPr lang="en-US" sz="1300" dirty="0"/>
          </a:p>
        </p:txBody>
      </p:sp>
      <p:sp>
        <p:nvSpPr>
          <p:cNvPr id="16" name="Stat tile"/>
          <p:cNvSpPr/>
          <p:nvPr/>
        </p:nvSpPr>
        <p:spPr>
          <a:xfrm>
            <a:off x="8942832" y="2286000"/>
            <a:ext cx="2331720" cy="1325880"/>
          </a:xfrm>
          <a:prstGeom prst="roundRect">
            <a:avLst>
              <a:gd name="adj" fmla="val 6897"/>
            </a:avLst>
          </a:prstGeom>
          <a:solidFill>
            <a:schemeClr val="bg1"/>
          </a:solidFill>
          <a:ln/>
        </p:spPr>
      </p:sp>
      <p:sp>
        <p:nvSpPr>
          <p:cNvPr id="17" name="Text 13"/>
          <p:cNvSpPr txBox="1"/>
          <p:nvPr/>
        </p:nvSpPr>
        <p:spPr>
          <a:xfrm>
            <a:off x="9079992" y="2395728"/>
            <a:ext cx="2057400" cy="594360"/>
          </a:xfrm>
          <a:prstGeom prst="rect">
            <a:avLst/>
          </a:prstGeom>
          <a:noFill/>
          <a:ln/>
        </p:spPr>
        <p:txBody>
          <a:bodyPr wrap="square" lIns="0" tIns="0" rIns="0" bIns="0" rtlCol="0" anchor="ctr"/>
          <a:lstStyle/>
          <a:p>
            <a:pPr indent="0" marL="0">
              <a:buNone/>
            </a:pPr>
            <a:r>
              <a:rPr lang="en-US" sz="2600" b="1" dirty="0">
                <a:solidFill>
                  <a:schemeClr val="accent1"/>
                </a:solidFill>
              </a:rPr>
              <a:t>$111-$118</a:t>
            </a:r>
            <a:endParaRPr lang="en-US" sz="2600" dirty="0"/>
          </a:p>
        </p:txBody>
      </p:sp>
      <p:sp>
        <p:nvSpPr>
          <p:cNvPr id="18" name="Text 14"/>
          <p:cNvSpPr txBox="1"/>
          <p:nvPr/>
        </p:nvSpPr>
        <p:spPr>
          <a:xfrm>
            <a:off x="9079992" y="3017520"/>
            <a:ext cx="2057400" cy="548640"/>
          </a:xfrm>
          <a:prstGeom prst="rect">
            <a:avLst/>
          </a:prstGeom>
          <a:noFill/>
          <a:ln/>
        </p:spPr>
        <p:txBody>
          <a:bodyPr wrap="square" lIns="0" tIns="0" rIns="0" bIns="0" rtlCol="0" anchor="t"/>
          <a:lstStyle/>
          <a:p>
            <a:pPr indent="0" marL="0">
              <a:buNone/>
            </a:pPr>
            <a:r>
              <a:rPr lang="en-US" sz="1300" dirty="0">
                <a:solidFill>
                  <a:schemeClr val="tx1"/>
                </a:solidFill>
              </a:rPr>
              <a:t>monthly charge range</a:t>
            </a:r>
            <a:endParaRPr lang="en-US" sz="1300" dirty="0"/>
          </a:p>
        </p:txBody>
      </p:sp>
      <p:sp>
        <p:nvSpPr>
          <p:cNvPr id="19" name="Stat tile"/>
          <p:cNvSpPr/>
          <p:nvPr/>
        </p:nvSpPr>
        <p:spPr>
          <a:xfrm>
            <a:off x="6473952" y="3749040"/>
            <a:ext cx="2331720" cy="1325880"/>
          </a:xfrm>
          <a:prstGeom prst="roundRect">
            <a:avLst>
              <a:gd name="adj" fmla="val 6897"/>
            </a:avLst>
          </a:prstGeom>
          <a:solidFill>
            <a:schemeClr val="bg1"/>
          </a:solidFill>
          <a:ln/>
        </p:spPr>
      </p:sp>
      <p:sp>
        <p:nvSpPr>
          <p:cNvPr id="20" name="Text 16"/>
          <p:cNvSpPr txBox="1"/>
          <p:nvPr/>
        </p:nvSpPr>
        <p:spPr>
          <a:xfrm>
            <a:off x="6611112" y="3858768"/>
            <a:ext cx="2057400" cy="594360"/>
          </a:xfrm>
          <a:prstGeom prst="rect">
            <a:avLst/>
          </a:prstGeom>
          <a:noFill/>
          <a:ln/>
        </p:spPr>
        <p:txBody>
          <a:bodyPr wrap="square" lIns="0" tIns="0" rIns="0" bIns="0" rtlCol="0" anchor="ctr"/>
          <a:lstStyle/>
          <a:p>
            <a:pPr indent="0" marL="0">
              <a:buNone/>
            </a:pPr>
            <a:r>
              <a:rPr lang="en-US" sz="2600" b="1" dirty="0">
                <a:solidFill>
                  <a:schemeClr val="accent1"/>
                </a:solidFill>
              </a:rPr>
              <a:t>13 of 20</a:t>
            </a:r>
            <a:endParaRPr lang="en-US" sz="2600" dirty="0"/>
          </a:p>
        </p:txBody>
      </p:sp>
      <p:sp>
        <p:nvSpPr>
          <p:cNvPr id="21" name="Text 17"/>
          <p:cNvSpPr txBox="1"/>
          <p:nvPr/>
        </p:nvSpPr>
        <p:spPr>
          <a:xfrm>
            <a:off x="6611112" y="4480560"/>
            <a:ext cx="2057400" cy="548640"/>
          </a:xfrm>
          <a:prstGeom prst="rect">
            <a:avLst/>
          </a:prstGeom>
          <a:noFill/>
          <a:ln/>
        </p:spPr>
        <p:txBody>
          <a:bodyPr wrap="square" lIns="0" tIns="0" rIns="0" bIns="0" rtlCol="0" anchor="t"/>
          <a:lstStyle/>
          <a:p>
            <a:pPr indent="0" marL="0">
              <a:buNone/>
            </a:pPr>
            <a:r>
              <a:rPr lang="en-US" sz="1300" dirty="0">
                <a:solidFill>
                  <a:schemeClr val="tx1"/>
                </a:solidFill>
              </a:rPr>
              <a:t>were on one- or two-year contracts</a:t>
            </a:r>
            <a:endParaRPr lang="en-US" sz="1300" dirty="0"/>
          </a:p>
        </p:txBody>
      </p:sp>
      <p:sp>
        <p:nvSpPr>
          <p:cNvPr id="22" name="Stat tile"/>
          <p:cNvSpPr/>
          <p:nvPr/>
        </p:nvSpPr>
        <p:spPr>
          <a:xfrm>
            <a:off x="8942832" y="3749040"/>
            <a:ext cx="2331720" cy="1325880"/>
          </a:xfrm>
          <a:prstGeom prst="roundRect">
            <a:avLst>
              <a:gd name="adj" fmla="val 6897"/>
            </a:avLst>
          </a:prstGeom>
          <a:solidFill>
            <a:schemeClr val="bg1"/>
          </a:solidFill>
          <a:ln/>
        </p:spPr>
      </p:sp>
      <p:sp>
        <p:nvSpPr>
          <p:cNvPr id="23" name="Text 19"/>
          <p:cNvSpPr txBox="1"/>
          <p:nvPr/>
        </p:nvSpPr>
        <p:spPr>
          <a:xfrm>
            <a:off x="9079992" y="3858768"/>
            <a:ext cx="2057400" cy="594360"/>
          </a:xfrm>
          <a:prstGeom prst="rect">
            <a:avLst/>
          </a:prstGeom>
          <a:noFill/>
          <a:ln/>
        </p:spPr>
        <p:txBody>
          <a:bodyPr wrap="square" lIns="0" tIns="0" rIns="0" bIns="0" rtlCol="0" anchor="ctr"/>
          <a:lstStyle/>
          <a:p>
            <a:pPr indent="0" marL="0">
              <a:buNone/>
            </a:pPr>
            <a:r>
              <a:rPr lang="en-US" sz="2600" b="1" dirty="0">
                <a:solidFill>
                  <a:schemeClr val="accent1"/>
                </a:solidFill>
              </a:rPr>
              <a:t>~54 months</a:t>
            </a:r>
            <a:endParaRPr lang="en-US" sz="2600" dirty="0"/>
          </a:p>
        </p:txBody>
      </p:sp>
      <p:sp>
        <p:nvSpPr>
          <p:cNvPr id="24" name="Text 20"/>
          <p:cNvSpPr txBox="1"/>
          <p:nvPr/>
        </p:nvSpPr>
        <p:spPr>
          <a:xfrm>
            <a:off x="9079992" y="4480560"/>
            <a:ext cx="2057400" cy="548640"/>
          </a:xfrm>
          <a:prstGeom prst="rect">
            <a:avLst/>
          </a:prstGeom>
          <a:noFill/>
          <a:ln/>
        </p:spPr>
        <p:txBody>
          <a:bodyPr wrap="square" lIns="0" tIns="0" rIns="0" bIns="0" rtlCol="0" anchor="t"/>
          <a:lstStyle/>
          <a:p>
            <a:pPr indent="0" marL="0">
              <a:buNone/>
            </a:pPr>
            <a:r>
              <a:rPr lang="en-US" sz="1300" dirty="0">
                <a:solidFill>
                  <a:schemeClr val="tx1"/>
                </a:solidFill>
              </a:rPr>
              <a:t>average tenure (range 12 to 72)</a:t>
            </a:r>
            <a:endParaRPr lang="en-US" sz="1300" dirty="0"/>
          </a:p>
        </p:txBody>
      </p:sp>
      <p:sp>
        <p:nvSpPr>
          <p:cNvPr id="25" name="Text 21"/>
          <p:cNvSpPr txBox="1"/>
          <p:nvPr/>
        </p:nvSpPr>
        <p:spPr>
          <a:xfrm>
            <a:off x="6473952" y="5303520"/>
            <a:ext cx="4937760" cy="822960"/>
          </a:xfrm>
          <a:prstGeom prst="rect">
            <a:avLst/>
          </a:prstGeom>
          <a:noFill/>
          <a:ln/>
        </p:spPr>
        <p:txBody>
          <a:bodyPr wrap="square" lIns="0" tIns="0" rIns="0" bIns="0" rtlCol="0" anchor="t"/>
          <a:lstStyle/>
          <a:p>
            <a:pPr indent="0" marL="0">
              <a:buNone/>
            </a:pPr>
            <a:r>
              <a:rPr lang="en-US" sz="1300" dirty="0">
                <a:solidFill>
                  <a:schemeClr val="tx2"/>
                </a:solidFill>
              </a:rPr>
              <a:t>Payment methods are mixed: 8 electronic check, 6 bank transfer, 5 credit card, 1 mailed check.</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PAGE 4  |  HIGH-VALUE CUSTOMERS</a:t>
            </a:r>
            <a:endParaRPr lang="en-US" sz="1200" dirty="0"/>
          </a:p>
        </p:txBody>
      </p:sp>
      <p:sp>
        <p:nvSpPr>
          <p:cNvPr id="3" name="Text 0"/>
          <p:cNvSpPr/>
          <p:nvPr>
            <p:ph idx="100"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Contracts did not protect high-paying exits</a:t>
            </a:r>
            <a:endParaRPr lang="en-US" sz="3000" dirty="0"/>
          </a:p>
        </p:txBody>
      </p:sp>
      <p:sp>
        <p:nvSpPr>
          <p:cNvPr id="5" name="Chart card"/>
          <p:cNvSpPr/>
          <p:nvPr/>
        </p:nvSpPr>
        <p:spPr>
          <a:xfrm>
            <a:off x="548640" y="1417320"/>
            <a:ext cx="3566160" cy="3383280"/>
          </a:xfrm>
          <a:prstGeom prst="roundRect">
            <a:avLst>
              <a:gd name="adj" fmla="val 2703"/>
            </a:avLst>
          </a:prstGeom>
          <a:solidFill>
            <a:schemeClr val="bg2"/>
          </a:solidFill>
          <a:ln/>
        </p:spPr>
      </p:sp>
      <p:sp>
        <p:nvSpPr>
          <p:cNvPr id="6" name="Text 3"/>
          <p:cNvSpPr txBox="1"/>
          <p:nvPr/>
        </p:nvSpPr>
        <p:spPr>
          <a:xfrm>
            <a:off x="777240" y="1508760"/>
            <a:ext cx="3108960" cy="320040"/>
          </a:xfrm>
          <a:prstGeom prst="rect">
            <a:avLst/>
          </a:prstGeom>
          <a:noFill/>
          <a:ln/>
        </p:spPr>
        <p:txBody>
          <a:bodyPr wrap="square" lIns="0" tIns="0" rIns="0" bIns="0" rtlCol="0" anchor="t"/>
          <a:lstStyle/>
          <a:p>
            <a:pPr indent="0" marL="0">
              <a:buNone/>
            </a:pPr>
            <a:r>
              <a:rPr lang="en-US" sz="1600" b="1" dirty="0">
                <a:solidFill>
                  <a:schemeClr val="tx1"/>
                </a:solidFill>
              </a:rPr>
              <a:t>Contract of top-20 churners</a:t>
            </a:r>
            <a:endParaRPr lang="en-US" sz="1600" dirty="0"/>
          </a:p>
        </p:txBody>
      </p:sp>
      <p:sp>
        <p:nvSpPr>
          <p:cNvPr id="7" name="Text 4"/>
          <p:cNvSpPr txBox="1"/>
          <p:nvPr/>
        </p:nvSpPr>
        <p:spPr>
          <a:xfrm>
            <a:off x="777240" y="1828800"/>
            <a:ext cx="3108960" cy="274320"/>
          </a:xfrm>
          <a:prstGeom prst="rect">
            <a:avLst/>
          </a:prstGeom>
          <a:noFill/>
          <a:ln/>
        </p:spPr>
        <p:txBody>
          <a:bodyPr wrap="square" lIns="0" tIns="0" rIns="0" bIns="0" rtlCol="0" anchor="t"/>
          <a:lstStyle/>
          <a:p>
            <a:pPr indent="0" marL="0">
              <a:buNone/>
            </a:pPr>
            <a:r>
              <a:rPr lang="en-US" sz="1200" i="1" dirty="0">
                <a:solidFill>
                  <a:schemeClr val="tx2"/>
                </a:solidFill>
              </a:rPr>
              <a:t>Question: did a longer contract keep them?</a:t>
            </a:r>
            <a:endParaRPr lang="en-US" sz="1200" dirty="0"/>
          </a:p>
        </p:txBody>
      </p:sp>
      <p:graphicFrame>
        <p:nvGraphicFramePr>
          <p:cNvPr id="8" name="Chart 0" descr=""/>
          <p:cNvGraphicFramePr/>
          <p:nvPr/>
        </p:nvGraphicFramePr>
        <p:xfrm>
          <a:off x="685800" y="2194560"/>
          <a:ext cx="3291840" cy="2468880"/>
        </p:xfrm>
        <a:graphic xmlns:a="http://schemas.openxmlformats.org/drawingml/2006/main">
          <a:graphicData uri="http://schemas.openxmlformats.org/drawingml/2006/chart">
            <c:chart xmlns:c="http://schemas.openxmlformats.org/drawingml/2006/chart" r:id="rId1"/>
          </a:graphicData>
        </a:graphic>
      </p:graphicFrame>
      <p:sp>
        <p:nvSpPr>
          <p:cNvPr id="9" name="Chart card"/>
          <p:cNvSpPr/>
          <p:nvPr/>
        </p:nvSpPr>
        <p:spPr>
          <a:xfrm>
            <a:off x="4297680" y="1417320"/>
            <a:ext cx="3566160" cy="3383280"/>
          </a:xfrm>
          <a:prstGeom prst="roundRect">
            <a:avLst>
              <a:gd name="adj" fmla="val 2703"/>
            </a:avLst>
          </a:prstGeom>
          <a:solidFill>
            <a:schemeClr val="bg2"/>
          </a:solidFill>
          <a:ln/>
        </p:spPr>
      </p:sp>
      <p:sp>
        <p:nvSpPr>
          <p:cNvPr id="10" name="Text 6"/>
          <p:cNvSpPr txBox="1"/>
          <p:nvPr/>
        </p:nvSpPr>
        <p:spPr>
          <a:xfrm>
            <a:off x="4526280" y="1508760"/>
            <a:ext cx="3108960" cy="320040"/>
          </a:xfrm>
          <a:prstGeom prst="rect">
            <a:avLst/>
          </a:prstGeom>
          <a:noFill/>
          <a:ln/>
        </p:spPr>
        <p:txBody>
          <a:bodyPr wrap="square" lIns="0" tIns="0" rIns="0" bIns="0" rtlCol="0" anchor="t"/>
          <a:lstStyle/>
          <a:p>
            <a:pPr indent="0" marL="0">
              <a:buNone/>
            </a:pPr>
            <a:r>
              <a:rPr lang="en-US" sz="1600" b="1" dirty="0">
                <a:solidFill>
                  <a:schemeClr val="tx1"/>
                </a:solidFill>
              </a:rPr>
              <a:t>Payment of top-20 churners</a:t>
            </a:r>
            <a:endParaRPr lang="en-US" sz="1600" dirty="0"/>
          </a:p>
        </p:txBody>
      </p:sp>
      <p:sp>
        <p:nvSpPr>
          <p:cNvPr id="11" name="Text 7"/>
          <p:cNvSpPr txBox="1"/>
          <p:nvPr/>
        </p:nvSpPr>
        <p:spPr>
          <a:xfrm>
            <a:off x="4526280" y="1828800"/>
            <a:ext cx="3108960" cy="274320"/>
          </a:xfrm>
          <a:prstGeom prst="rect">
            <a:avLst/>
          </a:prstGeom>
          <a:noFill/>
          <a:ln/>
        </p:spPr>
        <p:txBody>
          <a:bodyPr wrap="square" lIns="0" tIns="0" rIns="0" bIns="0" rtlCol="0" anchor="t"/>
          <a:lstStyle/>
          <a:p>
            <a:pPr indent="0" marL="0">
              <a:buNone/>
            </a:pPr>
            <a:r>
              <a:rPr lang="en-US" sz="1200" i="1" dirty="0">
                <a:solidFill>
                  <a:schemeClr val="tx2"/>
                </a:solidFill>
              </a:rPr>
              <a:t>Question: is one payment method to blame?</a:t>
            </a:r>
            <a:endParaRPr lang="en-US" sz="1200" dirty="0"/>
          </a:p>
        </p:txBody>
      </p:sp>
      <p:graphicFrame>
        <p:nvGraphicFramePr>
          <p:cNvPr id="12" name="Chart 1" descr=""/>
          <p:cNvGraphicFramePr/>
          <p:nvPr/>
        </p:nvGraphicFramePr>
        <p:xfrm>
          <a:off x="4434840" y="2194560"/>
          <a:ext cx="3291840" cy="2468880"/>
        </p:xfrm>
        <a:graphic xmlns:a="http://schemas.openxmlformats.org/drawingml/2006/main">
          <a:graphicData uri="http://schemas.openxmlformats.org/drawingml/2006/chart">
            <c:chart xmlns:c="http://schemas.openxmlformats.org/drawingml/2006/chart" r:id="rId2"/>
          </a:graphicData>
        </a:graphic>
      </p:graphicFrame>
      <p:sp>
        <p:nvSpPr>
          <p:cNvPr id="13" name="Lifetime card"/>
          <p:cNvSpPr/>
          <p:nvPr/>
        </p:nvSpPr>
        <p:spPr>
          <a:xfrm>
            <a:off x="8046720" y="1417320"/>
            <a:ext cx="3593592" cy="3383280"/>
          </a:xfrm>
          <a:prstGeom prst="roundRect">
            <a:avLst>
              <a:gd name="adj" fmla="val 2703"/>
            </a:avLst>
          </a:prstGeom>
          <a:solidFill>
            <a:schemeClr val="bg2"/>
          </a:solidFill>
          <a:ln/>
        </p:spPr>
      </p:sp>
      <p:sp>
        <p:nvSpPr>
          <p:cNvPr id="14" name="Text 9"/>
          <p:cNvSpPr txBox="1"/>
          <p:nvPr/>
        </p:nvSpPr>
        <p:spPr>
          <a:xfrm>
            <a:off x="8275320" y="1508760"/>
            <a:ext cx="3200400" cy="320040"/>
          </a:xfrm>
          <a:prstGeom prst="rect">
            <a:avLst/>
          </a:prstGeom>
          <a:noFill/>
          <a:ln/>
        </p:spPr>
        <p:txBody>
          <a:bodyPr wrap="square" lIns="0" tIns="0" rIns="0" bIns="0" rtlCol="0" anchor="t"/>
          <a:lstStyle/>
          <a:p>
            <a:pPr indent="0" marL="0">
              <a:buNone/>
            </a:pPr>
            <a:r>
              <a:rPr lang="en-US" sz="1600" b="1" dirty="0">
                <a:solidFill>
                  <a:schemeClr val="tx1"/>
                </a:solidFill>
              </a:rPr>
              <a:t>Top 20 by Lifetime Revenue</a:t>
            </a:r>
            <a:endParaRPr lang="en-US" sz="1600" dirty="0"/>
          </a:p>
        </p:txBody>
      </p:sp>
      <p:sp>
        <p:nvSpPr>
          <p:cNvPr id="15" name="Text 10"/>
          <p:cNvSpPr txBox="1"/>
          <p:nvPr/>
        </p:nvSpPr>
        <p:spPr>
          <a:xfrm>
            <a:off x="8275320" y="1828800"/>
            <a:ext cx="3200400" cy="457200"/>
          </a:xfrm>
          <a:prstGeom prst="rect">
            <a:avLst/>
          </a:prstGeom>
          <a:noFill/>
          <a:ln/>
        </p:spPr>
        <p:txBody>
          <a:bodyPr wrap="square" lIns="0" tIns="0" rIns="0" bIns="0" rtlCol="0" anchor="t"/>
          <a:lstStyle/>
          <a:p>
            <a:pPr indent="0" marL="0">
              <a:buNone/>
            </a:pPr>
            <a:r>
              <a:rPr lang="en-US" sz="1200" i="1" dirty="0">
                <a:solidFill>
                  <a:schemeClr val="tx2"/>
                </a:solidFill>
              </a:rPr>
              <a:t>Question: are our most valuable long-term customers safe?</a:t>
            </a:r>
            <a:endParaRPr lang="en-US" sz="1200" dirty="0"/>
          </a:p>
        </p:txBody>
      </p:sp>
      <p:sp>
        <p:nvSpPr>
          <p:cNvPr id="16" name="Text 11"/>
          <p:cNvSpPr txBox="1"/>
          <p:nvPr/>
        </p:nvSpPr>
        <p:spPr>
          <a:xfrm>
            <a:off x="8275320" y="2468880"/>
            <a:ext cx="3200400" cy="731520"/>
          </a:xfrm>
          <a:prstGeom prst="rect">
            <a:avLst/>
          </a:prstGeom>
          <a:noFill/>
          <a:ln/>
        </p:spPr>
        <p:txBody>
          <a:bodyPr wrap="square" lIns="0" tIns="0" rIns="0" bIns="0" rtlCol="0" anchor="ctr"/>
          <a:lstStyle/>
          <a:p>
            <a:pPr indent="0" marL="0">
              <a:buNone/>
            </a:pPr>
            <a:r>
              <a:rPr lang="en-US" sz="4000" b="1" dirty="0">
                <a:solidFill>
                  <a:schemeClr val="accent4"/>
                </a:solidFill>
              </a:rPr>
              <a:t>1 of 20</a:t>
            </a:r>
            <a:endParaRPr lang="en-US" sz="4000" dirty="0"/>
          </a:p>
        </p:txBody>
      </p:sp>
      <p:sp>
        <p:nvSpPr>
          <p:cNvPr id="17" name="Text 12"/>
          <p:cNvSpPr txBox="1"/>
          <p:nvPr/>
        </p:nvSpPr>
        <p:spPr>
          <a:xfrm>
            <a:off x="8275320" y="3291840"/>
            <a:ext cx="3200400" cy="1371600"/>
          </a:xfrm>
          <a:prstGeom prst="rect">
            <a:avLst/>
          </a:prstGeom>
          <a:noFill/>
          <a:ln/>
        </p:spPr>
        <p:txBody>
          <a:bodyPr wrap="square" lIns="0" tIns="0" rIns="0" bIns="0" rtlCol="0" anchor="t"/>
          <a:lstStyle/>
          <a:p>
            <a:pPr indent="0" marL="0">
              <a:buNone/>
            </a:pPr>
            <a:r>
              <a:rPr lang="en-US" sz="1300" dirty="0">
                <a:solidFill>
                  <a:schemeClr val="tx1"/>
                </a:solidFill>
              </a:rPr>
              <a:t>has churned (customer 2889-FPWRM). The 20 accounts total about $170K in lifetime revenue.</a:t>
            </a:r>
            <a:endParaRPr lang="en-US" sz="1300" dirty="0"/>
          </a:p>
        </p:txBody>
      </p:sp>
      <p:sp>
        <p:nvSpPr>
          <p:cNvPr id="18" name="Implication card"/>
          <p:cNvSpPr/>
          <p:nvPr/>
        </p:nvSpPr>
        <p:spPr>
          <a:xfrm>
            <a:off x="548640" y="4983480"/>
            <a:ext cx="11091672" cy="1234440"/>
          </a:xfrm>
          <a:prstGeom prst="roundRect">
            <a:avLst>
              <a:gd name="adj" fmla="val 7407"/>
            </a:avLst>
          </a:prstGeom>
          <a:solidFill>
            <a:srgbClr val="F6D9D6"/>
          </a:solidFill>
          <a:ln/>
        </p:spPr>
      </p:sp>
      <p:sp>
        <p:nvSpPr>
          <p:cNvPr id="19" name="Text 14"/>
          <p:cNvSpPr txBox="1"/>
          <p:nvPr/>
        </p:nvSpPr>
        <p:spPr>
          <a:xfrm>
            <a:off x="777240" y="5074920"/>
            <a:ext cx="2743200" cy="274320"/>
          </a:xfrm>
          <a:prstGeom prst="rect">
            <a:avLst/>
          </a:prstGeom>
          <a:noFill/>
          <a:ln/>
        </p:spPr>
        <p:txBody>
          <a:bodyPr wrap="square" lIns="0" tIns="0" rIns="0" bIns="0" rtlCol="0" anchor="t"/>
          <a:lstStyle/>
          <a:p>
            <a:pPr indent="0" marL="0">
              <a:buNone/>
            </a:pPr>
            <a:r>
              <a:rPr lang="en-US" sz="1400" b="1" dirty="0">
                <a:solidFill>
                  <a:schemeClr val="accent1"/>
                </a:solidFill>
              </a:rPr>
              <a:t>Implication</a:t>
            </a:r>
            <a:endParaRPr lang="en-US" sz="1400" dirty="0"/>
          </a:p>
        </p:txBody>
      </p:sp>
      <p:sp>
        <p:nvSpPr>
          <p:cNvPr id="20" name="Text 15"/>
          <p:cNvSpPr txBox="1"/>
          <p:nvPr/>
        </p:nvSpPr>
        <p:spPr>
          <a:xfrm>
            <a:off x="777240" y="5376672"/>
            <a:ext cx="10607040" cy="822960"/>
          </a:xfrm>
          <a:prstGeom prst="rect">
            <a:avLst/>
          </a:prstGeom>
          <a:noFill/>
          <a:ln/>
        </p:spPr>
        <p:txBody>
          <a:bodyPr wrap="square" lIns="0" tIns="0" rIns="0" bIns="0" rtlCol="0" anchor="t"/>
          <a:lstStyle/>
          <a:p>
            <a:pPr indent="0" marL="0">
              <a:buNone/>
            </a:pPr>
            <a:r>
              <a:rPr lang="en-US" sz="1300" dirty="0">
                <a:solidFill>
                  <a:schemeClr val="tx1"/>
                </a:solidFill>
              </a:rPr>
              <a:t>High-value losses are not explained by contract or billing alone: 13 of 20 were on annual or two-year terms and payment methods are mixed. Price and service quality on premium fiber are the leads to investigate, while long-tenured top accounts are largely holding.</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PAGE 4  |  STAKEHOLDERS AND SCENARIOS</a:t>
            </a:r>
            <a:endParaRPr lang="en-US" sz="1200" dirty="0"/>
          </a:p>
        </p:txBody>
      </p:sp>
      <p:sp>
        <p:nvSpPr>
          <p:cNvPr id="3" name="Text 0"/>
          <p:cNvSpPr/>
          <p:nvPr>
            <p:ph idx="100"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High-Value Customers: who acts on it</a:t>
            </a:r>
            <a:endParaRPr lang="en-US" sz="3000" dirty="0"/>
          </a:p>
        </p:txBody>
      </p:sp>
      <p:sp>
        <p:nvSpPr>
          <p:cNvPr id="5" name="Stakeholder card"/>
          <p:cNvSpPr/>
          <p:nvPr/>
        </p:nvSpPr>
        <p:spPr>
          <a:xfrm>
            <a:off x="548640" y="1463040"/>
            <a:ext cx="3566160" cy="4754880"/>
          </a:xfrm>
          <a:prstGeom prst="roundRect">
            <a:avLst>
              <a:gd name="adj" fmla="val 2564"/>
            </a:avLst>
          </a:prstGeom>
          <a:solidFill>
            <a:schemeClr val="bg2"/>
          </a:solidFill>
          <a:ln/>
        </p:spPr>
      </p:sp>
      <p:sp>
        <p:nvSpPr>
          <p:cNvPr id="6" name="Stakeholder header"/>
          <p:cNvSpPr/>
          <p:nvPr/>
        </p:nvSpPr>
        <p:spPr>
          <a:xfrm>
            <a:off x="548640" y="1463040"/>
            <a:ext cx="3566160" cy="640080"/>
          </a:xfrm>
          <a:prstGeom prst="roundRect">
            <a:avLst>
              <a:gd name="adj" fmla="val 14286"/>
            </a:avLst>
          </a:prstGeom>
          <a:solidFill>
            <a:schemeClr val="tx2"/>
          </a:solidFill>
          <a:ln/>
        </p:spPr>
      </p:sp>
      <p:sp>
        <p:nvSpPr>
          <p:cNvPr id="7" name="Text 4"/>
          <p:cNvSpPr txBox="1"/>
          <p:nvPr/>
        </p:nvSpPr>
        <p:spPr>
          <a:xfrm>
            <a:off x="777240" y="1463040"/>
            <a:ext cx="3108960" cy="640080"/>
          </a:xfrm>
          <a:prstGeom prst="rect">
            <a:avLst/>
          </a:prstGeom>
          <a:noFill/>
          <a:ln/>
        </p:spPr>
        <p:txBody>
          <a:bodyPr wrap="square" lIns="0" tIns="0" rIns="0" bIns="0" rtlCol="0" anchor="ctr"/>
          <a:lstStyle/>
          <a:p>
            <a:pPr indent="0" marL="0">
              <a:buNone/>
            </a:pPr>
            <a:r>
              <a:rPr lang="en-US" sz="1600" b="1" dirty="0">
                <a:solidFill>
                  <a:schemeClr val="bg1"/>
                </a:solidFill>
              </a:rPr>
              <a:t>Key Account / Customer Success</a:t>
            </a:r>
            <a:endParaRPr lang="en-US" sz="1600" dirty="0"/>
          </a:p>
        </p:txBody>
      </p:sp>
      <p:sp>
        <p:nvSpPr>
          <p:cNvPr id="8" name="Text 5"/>
          <p:cNvSpPr txBox="1"/>
          <p:nvPr/>
        </p:nvSpPr>
        <p:spPr>
          <a:xfrm>
            <a:off x="777240" y="2286000"/>
            <a:ext cx="3108960" cy="3840480"/>
          </a:xfrm>
          <a:prstGeom prst="rect">
            <a:avLst/>
          </a:prstGeom>
          <a:noFill/>
          <a:ln/>
        </p:spPr>
        <p:txBody>
          <a:bodyPr wrap="square" lIns="0" tIns="0" rIns="0" bIns="0" rtlCol="0" anchor="t"/>
          <a:lstStyle/>
          <a:p>
            <a:pPr indent="0" marL="0">
              <a:buNone/>
            </a:pPr>
            <a:r>
              <a:rPr lang="en-US" sz="1300" b="1" dirty="0">
                <a:solidFill>
                  <a:schemeClr val="accent1"/>
                </a:solidFill>
              </a:rPr>
              <a:t>BUSINESS SCENARIO</a:t>
            </a:r>
            <a:endParaRPr lang="en-US" sz="1400" dirty="0"/>
          </a:p>
          <a:p>
            <a:pPr indent="0" marL="0">
              <a:spcAft>
                <a:spcPts val="1000"/>
              </a:spcAft>
              <a:buNone/>
            </a:pPr>
            <a:r>
              <a:rPr lang="en-US" sz="1600" dirty="0">
                <a:solidFill>
                  <a:schemeClr val="tx1"/>
                </a:solidFill>
              </a:rPr>
              <a:t>Account managers receive a watch list of premium customers and want to act before the next billing cycle.</a:t>
            </a:r>
            <a:endParaRPr lang="en-US" sz="1400" dirty="0"/>
          </a:p>
          <a:p>
            <a:pPr indent="0" marL="0">
              <a:buNone/>
            </a:pPr>
            <a:r>
              <a:rPr lang="en-US" sz="1300" b="1" dirty="0">
                <a:solidFill>
                  <a:schemeClr val="accent1"/>
                </a:solidFill>
              </a:rPr>
              <a:t>QUESTION THEY ASK</a:t>
            </a:r>
            <a:endParaRPr lang="en-US" sz="1400" dirty="0"/>
          </a:p>
          <a:p>
            <a:pPr indent="0" marL="0">
              <a:spcAft>
                <a:spcPts val="1000"/>
              </a:spcAft>
              <a:buNone/>
            </a:pPr>
            <a:r>
              <a:rPr lang="en-US" sz="1600" dirty="0">
                <a:solidFill>
                  <a:schemeClr val="tx1"/>
                </a:solidFill>
              </a:rPr>
              <a:t>Which high-paying customers left, and what did they have in common?</a:t>
            </a:r>
            <a:endParaRPr lang="en-US" sz="1400" dirty="0"/>
          </a:p>
          <a:p>
            <a:pPr indent="0" marL="0">
              <a:buNone/>
            </a:pPr>
            <a:r>
              <a:rPr lang="en-US" sz="1300" b="1" dirty="0">
                <a:solidFill>
                  <a:schemeClr val="accent1"/>
                </a:solidFill>
              </a:rPr>
              <a:t>DECISION IT SUPPORTS</a:t>
            </a:r>
            <a:endParaRPr lang="en-US" sz="1400" dirty="0"/>
          </a:p>
          <a:p>
            <a:pPr indent="0" marL="0">
              <a:spcAft>
                <a:spcPts val="1000"/>
              </a:spcAft>
              <a:buNone/>
            </a:pPr>
            <a:r>
              <a:rPr lang="en-US" sz="1600" dirty="0">
                <a:solidFill>
                  <a:schemeClr val="tx1"/>
                </a:solidFill>
              </a:rPr>
              <a:t>Start proactive outreach for fiber customers paying $100+ a month, including those on annual and two-year plans.</a:t>
            </a:r>
            <a:endParaRPr lang="en-US" sz="1400" dirty="0"/>
          </a:p>
        </p:txBody>
      </p:sp>
      <p:sp>
        <p:nvSpPr>
          <p:cNvPr id="9" name="Stakeholder card"/>
          <p:cNvSpPr/>
          <p:nvPr/>
        </p:nvSpPr>
        <p:spPr>
          <a:xfrm>
            <a:off x="4297680" y="1463040"/>
            <a:ext cx="3566160" cy="4754880"/>
          </a:xfrm>
          <a:prstGeom prst="roundRect">
            <a:avLst>
              <a:gd name="adj" fmla="val 2564"/>
            </a:avLst>
          </a:prstGeom>
          <a:solidFill>
            <a:schemeClr val="bg2"/>
          </a:solidFill>
          <a:ln/>
        </p:spPr>
      </p:sp>
      <p:sp>
        <p:nvSpPr>
          <p:cNvPr id="10" name="Stakeholder header"/>
          <p:cNvSpPr/>
          <p:nvPr/>
        </p:nvSpPr>
        <p:spPr>
          <a:xfrm>
            <a:off x="4297680" y="1463040"/>
            <a:ext cx="3566160" cy="640080"/>
          </a:xfrm>
          <a:prstGeom prst="roundRect">
            <a:avLst>
              <a:gd name="adj" fmla="val 14286"/>
            </a:avLst>
          </a:prstGeom>
          <a:solidFill>
            <a:schemeClr val="tx2"/>
          </a:solidFill>
          <a:ln/>
        </p:spPr>
      </p:sp>
      <p:sp>
        <p:nvSpPr>
          <p:cNvPr id="11" name="Text 8"/>
          <p:cNvSpPr txBox="1"/>
          <p:nvPr/>
        </p:nvSpPr>
        <p:spPr>
          <a:xfrm>
            <a:off x="4526280" y="1463040"/>
            <a:ext cx="3108960" cy="640080"/>
          </a:xfrm>
          <a:prstGeom prst="rect">
            <a:avLst/>
          </a:prstGeom>
          <a:noFill/>
          <a:ln/>
        </p:spPr>
        <p:txBody>
          <a:bodyPr wrap="square" lIns="0" tIns="0" rIns="0" bIns="0" rtlCol="0" anchor="ctr"/>
          <a:lstStyle/>
          <a:p>
            <a:pPr indent="0" marL="0">
              <a:buNone/>
            </a:pPr>
            <a:r>
              <a:rPr lang="en-US" sz="1600" b="1" dirty="0">
                <a:solidFill>
                  <a:schemeClr val="bg1"/>
                </a:solidFill>
              </a:rPr>
              <a:t>Pricing and Network / Product</a:t>
            </a:r>
            <a:endParaRPr lang="en-US" sz="1600" dirty="0"/>
          </a:p>
        </p:txBody>
      </p:sp>
      <p:sp>
        <p:nvSpPr>
          <p:cNvPr id="12" name="Text 9"/>
          <p:cNvSpPr txBox="1"/>
          <p:nvPr/>
        </p:nvSpPr>
        <p:spPr>
          <a:xfrm>
            <a:off x="4526280" y="2286000"/>
            <a:ext cx="3108960" cy="3840480"/>
          </a:xfrm>
          <a:prstGeom prst="rect">
            <a:avLst/>
          </a:prstGeom>
          <a:noFill/>
          <a:ln/>
        </p:spPr>
        <p:txBody>
          <a:bodyPr wrap="square" lIns="0" tIns="0" rIns="0" bIns="0" rtlCol="0" anchor="t"/>
          <a:lstStyle/>
          <a:p>
            <a:pPr indent="0" marL="0">
              <a:buNone/>
            </a:pPr>
            <a:r>
              <a:rPr lang="en-US" sz="1300" b="1" dirty="0">
                <a:solidFill>
                  <a:schemeClr val="accent1"/>
                </a:solidFill>
              </a:rPr>
              <a:t>BUSINESS SCENARIO</a:t>
            </a:r>
            <a:endParaRPr lang="en-US" sz="1400" dirty="0"/>
          </a:p>
          <a:p>
            <a:pPr indent="0" marL="0">
              <a:spcAft>
                <a:spcPts val="1000"/>
              </a:spcAft>
              <a:buNone/>
            </a:pPr>
            <a:r>
              <a:rPr lang="en-US" sz="1600" dirty="0">
                <a:solidFill>
                  <a:schemeClr val="tx1"/>
                </a:solidFill>
              </a:rPr>
              <a:t>The fiber team is reviewing premium pricing after hearing that top accounts are leaving.</a:t>
            </a:r>
            <a:endParaRPr lang="en-US" sz="1400" dirty="0"/>
          </a:p>
          <a:p>
            <a:pPr indent="0" marL="0">
              <a:buNone/>
            </a:pPr>
            <a:r>
              <a:rPr lang="en-US" sz="1300" b="1" dirty="0">
                <a:solidFill>
                  <a:schemeClr val="accent1"/>
                </a:solidFill>
              </a:rPr>
              <a:t>QUESTION THEY ASK</a:t>
            </a:r>
            <a:endParaRPr lang="en-US" sz="1400" dirty="0"/>
          </a:p>
          <a:p>
            <a:pPr indent="0" marL="0">
              <a:spcAft>
                <a:spcPts val="1000"/>
              </a:spcAft>
              <a:buNone/>
            </a:pPr>
            <a:r>
              <a:rPr lang="en-US" sz="1600" dirty="0">
                <a:solidFill>
                  <a:schemeClr val="tx1"/>
                </a:solidFill>
              </a:rPr>
              <a:t>Is price or service quality driving high-spend exits?</a:t>
            </a:r>
            <a:endParaRPr lang="en-US" sz="1400" dirty="0"/>
          </a:p>
          <a:p>
            <a:pPr indent="0" marL="0">
              <a:buNone/>
            </a:pPr>
            <a:r>
              <a:rPr lang="en-US" sz="1300" b="1" dirty="0">
                <a:solidFill>
                  <a:schemeClr val="accent1"/>
                </a:solidFill>
              </a:rPr>
              <a:t>DECISION IT SUPPORTS</a:t>
            </a:r>
            <a:endParaRPr lang="en-US" sz="1400" dirty="0"/>
          </a:p>
          <a:p>
            <a:pPr indent="0" marL="0">
              <a:spcAft>
                <a:spcPts val="1000"/>
              </a:spcAft>
              <a:buNone/>
            </a:pPr>
            <a:r>
              <a:rPr lang="en-US" sz="1600" dirty="0">
                <a:solidFill>
                  <a:schemeClr val="tx1"/>
                </a:solidFill>
              </a:rPr>
              <a:t>Run a satisfaction survey and competitor price check before any price change.</a:t>
            </a:r>
            <a:endParaRPr lang="en-US" sz="1400" dirty="0"/>
          </a:p>
        </p:txBody>
      </p:sp>
      <p:sp>
        <p:nvSpPr>
          <p:cNvPr id="13" name="Stakeholder card"/>
          <p:cNvSpPr/>
          <p:nvPr/>
        </p:nvSpPr>
        <p:spPr>
          <a:xfrm>
            <a:off x="8046720" y="1463040"/>
            <a:ext cx="3566160" cy="4754880"/>
          </a:xfrm>
          <a:prstGeom prst="roundRect">
            <a:avLst>
              <a:gd name="adj" fmla="val 2564"/>
            </a:avLst>
          </a:prstGeom>
          <a:solidFill>
            <a:schemeClr val="bg2"/>
          </a:solidFill>
          <a:ln/>
        </p:spPr>
      </p:sp>
      <p:sp>
        <p:nvSpPr>
          <p:cNvPr id="14" name="Stakeholder header"/>
          <p:cNvSpPr/>
          <p:nvPr/>
        </p:nvSpPr>
        <p:spPr>
          <a:xfrm>
            <a:off x="8046720" y="1463040"/>
            <a:ext cx="3566160" cy="640080"/>
          </a:xfrm>
          <a:prstGeom prst="roundRect">
            <a:avLst>
              <a:gd name="adj" fmla="val 14286"/>
            </a:avLst>
          </a:prstGeom>
          <a:solidFill>
            <a:schemeClr val="tx2"/>
          </a:solidFill>
          <a:ln/>
        </p:spPr>
      </p:sp>
      <p:sp>
        <p:nvSpPr>
          <p:cNvPr id="15" name="Text 12"/>
          <p:cNvSpPr txBox="1"/>
          <p:nvPr/>
        </p:nvSpPr>
        <p:spPr>
          <a:xfrm>
            <a:off x="8275320" y="1463040"/>
            <a:ext cx="3108960" cy="640080"/>
          </a:xfrm>
          <a:prstGeom prst="rect">
            <a:avLst/>
          </a:prstGeom>
          <a:noFill/>
          <a:ln/>
        </p:spPr>
        <p:txBody>
          <a:bodyPr wrap="square" lIns="0" tIns="0" rIns="0" bIns="0" rtlCol="0" anchor="ctr"/>
          <a:lstStyle/>
          <a:p>
            <a:pPr indent="0" marL="0">
              <a:buNone/>
            </a:pPr>
            <a:r>
              <a:rPr lang="en-US" sz="1600" b="1" dirty="0">
                <a:solidFill>
                  <a:schemeClr val="bg1"/>
                </a:solidFill>
              </a:rPr>
              <a:t>Finance and Executive sponsors</a:t>
            </a:r>
            <a:endParaRPr lang="en-US" sz="1600" dirty="0"/>
          </a:p>
        </p:txBody>
      </p:sp>
      <p:sp>
        <p:nvSpPr>
          <p:cNvPr id="16" name="Text 13"/>
          <p:cNvSpPr txBox="1"/>
          <p:nvPr/>
        </p:nvSpPr>
        <p:spPr>
          <a:xfrm>
            <a:off x="8275320" y="2286000"/>
            <a:ext cx="3108960" cy="3840480"/>
          </a:xfrm>
          <a:prstGeom prst="rect">
            <a:avLst/>
          </a:prstGeom>
          <a:noFill/>
          <a:ln/>
        </p:spPr>
        <p:txBody>
          <a:bodyPr wrap="square" lIns="0" tIns="0" rIns="0" bIns="0" rtlCol="0" anchor="t"/>
          <a:lstStyle/>
          <a:p>
            <a:pPr indent="0" marL="0">
              <a:buNone/>
            </a:pPr>
            <a:r>
              <a:rPr lang="en-US" sz="1300" b="1" dirty="0">
                <a:solidFill>
                  <a:schemeClr val="accent1"/>
                </a:solidFill>
              </a:rPr>
              <a:t>BUSINESS SCENARIO</a:t>
            </a:r>
            <a:endParaRPr lang="en-US" sz="1400" dirty="0"/>
          </a:p>
          <a:p>
            <a:pPr indent="0" marL="0">
              <a:spcAft>
                <a:spcPts val="1000"/>
              </a:spcAft>
              <a:buNone/>
            </a:pPr>
            <a:r>
              <a:rPr lang="en-US" sz="1600" dirty="0">
                <a:solidFill>
                  <a:schemeClr val="tx1"/>
                </a:solidFill>
              </a:rPr>
              <a:t>Leadership is allocating retention spend and wants it weighted by revenue value.</a:t>
            </a:r>
            <a:endParaRPr lang="en-US" sz="1400" dirty="0"/>
          </a:p>
          <a:p>
            <a:pPr indent="0" marL="0">
              <a:buNone/>
            </a:pPr>
            <a:r>
              <a:rPr lang="en-US" sz="1300" b="1" dirty="0">
                <a:solidFill>
                  <a:schemeClr val="accent1"/>
                </a:solidFill>
              </a:rPr>
              <a:t>QUESTION THEY ASK</a:t>
            </a:r>
            <a:endParaRPr lang="en-US" sz="1400" dirty="0"/>
          </a:p>
          <a:p>
            <a:pPr indent="0" marL="0">
              <a:spcAft>
                <a:spcPts val="1000"/>
              </a:spcAft>
              <a:buNone/>
            </a:pPr>
            <a:r>
              <a:rPr lang="en-US" sz="1600" dirty="0">
                <a:solidFill>
                  <a:schemeClr val="tx1"/>
                </a:solidFill>
              </a:rPr>
              <a:t>Where does the lost revenue concentrate by spend tier?</a:t>
            </a:r>
            <a:endParaRPr lang="en-US" sz="1400" dirty="0"/>
          </a:p>
          <a:p>
            <a:pPr indent="0" marL="0">
              <a:buNone/>
            </a:pPr>
            <a:r>
              <a:rPr lang="en-US" sz="1300" b="1" dirty="0">
                <a:solidFill>
                  <a:schemeClr val="accent1"/>
                </a:solidFill>
              </a:rPr>
              <a:t>DECISION IT SUPPORTS</a:t>
            </a:r>
            <a:endParaRPr lang="en-US" sz="1400" dirty="0"/>
          </a:p>
          <a:p>
            <a:pPr indent="0" marL="0">
              <a:spcAft>
                <a:spcPts val="1000"/>
              </a:spcAft>
              <a:buNone/>
            </a:pPr>
            <a:r>
              <a:rPr lang="en-US" sz="1600" dirty="0">
                <a:solidFill>
                  <a:schemeClr val="tx1"/>
                </a:solidFill>
              </a:rPr>
              <a:t>Weight budget to High Spend ($76.7K, 55.1% of loss) and high monthly-charge fiber accounts rather than long-tenured accounts, which are largely retained.</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PAGE 5  |  RECOMMENDATIONS</a:t>
            </a:r>
            <a:endParaRPr lang="en-US" sz="1200" dirty="0"/>
          </a:p>
        </p:txBody>
      </p:sp>
      <p:sp>
        <p:nvSpPr>
          <p:cNvPr id="3" name="Text 0"/>
          <p:cNvSpPr/>
          <p:nvPr>
            <p:ph idx="100"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Five actions, each tied to a leak</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566160"/>
                <a:gridCol w="2697480"/>
                <a:gridCol w="3383280"/>
                <a:gridCol w="1444752"/>
              </a:tblGrid>
              <a:tr h="384048">
                <a:tc>
                  <a:txBody>
                    <a:bodyPr/>
                    <a:lstStyle/>
                    <a:p>
                      <a:pPr indent="0" marL="0">
                        <a:buNone/>
                      </a:pPr>
                      <a:r>
                        <a:rPr lang="en-US" sz="1300" b="1" dirty="0">
                          <a:solidFill>
                            <a:srgbClr val="FFFFFF"/>
                          </a:solidFill>
                        </a:rPr>
                        <a:t>Action</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3A3F47"/>
                    </a:solidFill>
                  </a:tcPr>
                </a:tc>
                <a:tc>
                  <a:txBody>
                    <a:bodyPr/>
                    <a:lstStyle/>
                    <a:p>
                      <a:pPr indent="0" marL="0">
                        <a:buNone/>
                      </a:pPr>
                      <a:r>
                        <a:rPr lang="en-US" sz="1300" b="1" dirty="0">
                          <a:solidFill>
                            <a:srgbClr val="FFFFFF"/>
                          </a:solidFill>
                        </a:rPr>
                        <a:t>Target</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3A3F47"/>
                    </a:solidFill>
                  </a:tcPr>
                </a:tc>
                <a:tc>
                  <a:txBody>
                    <a:bodyPr/>
                    <a:lstStyle/>
                    <a:p>
                      <a:pPr indent="0" marL="0">
                        <a:buNone/>
                      </a:pPr>
                      <a:r>
                        <a:rPr lang="en-US" sz="1300" b="1" dirty="0">
                          <a:solidFill>
                            <a:srgbClr val="FFFFFF"/>
                          </a:solidFill>
                        </a:rPr>
                        <a:t>Evidence from data</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3A3F47"/>
                    </a:solidFill>
                  </a:tcPr>
                </a:tc>
                <a:tc>
                  <a:txBody>
                    <a:bodyPr/>
                    <a:lstStyle/>
                    <a:p>
                      <a:pPr indent="0" marL="0">
                        <a:buNone/>
                      </a:pPr>
                      <a:r>
                        <a:rPr lang="en-US" sz="1300" b="1" dirty="0">
                          <a:solidFill>
                            <a:srgbClr val="FFFFFF"/>
                          </a:solidFill>
                        </a:rPr>
                        <a:t>At stake / month</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3A3F47"/>
                    </a:solidFill>
                  </a:tcPr>
                </a:tc>
              </a:tr>
              <a:tr h="822960">
                <a:tc>
                  <a:txBody>
                    <a:bodyPr/>
                    <a:lstStyle/>
                    <a:p>
                      <a:pPr indent="0" marL="0">
                        <a:buNone/>
                      </a:pPr>
                      <a:r>
                        <a:rPr lang="en-US" sz="1300" b="1" dirty="0">
                          <a:solidFill>
                            <a:srgbClr val="000000"/>
                          </a:solidFill>
                        </a:rPr>
                        <a:t>Move electronic-check customers to auto-pay</a:t>
                      </a:r>
                      <a:endParaRPr lang="en-US" sz="1300" dirty="0"/>
                    </a:p>
                    <a:p>
                      <a:pPr indent="0" marL="0">
                        <a:buNone/>
                      </a:pPr>
                      <a:r>
                        <a:rPr lang="en-US" sz="1300" dirty="0">
                          <a:solidFill>
                            <a:srgbClr val="4B5563"/>
                          </a:solidFill>
                        </a:rPr>
                        <a:t>Small bill credit or first-month discount</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Electronic check users, especially the Priority Segment</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Churn 45.3% vs 15.2 to 19.1% for other methods</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b="1" dirty="0">
                          <a:solidFill>
                            <a:srgbClr val="C8463F"/>
                          </a:solidFill>
                        </a:rPr>
                        <a:t>$84.3K</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822960">
                <a:tc>
                  <a:txBody>
                    <a:bodyPr/>
                    <a:lstStyle/>
                    <a:p>
                      <a:pPr indent="0" marL="0">
                        <a:buNone/>
                      </a:pPr>
                      <a:r>
                        <a:rPr lang="en-US" sz="1300" b="1" dirty="0">
                          <a:solidFill>
                            <a:srgbClr val="000000"/>
                          </a:solidFill>
                        </a:rPr>
                        <a:t>Offer a contract upgrade</a:t>
                      </a:r>
                      <a:endParaRPr lang="en-US" sz="1300" dirty="0"/>
                    </a:p>
                    <a:p>
                      <a:pPr indent="0" marL="0">
                        <a:buNone/>
                      </a:pPr>
                      <a:r>
                        <a:rPr lang="en-US" sz="1300" dirty="0">
                          <a:solidFill>
                            <a:srgbClr val="4B5563"/>
                          </a:solidFill>
                        </a:rPr>
                        <a:t>Annual plan with a discount or perk</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Month-to-month customers, Priority Segment first</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Churn 42.7% vs 11.3% (one-year) and 2.8% (two-year)</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b="1" dirty="0">
                          <a:solidFill>
                            <a:srgbClr val="C8463F"/>
                          </a:solidFill>
                        </a:rPr>
                        <a:t>$120.8K</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868680">
                <a:tc>
                  <a:txBody>
                    <a:bodyPr/>
                    <a:lstStyle/>
                    <a:p>
                      <a:pPr indent="0" marL="0">
                        <a:buNone/>
                      </a:pPr>
                      <a:r>
                        <a:rPr lang="en-US" sz="1300" b="1" dirty="0">
                          <a:solidFill>
                            <a:srgbClr val="000000"/>
                          </a:solidFill>
                        </a:rPr>
                        <a:t>Bundle tech support and online security</a:t>
                      </a:r>
                      <a:endParaRPr lang="en-US" sz="1300" dirty="0"/>
                    </a:p>
                    <a:p>
                      <a:pPr indent="0" marL="0">
                        <a:buNone/>
                      </a:pPr>
                      <a:r>
                        <a:rPr lang="en-US" sz="1300" dirty="0">
                          <a:solidFill>
                            <a:srgbClr val="4B5563"/>
                          </a:solidFill>
                        </a:rPr>
                        <a:t>Trial period, then measure against a control group</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Fiber customers without those services (87% of Priority Segment has no tech support)</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Churn 41.6% without tech support vs 15.2% with; 41.8% vs 14.6% for security</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b="1" dirty="0">
                          <a:solidFill>
                            <a:srgbClr val="C8463F"/>
                          </a:solidFill>
                        </a:rPr>
                        <a:t>$110.7K</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822960">
                <a:tc>
                  <a:txBody>
                    <a:bodyPr/>
                    <a:lstStyle/>
                    <a:p>
                      <a:pPr indent="0" marL="0">
                        <a:buNone/>
                      </a:pPr>
                      <a:r>
                        <a:rPr lang="en-US" sz="1300" b="1" dirty="0">
                          <a:solidFill>
                            <a:srgbClr val="000000"/>
                          </a:solidFill>
                        </a:rPr>
                        <a:t>Build a first-year onboarding programme</a:t>
                      </a:r>
                      <a:endParaRPr lang="en-US" sz="1300" dirty="0"/>
                    </a:p>
                    <a:p>
                      <a:pPr indent="0" marL="0">
                        <a:buNone/>
                      </a:pPr>
                      <a:r>
                        <a:rPr lang="en-US" sz="1300" dirty="0">
                          <a:solidFill>
                            <a:srgbClr val="4B5563"/>
                          </a:solidFill>
                        </a:rPr>
                        <a:t>Welcome call, 3- and 6-month check-ins, early-warning flag</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New customers, months 0 to 12</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47.4% first-year churn; 51.4% for new month-to-month</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b="1" dirty="0">
                          <a:solidFill>
                            <a:srgbClr val="C8463F"/>
                          </a:solidFill>
                        </a:rPr>
                        <a:t>$69.0K</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822960">
                <a:tc>
                  <a:txBody>
                    <a:bodyPr/>
                    <a:lstStyle/>
                    <a:p>
                      <a:pPr indent="0" marL="0">
                        <a:buNone/>
                      </a:pPr>
                      <a:r>
                        <a:rPr lang="en-US" sz="1300" b="1" dirty="0">
                          <a:solidFill>
                            <a:srgbClr val="000000"/>
                          </a:solidFill>
                        </a:rPr>
                        <a:t>Investigate premium fiber pricing and quality</a:t>
                      </a:r>
                      <a:endParaRPr lang="en-US" sz="1300" dirty="0"/>
                    </a:p>
                    <a:p>
                      <a:pPr indent="0" marL="0">
                        <a:buNone/>
                      </a:pPr>
                      <a:r>
                        <a:rPr lang="en-US" sz="1300" dirty="0">
                          <a:solidFill>
                            <a:srgbClr val="4B5563"/>
                          </a:solidFill>
                        </a:rPr>
                        <a:t>Satisfaction survey, competitor price check, outreach</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Fiber customers paying $100+ per month</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All 20 top churned payers on fiber; 13 of 20 on annual or two-year terms</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b="1" dirty="0">
                          <a:solidFill>
                            <a:srgbClr val="C8463F"/>
                          </a:solidFill>
                        </a:rPr>
                        <a:t>$76.7K</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bl>
          </a:graphicData>
        </a:graphic>
      </p:graphicFrame>
      <p:sp>
        <p:nvSpPr>
          <p:cNvPr id="6" name="Text 2"/>
          <p:cNvSpPr txBox="1"/>
          <p:nvPr/>
        </p:nvSpPr>
        <p:spPr>
          <a:xfrm>
            <a:off x="548640" y="6126480"/>
            <a:ext cx="11064240" cy="274320"/>
          </a:xfrm>
          <a:prstGeom prst="rect">
            <a:avLst/>
          </a:prstGeom>
          <a:noFill/>
          <a:ln/>
        </p:spPr>
        <p:txBody>
          <a:bodyPr wrap="square" lIns="0" tIns="0" rIns="0" bIns="0" rtlCol="0" anchor="t"/>
          <a:lstStyle/>
          <a:p>
            <a:pPr indent="0" marL="0">
              <a:buNone/>
            </a:pPr>
            <a:r>
              <a:rPr lang="en-US" sz="1100" i="1" dirty="0">
                <a:solidFill>
                  <a:schemeClr val="tx2"/>
                </a:solidFill>
              </a:rPr>
              <a:t>Revenue-at-stake figures describe monthly revenue lost in each group. Groups overlap, so the amounts should not be added together.</a:t>
            </a:r>
            <a:endParaRPr lang="en-US" sz="11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PAGE 5  |  STAKEHOLDERS AND SCENARIOS</a:t>
            </a:r>
            <a:endParaRPr lang="en-US" sz="1200" dirty="0"/>
          </a:p>
        </p:txBody>
      </p:sp>
      <p:sp>
        <p:nvSpPr>
          <p:cNvPr id="3" name="Text 0"/>
          <p:cNvSpPr/>
          <p:nvPr>
            <p:ph idx="100"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Owners, metrics and how to test each action</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651760"/>
                <a:gridCol w="2377440"/>
                <a:gridCol w="3291840"/>
                <a:gridCol w="2770632"/>
              </a:tblGrid>
              <a:tr h="411480">
                <a:tc>
                  <a:txBody>
                    <a:bodyPr/>
                    <a:lstStyle/>
                    <a:p>
                      <a:pPr indent="0" marL="0">
                        <a:buNone/>
                      </a:pPr>
                      <a:r>
                        <a:rPr lang="en-US" sz="1300" b="1" dirty="0">
                          <a:solidFill>
                            <a:srgbClr val="FFFFFF"/>
                          </a:solidFill>
                        </a:rPr>
                        <a:t>Action</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3A3F47"/>
                    </a:solidFill>
                  </a:tcPr>
                </a:tc>
                <a:tc>
                  <a:txBody>
                    <a:bodyPr/>
                    <a:lstStyle/>
                    <a:p>
                      <a:pPr indent="0" marL="0">
                        <a:buNone/>
                      </a:pPr>
                      <a:r>
                        <a:rPr lang="en-US" sz="1300" b="1" dirty="0">
                          <a:solidFill>
                            <a:srgbClr val="FFFFFF"/>
                          </a:solidFill>
                        </a:rPr>
                        <a:t>Suggested owner</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3A3F47"/>
                    </a:solidFill>
                  </a:tcPr>
                </a:tc>
                <a:tc>
                  <a:txBody>
                    <a:bodyPr/>
                    <a:lstStyle/>
                    <a:p>
                      <a:pPr indent="0" marL="0">
                        <a:buNone/>
                      </a:pPr>
                      <a:r>
                        <a:rPr lang="en-US" sz="1300" b="1" dirty="0">
                          <a:solidFill>
                            <a:srgbClr val="FFFFFF"/>
                          </a:solidFill>
                        </a:rPr>
                        <a:t>Success metric</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3A3F47"/>
                    </a:solidFill>
                  </a:tcPr>
                </a:tc>
                <a:tc>
                  <a:txBody>
                    <a:bodyPr/>
                    <a:lstStyle/>
                    <a:p>
                      <a:pPr indent="0" marL="0">
                        <a:buNone/>
                      </a:pPr>
                      <a:r>
                        <a:rPr lang="en-US" sz="1300" b="1" dirty="0">
                          <a:solidFill>
                            <a:srgbClr val="FFFFFF"/>
                          </a:solidFill>
                        </a:rPr>
                        <a:t>How to test</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3A3F47"/>
                    </a:solidFill>
                  </a:tcPr>
                </a:tc>
              </a:tr>
              <a:tr h="777240">
                <a:tc>
                  <a:txBody>
                    <a:bodyPr/>
                    <a:lstStyle/>
                    <a:p>
                      <a:pPr indent="0" marL="0">
                        <a:buNone/>
                      </a:pPr>
                      <a:r>
                        <a:rPr lang="en-US" sz="1300" b="1" dirty="0">
                          <a:solidFill>
                            <a:srgbClr val="000000"/>
                          </a:solidFill>
                        </a:rPr>
                        <a:t>Auto-pay migration</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Billing and Payments</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Share of electronic-check customers moved to auto-pay; churn of migrated vs not</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Offer to a random half of electronic-check customers and compare churn</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777240">
                <a:tc>
                  <a:txBody>
                    <a:bodyPr/>
                    <a:lstStyle/>
                    <a:p>
                      <a:pPr indent="0" marL="0">
                        <a:buNone/>
                      </a:pPr>
                      <a:r>
                        <a:rPr lang="en-US" sz="1300" b="1" dirty="0">
                          <a:solidFill>
                            <a:srgbClr val="000000"/>
                          </a:solidFill>
                        </a:rPr>
                        <a:t>Contract upgrade</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Marketing and Sales</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Month-to-month to annual conversion rate; churn of converted customers</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Start with the Priority Segment and hold out a control group</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777240">
                <a:tc>
                  <a:txBody>
                    <a:bodyPr/>
                    <a:lstStyle/>
                    <a:p>
                      <a:pPr indent="0" marL="0">
                        <a:buNone/>
                      </a:pPr>
                      <a:r>
                        <a:rPr lang="en-US" sz="1300" b="1" dirty="0">
                          <a:solidFill>
                            <a:srgbClr val="000000"/>
                          </a:solidFill>
                        </a:rPr>
                        <a:t>Support and security bundle</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Product and Customer Support</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Attach rate; churn with vs without the bundle</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Trial period, then compare against a control group</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777240">
                <a:tc>
                  <a:txBody>
                    <a:bodyPr/>
                    <a:lstStyle/>
                    <a:p>
                      <a:pPr indent="0" marL="0">
                        <a:buNone/>
                      </a:pPr>
                      <a:r>
                        <a:rPr lang="en-US" sz="1300" b="1" dirty="0">
                          <a:solidFill>
                            <a:srgbClr val="000000"/>
                          </a:solidFill>
                        </a:rPr>
                        <a:t>First-year onboarding</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Customer Success</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First-year churn; share of month-to-month accounts flagged and contacted</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Pilot on one cohort of new sign-ups</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r h="777240">
                <a:tc>
                  <a:txBody>
                    <a:bodyPr/>
                    <a:lstStyle/>
                    <a:p>
                      <a:pPr indent="0" marL="0">
                        <a:buNone/>
                      </a:pPr>
                      <a:r>
                        <a:rPr lang="en-US" sz="1300" b="1" dirty="0">
                          <a:solidFill>
                            <a:srgbClr val="000000"/>
                          </a:solidFill>
                        </a:rPr>
                        <a:t>Fiber pricing and quality review</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Pricing and Network / Product</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Satisfaction score; churn of $100+ fiber accounts</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rPr>
                        <a:t>Survey and competitor price benchmark before any price change</a:t>
                      </a:r>
                      <a:endParaRPr lang="en-US" sz="1300" dirty="0"/>
                    </a:p>
                  </a:txBody>
                  <a:tcPr marL="109728" marR="109728"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tcPr>
                </a:tc>
              </a:tr>
            </a:tbl>
          </a:graphicData>
        </a:graphic>
      </p:graphicFrame>
      <p:sp>
        <p:nvSpPr>
          <p:cNvPr id="6" name="Text 2"/>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400" b="1" dirty="0">
                <a:solidFill>
                  <a:schemeClr val="accent1"/>
                </a:solidFill>
              </a:rPr>
              <a:t>Executive sponsor and Finance review results together, so retention spend follows the actions that measurably cut churn.</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CONCLUSION</a:t>
            </a:r>
            <a:endParaRPr lang="en-US" sz="1200" dirty="0"/>
          </a:p>
        </p:txBody>
      </p:sp>
      <p:sp>
        <p:nvSpPr>
          <p:cNvPr id="3" name="Text 1"/>
          <p:cNvSpPr/>
          <p:nvPr>
            <p:ph idx="101"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000" b="1" dirty="0">
                <a:solidFill>
                  <a:schemeClr val="bg1"/>
                </a:solidFill>
              </a:rPr>
              <a:t>What to remember, and what comes next</a:t>
            </a:r>
            <a:endParaRPr lang="en-US" sz="3000" dirty="0"/>
          </a:p>
        </p:txBody>
      </p:sp>
      <p:sp>
        <p:nvSpPr>
          <p:cNvPr id="5" name="Text 2"/>
          <p:cNvSpPr txBox="1"/>
          <p:nvPr/>
        </p:nvSpPr>
        <p:spPr>
          <a:xfrm>
            <a:off x="548640" y="1463040"/>
            <a:ext cx="5303520" cy="32004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How to read the numbers</a:t>
            </a:r>
            <a:endParaRPr lang="en-US" sz="1800" dirty="0"/>
          </a:p>
        </p:txBody>
      </p:sp>
      <p:sp>
        <p:nvSpPr>
          <p:cNvPr id="6" name="Text 3"/>
          <p:cNvSpPr txBox="1"/>
          <p:nvPr/>
        </p:nvSpPr>
        <p:spPr>
          <a:xfrm>
            <a:off x="548640" y="1920240"/>
            <a:ext cx="5394960" cy="4206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2"/>
                </a:solidFill>
              </a:rPr>
              <a:t>Revenue lost is the monthly charges of customers who already churned. It is a run-rate, not a forecast.</a:t>
            </a:r>
            <a:endParaRPr lang="en-US" sz="1400" dirty="0"/>
          </a:p>
          <a:p>
            <a:pPr marL="342900" indent="-342900">
              <a:spcAft>
                <a:spcPts val="800"/>
              </a:spcAft>
              <a:buSzPct val="100000"/>
              <a:buChar char="•"/>
            </a:pPr>
            <a:r>
              <a:rPr lang="en-US" sz="1400" dirty="0">
                <a:solidFill>
                  <a:schemeClr val="bg2"/>
                </a:solidFill>
              </a:rPr>
              <a:t>The $1.67M annualised figure assumes the monthly loss repeats for twelve months.</a:t>
            </a:r>
            <a:endParaRPr lang="en-US" sz="1400" dirty="0"/>
          </a:p>
          <a:p>
            <a:pPr marL="342900" indent="-342900">
              <a:spcAft>
                <a:spcPts val="800"/>
              </a:spcAft>
              <a:buSzPct val="100000"/>
              <a:buChar char="•"/>
            </a:pPr>
            <a:r>
              <a:rPr lang="en-US" sz="1400" dirty="0">
                <a:solidFill>
                  <a:schemeClr val="bg2"/>
                </a:solidFill>
              </a:rPr>
              <a:t>Revenue-at-stake figures overlap across actions; do not add them up.</a:t>
            </a:r>
            <a:endParaRPr lang="en-US" sz="1400" dirty="0"/>
          </a:p>
          <a:p>
            <a:pPr marL="342900" indent="-342900">
              <a:spcAft>
                <a:spcPts val="800"/>
              </a:spcAft>
              <a:buSzPct val="100000"/>
              <a:buChar char="•"/>
            </a:pPr>
            <a:r>
              <a:rPr lang="en-US" sz="1400" dirty="0">
                <a:solidFill>
                  <a:schemeClr val="bg2"/>
                </a:solidFill>
              </a:rPr>
              <a:t>Add-on and contract patterns are associations, so each action should run as a pilot with a control group.</a:t>
            </a:r>
            <a:endParaRPr lang="en-US" sz="1400" dirty="0"/>
          </a:p>
          <a:p>
            <a:pPr marL="342900" indent="-342900">
              <a:spcAft>
                <a:spcPts val="800"/>
              </a:spcAft>
              <a:buSzPct val="100000"/>
              <a:buChar char="•"/>
            </a:pPr>
            <a:r>
              <a:rPr lang="en-US" sz="1400" dirty="0">
                <a:solidFill>
                  <a:schemeClr val="bg2"/>
                </a:solidFill>
              </a:rPr>
              <a:t>The dataset is a single snapshot, so the dashboard shows where churn sits, not how it trends.</a:t>
            </a:r>
            <a:endParaRPr lang="en-US" sz="1400" dirty="0"/>
          </a:p>
        </p:txBody>
      </p:sp>
      <p:sp>
        <p:nvSpPr>
          <p:cNvPr id="7" name="Next steps card"/>
          <p:cNvSpPr/>
          <p:nvPr/>
        </p:nvSpPr>
        <p:spPr>
          <a:xfrm>
            <a:off x="6309360" y="1463040"/>
            <a:ext cx="5330952" cy="4754880"/>
          </a:xfrm>
          <a:prstGeom prst="roundRect">
            <a:avLst>
              <a:gd name="adj" fmla="val 1923"/>
            </a:avLst>
          </a:prstGeom>
          <a:solidFill>
            <a:schemeClr val="tx2"/>
          </a:solidFill>
          <a:ln/>
        </p:spPr>
      </p:sp>
      <p:sp>
        <p:nvSpPr>
          <p:cNvPr id="8" name="Text 5"/>
          <p:cNvSpPr txBox="1"/>
          <p:nvPr/>
        </p:nvSpPr>
        <p:spPr>
          <a:xfrm>
            <a:off x="6583680" y="1600200"/>
            <a:ext cx="4754880" cy="32004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Next steps</a:t>
            </a:r>
            <a:endParaRPr lang="en-US" sz="1800" dirty="0"/>
          </a:p>
        </p:txBody>
      </p:sp>
      <p:sp>
        <p:nvSpPr>
          <p:cNvPr id="9" name="Number badge"/>
          <p:cNvSpPr/>
          <p:nvPr/>
        </p:nvSpPr>
        <p:spPr>
          <a:xfrm>
            <a:off x="6583680" y="2240280"/>
            <a:ext cx="384048" cy="384048"/>
          </a:xfrm>
          <a:prstGeom prst="ellipse">
            <a:avLst/>
          </a:prstGeom>
          <a:solidFill>
            <a:schemeClr val="accent1"/>
          </a:solidFill>
          <a:ln/>
        </p:spPr>
      </p:sp>
      <p:sp>
        <p:nvSpPr>
          <p:cNvPr id="10" name="Text 7"/>
          <p:cNvSpPr txBox="1"/>
          <p:nvPr/>
        </p:nvSpPr>
        <p:spPr>
          <a:xfrm>
            <a:off x="6583680" y="2240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 8"/>
          <p:cNvSpPr txBox="1"/>
          <p:nvPr/>
        </p:nvSpPr>
        <p:spPr>
          <a:xfrm>
            <a:off x="7178040" y="2194560"/>
            <a:ext cx="4206240" cy="914400"/>
          </a:xfrm>
          <a:prstGeom prst="rect">
            <a:avLst/>
          </a:prstGeom>
          <a:noFill/>
          <a:ln/>
        </p:spPr>
        <p:txBody>
          <a:bodyPr wrap="square" lIns="0" tIns="0" rIns="0" bIns="0" rtlCol="0" anchor="t"/>
          <a:lstStyle/>
          <a:p>
            <a:pPr indent="0" marL="0">
              <a:buNone/>
            </a:pPr>
            <a:r>
              <a:rPr lang="en-US" sz="1500" b="1" dirty="0">
                <a:solidFill>
                  <a:schemeClr val="bg1"/>
                </a:solidFill>
              </a:rPr>
              <a:t>Pilot</a:t>
            </a:r>
            <a:endParaRPr lang="en-US" sz="1500" dirty="0"/>
          </a:p>
          <a:p>
            <a:pPr indent="0" marL="0">
              <a:buNone/>
            </a:pPr>
            <a:r>
              <a:rPr lang="en-US" sz="1300" dirty="0">
                <a:solidFill>
                  <a:schemeClr val="bg2"/>
                </a:solidFill>
              </a:rPr>
              <a:t>Launch the contract-upgrade and auto-pay tests on the Priority Segment first.</a:t>
            </a:r>
            <a:endParaRPr lang="en-US" sz="1500" dirty="0"/>
          </a:p>
        </p:txBody>
      </p:sp>
      <p:sp>
        <p:nvSpPr>
          <p:cNvPr id="12" name="Number badge"/>
          <p:cNvSpPr/>
          <p:nvPr/>
        </p:nvSpPr>
        <p:spPr>
          <a:xfrm>
            <a:off x="6583680" y="3218688"/>
            <a:ext cx="384048" cy="384048"/>
          </a:xfrm>
          <a:prstGeom prst="ellipse">
            <a:avLst/>
          </a:prstGeom>
          <a:solidFill>
            <a:schemeClr val="accent1"/>
          </a:solidFill>
          <a:ln/>
        </p:spPr>
      </p:sp>
      <p:sp>
        <p:nvSpPr>
          <p:cNvPr id="13" name="Text 10"/>
          <p:cNvSpPr txBox="1"/>
          <p:nvPr/>
        </p:nvSpPr>
        <p:spPr>
          <a:xfrm>
            <a:off x="6583680" y="32186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7178040" y="3172968"/>
            <a:ext cx="4206240" cy="914400"/>
          </a:xfrm>
          <a:prstGeom prst="rect">
            <a:avLst/>
          </a:prstGeom>
          <a:noFill/>
          <a:ln/>
        </p:spPr>
        <p:txBody>
          <a:bodyPr wrap="square" lIns="0" tIns="0" rIns="0" bIns="0" rtlCol="0" anchor="t"/>
          <a:lstStyle/>
          <a:p>
            <a:pPr indent="0" marL="0">
              <a:buNone/>
            </a:pPr>
            <a:r>
              <a:rPr lang="en-US" sz="1500" b="1" dirty="0">
                <a:solidFill>
                  <a:schemeClr val="bg1"/>
                </a:solidFill>
              </a:rPr>
              <a:t>Model</a:t>
            </a:r>
            <a:endParaRPr lang="en-US" sz="1500" dirty="0"/>
          </a:p>
          <a:p>
            <a:pPr indent="0" marL="0">
              <a:buNone/>
            </a:pPr>
            <a:r>
              <a:rPr lang="en-US" sz="1300" dirty="0">
                <a:solidFill>
                  <a:schemeClr val="bg2"/>
                </a:solidFill>
              </a:rPr>
              <a:t>Build a churn propensity model in Python to flag at-risk customers before they leave.</a:t>
            </a:r>
            <a:endParaRPr lang="en-US" sz="1500" dirty="0"/>
          </a:p>
        </p:txBody>
      </p:sp>
      <p:sp>
        <p:nvSpPr>
          <p:cNvPr id="15" name="Number badge"/>
          <p:cNvSpPr/>
          <p:nvPr/>
        </p:nvSpPr>
        <p:spPr>
          <a:xfrm>
            <a:off x="6583680" y="4197096"/>
            <a:ext cx="384048" cy="384048"/>
          </a:xfrm>
          <a:prstGeom prst="ellipse">
            <a:avLst/>
          </a:prstGeom>
          <a:solidFill>
            <a:schemeClr val="accent1"/>
          </a:solidFill>
          <a:ln/>
        </p:spPr>
      </p:sp>
      <p:sp>
        <p:nvSpPr>
          <p:cNvPr id="16" name="Text 13"/>
          <p:cNvSpPr txBox="1"/>
          <p:nvPr/>
        </p:nvSpPr>
        <p:spPr>
          <a:xfrm>
            <a:off x="6583680" y="41970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7178040" y="4151376"/>
            <a:ext cx="4206240" cy="914400"/>
          </a:xfrm>
          <a:prstGeom prst="rect">
            <a:avLst/>
          </a:prstGeom>
          <a:noFill/>
          <a:ln/>
        </p:spPr>
        <p:txBody>
          <a:bodyPr wrap="square" lIns="0" tIns="0" rIns="0" bIns="0" rtlCol="0" anchor="t"/>
          <a:lstStyle/>
          <a:p>
            <a:pPr indent="0" marL="0">
              <a:buNone/>
            </a:pPr>
            <a:r>
              <a:rPr lang="en-US" sz="1500" b="1" dirty="0">
                <a:solidFill>
                  <a:schemeClr val="bg1"/>
                </a:solidFill>
              </a:rPr>
              <a:t>Track</a:t>
            </a:r>
            <a:endParaRPr lang="en-US" sz="1500" dirty="0"/>
          </a:p>
          <a:p>
            <a:pPr indent="0" marL="0">
              <a:buNone/>
            </a:pPr>
            <a:r>
              <a:rPr lang="en-US" sz="1300" dirty="0">
                <a:solidFill>
                  <a:schemeClr val="bg2"/>
                </a:solidFill>
              </a:rPr>
              <a:t>Add a time dimension so churn and leakage can be monitored month by month.</a:t>
            </a:r>
            <a:endParaRPr lang="en-US" sz="1500" dirty="0"/>
          </a:p>
        </p:txBody>
      </p:sp>
      <p:sp>
        <p:nvSpPr>
          <p:cNvPr id="18" name="Number badge"/>
          <p:cNvSpPr/>
          <p:nvPr/>
        </p:nvSpPr>
        <p:spPr>
          <a:xfrm>
            <a:off x="6583680" y="5175504"/>
            <a:ext cx="384048" cy="384048"/>
          </a:xfrm>
          <a:prstGeom prst="ellipse">
            <a:avLst/>
          </a:prstGeom>
          <a:solidFill>
            <a:schemeClr val="accent1"/>
          </a:solidFill>
          <a:ln/>
        </p:spPr>
      </p:sp>
      <p:sp>
        <p:nvSpPr>
          <p:cNvPr id="19" name="Text 16"/>
          <p:cNvSpPr txBox="1"/>
          <p:nvPr/>
        </p:nvSpPr>
        <p:spPr>
          <a:xfrm>
            <a:off x="6583680" y="517550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0" name="Text 17"/>
          <p:cNvSpPr txBox="1"/>
          <p:nvPr/>
        </p:nvSpPr>
        <p:spPr>
          <a:xfrm>
            <a:off x="7178040" y="5129784"/>
            <a:ext cx="4206240" cy="914400"/>
          </a:xfrm>
          <a:prstGeom prst="rect">
            <a:avLst/>
          </a:prstGeom>
          <a:noFill/>
          <a:ln/>
        </p:spPr>
        <p:txBody>
          <a:bodyPr wrap="square" lIns="0" tIns="0" rIns="0" bIns="0" rtlCol="0" anchor="t"/>
          <a:lstStyle/>
          <a:p>
            <a:pPr indent="0" marL="0">
              <a:buNone/>
            </a:pPr>
            <a:r>
              <a:rPr lang="en-US" sz="1500" b="1" dirty="0">
                <a:solidFill>
                  <a:schemeClr val="bg1"/>
                </a:solidFill>
              </a:rPr>
              <a:t>Cost it</a:t>
            </a:r>
            <a:endParaRPr lang="en-US" sz="1500" dirty="0"/>
          </a:p>
          <a:p>
            <a:pPr indent="0" marL="0">
              <a:buNone/>
            </a:pPr>
            <a:r>
              <a:rPr lang="en-US" sz="1300" dirty="0">
                <a:solidFill>
                  <a:schemeClr val="bg2"/>
                </a:solidFill>
              </a:rPr>
              <a:t>Add the cost of each intervention to turn revenue at stake into expected ROI.</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3AF"/>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Revenue Leakage">
  <a:themeElements>
    <a:clrScheme name="Revenue Leakage">
      <a:dk1>
        <a:srgbClr val="1F2328"/>
      </a:dk1>
      <a:lt1>
        <a:srgbClr val="FFFFFF"/>
      </a:lt1>
      <a:dk2>
        <a:srgbClr val="3A3F47"/>
      </a:dk2>
      <a:lt2>
        <a:srgbClr val="F1F2F4"/>
      </a:lt2>
      <a:accent1>
        <a:srgbClr val="C8463F"/>
      </a:accent1>
      <a:accent2>
        <a:srgbClr val="6B7280"/>
      </a:accent2>
      <a:accent3>
        <a:srgbClr val="9AA3AF"/>
      </a:accent3>
      <a:accent4>
        <a:srgbClr val="2F6F73"/>
      </a:accent4>
      <a:accent5>
        <a:srgbClr val="D9A441"/>
      </a:accent5>
      <a:accent6>
        <a:srgbClr val="4B5563"/>
      </a:accent6>
      <a:hlink>
        <a:srgbClr val="C8463F"/>
      </a:hlink>
      <a:folHlink>
        <a:srgbClr val="6B7280"/>
      </a:folHlink>
    </a:clrScheme>
    <a:fontScheme name="Revenue Leaka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Revenue Leakage Analysis</dc:title>
  <dc:subject>PptxGenJS Presentation</dc:subject>
  <dc:creator>Samuel Sholademi</dc:creator>
  <cp:lastModifiedBy>Samuel Sholademi</cp:lastModifiedBy>
  <cp:revision>1</cp:revision>
  <dcterms:created xsi:type="dcterms:W3CDTF">2026-10-09T08:02:28Z</dcterms:created>
  <dcterms:modified xsi:type="dcterms:W3CDTF">2026-10-09T08:02:28Z</dcterms:modified>
</cp:coreProperties>
</file>